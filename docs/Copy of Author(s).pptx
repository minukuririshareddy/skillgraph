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Times New Roman Bold" charset="1" panose="02020803070505020304"/>
      <p:regular r:id="rId25"/>
    </p:embeddedFont>
    <p:embeddedFont>
      <p:font typeface="Calibri (MS)" charset="1" panose="020F0502020204030204"/>
      <p:regular r:id="rId26"/>
    </p:embeddedFont>
    <p:embeddedFont>
      <p:font typeface="Cambria" charset="1" panose="02040503050406030204"/>
      <p:regular r:id="rId27"/>
    </p:embeddedFont>
    <p:embeddedFont>
      <p:font typeface="Times New Roman" charset="1" panose="02020603050405020304"/>
      <p:regular r:id="rId28"/>
    </p:embeddedFont>
    <p:embeddedFont>
      <p:font typeface="Calibri (MS) Italics" charset="1" panose="020F05020202040A02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487706" y="1403369"/>
            <a:ext cx="13346210" cy="7508249"/>
            <a:chOff x="0" y="0"/>
            <a:chExt cx="13445071" cy="7563866"/>
          </a:xfrm>
        </p:grpSpPr>
        <p:sp>
          <p:nvSpPr>
            <p:cNvPr name="Freeform 3" id="3"/>
            <p:cNvSpPr/>
            <p:nvPr/>
          </p:nvSpPr>
          <p:spPr>
            <a:xfrm flipH="false" flipV="false" rot="0">
              <a:off x="0" y="0"/>
              <a:ext cx="13445110" cy="7563866"/>
            </a:xfrm>
            <a:custGeom>
              <a:avLst/>
              <a:gdLst/>
              <a:ahLst/>
              <a:cxnLst/>
              <a:rect r="r" b="b" t="t" l="l"/>
              <a:pathLst>
                <a:path h="7563866" w="13445110">
                  <a:moveTo>
                    <a:pt x="0" y="0"/>
                  </a:moveTo>
                  <a:lnTo>
                    <a:pt x="13445110" y="0"/>
                  </a:lnTo>
                  <a:lnTo>
                    <a:pt x="13445110" y="7563866"/>
                  </a:lnTo>
                  <a:lnTo>
                    <a:pt x="0" y="7563866"/>
                  </a:lnTo>
                  <a:lnTo>
                    <a:pt x="0" y="0"/>
                  </a:lnTo>
                  <a:close/>
                </a:path>
              </a:pathLst>
            </a:custGeom>
            <a:blipFill>
              <a:blip r:embed="rId2"/>
              <a:stretch>
                <a:fillRect l="0" t="0" r="0" b="-115"/>
              </a:stretch>
            </a:blipFill>
          </p:spPr>
        </p:sp>
      </p:grpSp>
      <p:sp>
        <p:nvSpPr>
          <p:cNvPr name="TextBox 4" id="4"/>
          <p:cNvSpPr txBox="true"/>
          <p:nvPr/>
        </p:nvSpPr>
        <p:spPr>
          <a:xfrm rot="0">
            <a:off x="3277725" y="2658034"/>
            <a:ext cx="12759460" cy="1280853"/>
          </a:xfrm>
          <a:prstGeom prst="rect">
            <a:avLst/>
          </a:prstGeom>
        </p:spPr>
        <p:txBody>
          <a:bodyPr anchor="t" rtlCol="false" tIns="0" lIns="0" bIns="0" rIns="0">
            <a:spAutoFit/>
          </a:bodyPr>
          <a:lstStyle/>
          <a:p>
            <a:pPr algn="l">
              <a:lnSpc>
                <a:spcPts val="4904"/>
              </a:lnSpc>
            </a:pPr>
            <a:r>
              <a:rPr lang="en-US" b="true" sz="4046">
                <a:solidFill>
                  <a:srgbClr val="000000"/>
                </a:solidFill>
                <a:latin typeface="Times New Roman Bold"/>
                <a:ea typeface="Times New Roman Bold"/>
                <a:cs typeface="Times New Roman Bold"/>
                <a:sym typeface="Times New Roman Bold"/>
              </a:rPr>
              <a:t>Skill Graph:A Personalized Learning Path Recommendation System Using Web Technologies</a:t>
            </a:r>
          </a:p>
        </p:txBody>
      </p:sp>
      <p:sp>
        <p:nvSpPr>
          <p:cNvPr name="TextBox 5" id="5"/>
          <p:cNvSpPr txBox="true"/>
          <p:nvPr/>
        </p:nvSpPr>
        <p:spPr>
          <a:xfrm rot="0">
            <a:off x="3277725" y="8273890"/>
            <a:ext cx="1052363" cy="302254"/>
          </a:xfrm>
          <a:prstGeom prst="rect">
            <a:avLst/>
          </a:prstGeom>
        </p:spPr>
        <p:txBody>
          <a:bodyPr anchor="t" rtlCol="false" tIns="0" lIns="0" bIns="0" rIns="0">
            <a:spAutoFit/>
          </a:bodyPr>
          <a:lstStyle/>
          <a:p>
            <a:pPr algn="l">
              <a:lnSpc>
                <a:spcPts val="2149"/>
              </a:lnSpc>
            </a:pPr>
            <a:r>
              <a:rPr lang="en-US" sz="1724">
                <a:solidFill>
                  <a:srgbClr val="878787"/>
                </a:solidFill>
                <a:latin typeface="Calibri (MS)"/>
                <a:ea typeface="Calibri (MS)"/>
                <a:cs typeface="Calibri (MS)"/>
                <a:sym typeface="Calibri (MS)"/>
              </a:rPr>
              <a:t>21</a:t>
            </a:r>
            <a:r>
              <a:rPr lang="en-US" sz="1724">
                <a:solidFill>
                  <a:srgbClr val="878787"/>
                </a:solidFill>
                <a:latin typeface="Calibri (MS)"/>
                <a:ea typeface="Calibri (MS)"/>
                <a:cs typeface="Calibri (MS)"/>
                <a:sym typeface="Calibri (MS)"/>
              </a:rPr>
              <a:t>.01.2026</a:t>
            </a:r>
          </a:p>
        </p:txBody>
      </p:sp>
      <p:sp>
        <p:nvSpPr>
          <p:cNvPr name="TextBox 6" id="6"/>
          <p:cNvSpPr txBox="true"/>
          <p:nvPr/>
        </p:nvSpPr>
        <p:spPr>
          <a:xfrm rot="0">
            <a:off x="4937008" y="8273890"/>
            <a:ext cx="9087342" cy="313133"/>
          </a:xfrm>
          <a:prstGeom prst="rect">
            <a:avLst/>
          </a:prstGeom>
        </p:spPr>
        <p:txBody>
          <a:bodyPr anchor="t" rtlCol="false" tIns="0" lIns="0" bIns="0" rIns="0">
            <a:spAutoFit/>
          </a:bodyPr>
          <a:lstStyle/>
          <a:p>
            <a:pPr algn="ctr">
              <a:lnSpc>
                <a:spcPts val="2149"/>
              </a:lnSpc>
            </a:pPr>
            <a:r>
              <a:rPr lang="en-US" sz="1724">
                <a:solidFill>
                  <a:srgbClr val="878787"/>
                </a:solidFill>
                <a:latin typeface="Calibri (MS)"/>
                <a:ea typeface="Calibri (MS)"/>
                <a:cs typeface="Calibri (MS)"/>
                <a:sym typeface="Calibri (MS)"/>
              </a:rPr>
              <a:t>Department of Computer Science and Engineering</a:t>
            </a:r>
          </a:p>
        </p:txBody>
      </p:sp>
      <p:sp>
        <p:nvSpPr>
          <p:cNvPr name="TextBox 7" id="7"/>
          <p:cNvSpPr txBox="true"/>
          <p:nvPr/>
        </p:nvSpPr>
        <p:spPr>
          <a:xfrm rot="0">
            <a:off x="14867367" y="8413473"/>
            <a:ext cx="231710" cy="297700"/>
          </a:xfrm>
          <a:prstGeom prst="rect">
            <a:avLst/>
          </a:prstGeom>
        </p:spPr>
        <p:txBody>
          <a:bodyPr anchor="t" rtlCol="false" tIns="0" lIns="0" bIns="0" rIns="0">
            <a:spAutoFit/>
          </a:bodyPr>
          <a:lstStyle/>
          <a:p>
            <a:pPr algn="l">
              <a:lnSpc>
                <a:spcPts val="2069"/>
              </a:lnSpc>
            </a:pPr>
            <a:r>
              <a:rPr lang="en-US" sz="1724">
                <a:solidFill>
                  <a:srgbClr val="878787"/>
                </a:solidFill>
                <a:latin typeface="Cambria"/>
                <a:ea typeface="Cambria"/>
                <a:cs typeface="Cambria"/>
                <a:sym typeface="Cambria"/>
              </a:rPr>
              <a:t>‹#›</a:t>
            </a:r>
          </a:p>
        </p:txBody>
      </p:sp>
      <p:sp>
        <p:nvSpPr>
          <p:cNvPr name="TextBox 8" id="8"/>
          <p:cNvSpPr txBox="true"/>
          <p:nvPr/>
        </p:nvSpPr>
        <p:spPr>
          <a:xfrm rot="0">
            <a:off x="3277725" y="5628961"/>
            <a:ext cx="1423867" cy="316055"/>
          </a:xfrm>
          <a:prstGeom prst="rect">
            <a:avLst/>
          </a:prstGeom>
        </p:spPr>
        <p:txBody>
          <a:bodyPr anchor="t" rtlCol="false" tIns="0" lIns="0" bIns="0" rIns="0">
            <a:spAutoFit/>
          </a:bodyPr>
          <a:lstStyle/>
          <a:p>
            <a:pPr algn="l">
              <a:lnSpc>
                <a:spcPts val="2388"/>
              </a:lnSpc>
            </a:pPr>
            <a:r>
              <a:rPr lang="en-US" b="true" sz="1990">
                <a:solidFill>
                  <a:srgbClr val="000000"/>
                </a:solidFill>
                <a:latin typeface="Times New Roman Bold"/>
                <a:ea typeface="Times New Roman Bold"/>
                <a:cs typeface="Times New Roman Bold"/>
                <a:sym typeface="Times New Roman Bold"/>
              </a:rPr>
              <a:t>Team Details</a:t>
            </a:r>
          </a:p>
        </p:txBody>
      </p:sp>
      <p:sp>
        <p:nvSpPr>
          <p:cNvPr name="TextBox 9" id="9"/>
          <p:cNvSpPr txBox="true"/>
          <p:nvPr/>
        </p:nvSpPr>
        <p:spPr>
          <a:xfrm rot="0">
            <a:off x="3277725" y="6041497"/>
            <a:ext cx="6620958" cy="1411005"/>
          </a:xfrm>
          <a:prstGeom prst="rect">
            <a:avLst/>
          </a:prstGeom>
        </p:spPr>
        <p:txBody>
          <a:bodyPr anchor="t" rtlCol="false" tIns="0" lIns="0" bIns="0" rIns="0">
            <a:spAutoFit/>
          </a:bodyPr>
          <a:lstStyle/>
          <a:p>
            <a:pPr algn="l">
              <a:lnSpc>
                <a:spcPts val="2746"/>
              </a:lnSpc>
            </a:pPr>
            <a:r>
              <a:rPr lang="en-US" sz="1990">
                <a:solidFill>
                  <a:srgbClr val="000000"/>
                </a:solidFill>
                <a:latin typeface="Times New Roman"/>
                <a:ea typeface="Times New Roman"/>
                <a:cs typeface="Times New Roman"/>
                <a:sym typeface="Times New Roman"/>
              </a:rPr>
              <a:t>1. M.RISHA REDDY(22EG105G34)</a:t>
            </a:r>
          </a:p>
          <a:p>
            <a:pPr algn="l">
              <a:lnSpc>
                <a:spcPts val="2746"/>
              </a:lnSpc>
            </a:pPr>
            <a:r>
              <a:rPr lang="en-US" sz="1990">
                <a:solidFill>
                  <a:srgbClr val="000000"/>
                </a:solidFill>
                <a:latin typeface="Times New Roman"/>
                <a:ea typeface="Times New Roman"/>
                <a:cs typeface="Times New Roman"/>
                <a:sym typeface="Times New Roman"/>
              </a:rPr>
              <a:t>2. V.SAI ROHAN(22EG105G56)</a:t>
            </a:r>
          </a:p>
          <a:p>
            <a:pPr algn="l">
              <a:lnSpc>
                <a:spcPts val="2746"/>
              </a:lnSpc>
            </a:pPr>
            <a:r>
              <a:rPr lang="en-US" sz="1990">
                <a:solidFill>
                  <a:srgbClr val="000000"/>
                </a:solidFill>
                <a:latin typeface="Times New Roman"/>
                <a:ea typeface="Times New Roman"/>
                <a:cs typeface="Times New Roman"/>
                <a:sym typeface="Times New Roman"/>
              </a:rPr>
              <a:t>3. M.TARUNI REDDY(22EG105G33)</a:t>
            </a:r>
          </a:p>
          <a:p>
            <a:pPr algn="l">
              <a:lnSpc>
                <a:spcPts val="2746"/>
              </a:lnSpc>
            </a:pPr>
            <a:r>
              <a:rPr lang="en-US" sz="1990">
                <a:solidFill>
                  <a:srgbClr val="000000"/>
                </a:solidFill>
                <a:latin typeface="Times New Roman"/>
                <a:ea typeface="Times New Roman"/>
                <a:cs typeface="Times New Roman"/>
                <a:sym typeface="Times New Roman"/>
              </a:rPr>
              <a:t>4. A.MANI VARDHAN LAL(23EG105G06)</a:t>
            </a:r>
          </a:p>
        </p:txBody>
      </p:sp>
      <p:sp>
        <p:nvSpPr>
          <p:cNvPr name="TextBox 10" id="10"/>
          <p:cNvSpPr txBox="true"/>
          <p:nvPr/>
        </p:nvSpPr>
        <p:spPr>
          <a:xfrm rot="0">
            <a:off x="11728268" y="6198496"/>
            <a:ext cx="3242208" cy="1221099"/>
          </a:xfrm>
          <a:prstGeom prst="rect">
            <a:avLst/>
          </a:prstGeom>
        </p:spPr>
        <p:txBody>
          <a:bodyPr anchor="t" rtlCol="false" tIns="0" lIns="0" bIns="0" rIns="0">
            <a:spAutoFit/>
          </a:bodyPr>
          <a:lstStyle/>
          <a:p>
            <a:pPr algn="l">
              <a:lnSpc>
                <a:spcPts val="2452"/>
              </a:lnSpc>
            </a:pPr>
            <a:r>
              <a:rPr lang="en-US" b="true" sz="1990">
                <a:solidFill>
                  <a:srgbClr val="000000"/>
                </a:solidFill>
                <a:latin typeface="Times New Roman Bold"/>
                <a:ea typeface="Times New Roman Bold"/>
                <a:cs typeface="Times New Roman Bold"/>
                <a:sym typeface="Times New Roman Bold"/>
              </a:rPr>
              <a:t>Project Guide</a:t>
            </a:r>
          </a:p>
          <a:p>
            <a:pPr algn="l">
              <a:lnSpc>
                <a:spcPts val="2452"/>
              </a:lnSpc>
            </a:pPr>
            <a:r>
              <a:rPr lang="en-US" sz="1990">
                <a:solidFill>
                  <a:srgbClr val="000000"/>
                </a:solidFill>
                <a:latin typeface="Times New Roman"/>
                <a:ea typeface="Times New Roman"/>
                <a:cs typeface="Times New Roman"/>
                <a:sym typeface="Times New Roman"/>
              </a:rPr>
              <a:t>Dr..Kamalakar Ramineni</a:t>
            </a:r>
          </a:p>
          <a:p>
            <a:pPr algn="l">
              <a:lnSpc>
                <a:spcPts val="2452"/>
              </a:lnSpc>
            </a:pPr>
            <a:r>
              <a:rPr lang="en-US" sz="1990">
                <a:solidFill>
                  <a:srgbClr val="000000"/>
                </a:solidFill>
                <a:latin typeface="Times New Roman"/>
                <a:ea typeface="Times New Roman"/>
                <a:cs typeface="Times New Roman"/>
                <a:sym typeface="Times New Roman"/>
              </a:rPr>
              <a:t>Assistant Professor </a:t>
            </a:r>
          </a:p>
          <a:p>
            <a:pPr algn="l">
              <a:lnSpc>
                <a:spcPts val="2452"/>
              </a:lnSpc>
            </a:pPr>
            <a:r>
              <a:rPr lang="en-US" sz="1990">
                <a:solidFill>
                  <a:srgbClr val="000000"/>
                </a:solidFill>
                <a:latin typeface="Times New Roman"/>
                <a:ea typeface="Times New Roman"/>
                <a:cs typeface="Times New Roman"/>
                <a:sym typeface="Times New Roman"/>
              </a:rPr>
              <a:t>Department of CSE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487706" y="1403369"/>
            <a:ext cx="13346210" cy="7508249"/>
            <a:chOff x="0" y="0"/>
            <a:chExt cx="13445071" cy="7563866"/>
          </a:xfrm>
        </p:grpSpPr>
        <p:sp>
          <p:nvSpPr>
            <p:cNvPr name="Freeform 3" id="3"/>
            <p:cNvSpPr/>
            <p:nvPr/>
          </p:nvSpPr>
          <p:spPr>
            <a:xfrm flipH="false" flipV="false" rot="0">
              <a:off x="0" y="0"/>
              <a:ext cx="13445110" cy="7563866"/>
            </a:xfrm>
            <a:custGeom>
              <a:avLst/>
              <a:gdLst/>
              <a:ahLst/>
              <a:cxnLst/>
              <a:rect r="r" b="b" t="t" l="l"/>
              <a:pathLst>
                <a:path h="7563866" w="13445110">
                  <a:moveTo>
                    <a:pt x="0" y="0"/>
                  </a:moveTo>
                  <a:lnTo>
                    <a:pt x="13445110" y="0"/>
                  </a:lnTo>
                  <a:lnTo>
                    <a:pt x="13445110" y="7563866"/>
                  </a:lnTo>
                  <a:lnTo>
                    <a:pt x="0" y="7563866"/>
                  </a:lnTo>
                  <a:lnTo>
                    <a:pt x="0" y="0"/>
                  </a:lnTo>
                  <a:close/>
                </a:path>
              </a:pathLst>
            </a:custGeom>
            <a:blipFill>
              <a:blip r:embed="rId2"/>
              <a:stretch>
                <a:fillRect l="0" t="0" r="0" b="-115"/>
              </a:stretch>
            </a:blipFill>
          </p:spPr>
        </p:sp>
      </p:grpSp>
      <p:sp>
        <p:nvSpPr>
          <p:cNvPr name="TextBox 4" id="4"/>
          <p:cNvSpPr txBox="true"/>
          <p:nvPr/>
        </p:nvSpPr>
        <p:spPr>
          <a:xfrm rot="0">
            <a:off x="5801217" y="2145638"/>
            <a:ext cx="5602318" cy="842534"/>
          </a:xfrm>
          <a:prstGeom prst="rect">
            <a:avLst/>
          </a:prstGeom>
        </p:spPr>
        <p:txBody>
          <a:bodyPr anchor="t" rtlCol="false" tIns="0" lIns="0" bIns="0" rIns="0">
            <a:spAutoFit/>
          </a:bodyPr>
          <a:lstStyle/>
          <a:p>
            <a:pPr algn="l">
              <a:lnSpc>
                <a:spcPts val="6289"/>
              </a:lnSpc>
            </a:pPr>
            <a:r>
              <a:rPr lang="en-US" b="true" sz="5241">
                <a:solidFill>
                  <a:srgbClr val="000000"/>
                </a:solidFill>
                <a:latin typeface="Times New Roman Bold"/>
                <a:ea typeface="Times New Roman Bold"/>
                <a:cs typeface="Times New Roman Bold"/>
                <a:sym typeface="Times New Roman Bold"/>
              </a:rPr>
              <a:t>Introduction</a:t>
            </a:r>
          </a:p>
        </p:txBody>
      </p:sp>
      <p:sp>
        <p:nvSpPr>
          <p:cNvPr name="TextBox 5" id="5"/>
          <p:cNvSpPr txBox="true"/>
          <p:nvPr/>
        </p:nvSpPr>
        <p:spPr>
          <a:xfrm rot="0">
            <a:off x="14867367" y="8413473"/>
            <a:ext cx="231710" cy="297700"/>
          </a:xfrm>
          <a:prstGeom prst="rect">
            <a:avLst/>
          </a:prstGeom>
        </p:spPr>
        <p:txBody>
          <a:bodyPr anchor="t" rtlCol="false" tIns="0" lIns="0" bIns="0" rIns="0">
            <a:spAutoFit/>
          </a:bodyPr>
          <a:lstStyle/>
          <a:p>
            <a:pPr algn="l">
              <a:lnSpc>
                <a:spcPts val="2069"/>
              </a:lnSpc>
            </a:pPr>
            <a:r>
              <a:rPr lang="en-US" sz="1724">
                <a:solidFill>
                  <a:srgbClr val="878787"/>
                </a:solidFill>
                <a:latin typeface="Cambria"/>
                <a:ea typeface="Cambria"/>
                <a:cs typeface="Cambria"/>
                <a:sym typeface="Cambria"/>
              </a:rPr>
              <a:t>‹#›</a:t>
            </a:r>
          </a:p>
        </p:txBody>
      </p:sp>
      <p:sp>
        <p:nvSpPr>
          <p:cNvPr name="TextBox 6" id="6"/>
          <p:cNvSpPr txBox="true"/>
          <p:nvPr/>
        </p:nvSpPr>
        <p:spPr>
          <a:xfrm rot="0">
            <a:off x="2925836" y="3288599"/>
            <a:ext cx="12482808" cy="4103632"/>
          </a:xfrm>
          <a:prstGeom prst="rect">
            <a:avLst/>
          </a:prstGeom>
        </p:spPr>
        <p:txBody>
          <a:bodyPr anchor="t" rtlCol="false" tIns="0" lIns="0" bIns="0" rIns="0">
            <a:spAutoFit/>
          </a:bodyPr>
          <a:lstStyle/>
          <a:p>
            <a:pPr algn="just">
              <a:lnSpc>
                <a:spcPts val="2452"/>
              </a:lnSpc>
            </a:pPr>
            <a:r>
              <a:rPr lang="en-US" sz="1990">
                <a:solidFill>
                  <a:srgbClr val="000000"/>
                </a:solidFill>
                <a:latin typeface="Times New Roman"/>
                <a:ea typeface="Times New Roman"/>
                <a:cs typeface="Times New Roman"/>
                <a:sym typeface="Times New Roman"/>
              </a:rPr>
              <a:t>Digital Learning presently faces certain problems, such as fragmented learning resources that contribute to "</a:t>
            </a:r>
            <a:r>
              <a:rPr lang="en-US" b="true" sz="1990">
                <a:solidFill>
                  <a:srgbClr val="000000"/>
                </a:solidFill>
                <a:latin typeface="Times New Roman Bold"/>
                <a:ea typeface="Times New Roman Bold"/>
                <a:cs typeface="Times New Roman Bold"/>
                <a:sym typeface="Times New Roman Bold"/>
              </a:rPr>
              <a:t>information overload</a:t>
            </a:r>
            <a:r>
              <a:rPr lang="en-US" sz="1990">
                <a:solidFill>
                  <a:srgbClr val="000000"/>
                </a:solidFill>
                <a:latin typeface="Times New Roman"/>
                <a:ea typeface="Times New Roman"/>
                <a:cs typeface="Times New Roman"/>
                <a:sym typeface="Times New Roman"/>
              </a:rPr>
              <a:t>," which makes finding a clear path to professional mastery difficult for learners. In this regard, the </a:t>
            </a:r>
            <a:r>
              <a:rPr lang="en-US" b="true" sz="1990">
                <a:solidFill>
                  <a:srgbClr val="000000"/>
                </a:solidFill>
                <a:latin typeface="Times New Roman Bold"/>
                <a:ea typeface="Times New Roman Bold"/>
                <a:cs typeface="Times New Roman Bold"/>
                <a:sym typeface="Times New Roman Bold"/>
              </a:rPr>
              <a:t>Skill Graph </a:t>
            </a:r>
            <a:r>
              <a:rPr lang="en-US" sz="1990">
                <a:solidFill>
                  <a:srgbClr val="000000"/>
                </a:solidFill>
                <a:latin typeface="Times New Roman"/>
                <a:ea typeface="Times New Roman"/>
                <a:cs typeface="Times New Roman"/>
                <a:sym typeface="Times New Roman"/>
              </a:rPr>
              <a:t>project introduces an intelligent web-based recommendation system that utilizes Graph Theory to model the technical landscape. The system represents distinct skills as nodes and their prerequisite dependencies as directed edges to construct a comprehensive "</a:t>
            </a:r>
            <a:r>
              <a:rPr lang="en-US" b="true" sz="1990">
                <a:solidFill>
                  <a:srgbClr val="000000"/>
                </a:solidFill>
                <a:latin typeface="Times New Roman Bold"/>
                <a:ea typeface="Times New Roman Bold"/>
                <a:cs typeface="Times New Roman Bold"/>
                <a:sym typeface="Times New Roman Bold"/>
              </a:rPr>
              <a:t>Knowledge Graph</a:t>
            </a:r>
            <a:r>
              <a:rPr lang="en-US" sz="1990">
                <a:solidFill>
                  <a:srgbClr val="000000"/>
                </a:solidFill>
                <a:latin typeface="Times New Roman"/>
                <a:ea typeface="Times New Roman"/>
                <a:cs typeface="Times New Roman"/>
                <a:sym typeface="Times New Roman"/>
              </a:rPr>
              <a:t>" of professional domains.</a:t>
            </a:r>
          </a:p>
          <a:p>
            <a:pPr algn="just">
              <a:lnSpc>
                <a:spcPts val="2289"/>
              </a:lnSpc>
            </a:pPr>
          </a:p>
          <a:p>
            <a:pPr algn="just">
              <a:lnSpc>
                <a:spcPts val="2452"/>
              </a:lnSpc>
            </a:pPr>
            <a:r>
              <a:rPr lang="en-US" sz="1990">
                <a:solidFill>
                  <a:srgbClr val="000000"/>
                </a:solidFill>
                <a:latin typeface="Times New Roman"/>
                <a:ea typeface="Times New Roman"/>
                <a:cs typeface="Times New Roman"/>
                <a:sym typeface="Times New Roman"/>
              </a:rPr>
              <a:t>It analyzes the user's current skill level and uses personalized pathfinding algorithms to curate a bespoke, step-by-step learning roadmap toward a career goal, such as Data Scientist or Full-Stack Developer. By integrating modern web technologies and </a:t>
            </a:r>
            <a:r>
              <a:rPr lang="en-US" b="true" sz="1990">
                <a:solidFill>
                  <a:srgbClr val="000000"/>
                </a:solidFill>
                <a:latin typeface="Times New Roman Bold"/>
                <a:ea typeface="Times New Roman Bold"/>
                <a:cs typeface="Times New Roman Bold"/>
                <a:sym typeface="Times New Roman Bold"/>
              </a:rPr>
              <a:t>interactive visualizations</a:t>
            </a:r>
            <a:r>
              <a:rPr lang="en-US" sz="1990">
                <a:solidFill>
                  <a:srgbClr val="000000"/>
                </a:solidFill>
                <a:latin typeface="Times New Roman"/>
                <a:ea typeface="Times New Roman"/>
                <a:cs typeface="Times New Roman"/>
                <a:sym typeface="Times New Roman"/>
              </a:rPr>
              <a:t>, the system simplifies complex hierarchies of skills and offers a dynamic framework for real-time tracking of progress. This may serve as a massive game-changer for e-learning platforms with automated course sequencing, corporate upskilling efforts, and data-driven guidance for students into the competitive tech industry.</a:t>
            </a:r>
          </a:p>
          <a:p>
            <a:pPr algn="just">
              <a:lnSpc>
                <a:spcPts val="2289"/>
              </a:lnSpc>
            </a:pPr>
          </a:p>
        </p:txBody>
      </p:sp>
      <p:sp>
        <p:nvSpPr>
          <p:cNvPr name="TextBox 7" id="7"/>
          <p:cNvSpPr txBox="true"/>
          <p:nvPr/>
        </p:nvSpPr>
        <p:spPr>
          <a:xfrm rot="0">
            <a:off x="4937008" y="8273890"/>
            <a:ext cx="9087342" cy="313133"/>
          </a:xfrm>
          <a:prstGeom prst="rect">
            <a:avLst/>
          </a:prstGeom>
        </p:spPr>
        <p:txBody>
          <a:bodyPr anchor="t" rtlCol="false" tIns="0" lIns="0" bIns="0" rIns="0">
            <a:spAutoFit/>
          </a:bodyPr>
          <a:lstStyle/>
          <a:p>
            <a:pPr algn="ctr">
              <a:lnSpc>
                <a:spcPts val="2149"/>
              </a:lnSpc>
            </a:pPr>
            <a:r>
              <a:rPr lang="en-US" sz="1724">
                <a:solidFill>
                  <a:srgbClr val="878787"/>
                </a:solidFill>
                <a:latin typeface="Calibri (MS)"/>
                <a:ea typeface="Calibri (MS)"/>
                <a:cs typeface="Calibri (MS)"/>
                <a:sym typeface="Calibri (MS)"/>
              </a:rPr>
              <a:t>Department of Computer Science and Engineering</a:t>
            </a:r>
          </a:p>
        </p:txBody>
      </p:sp>
      <p:sp>
        <p:nvSpPr>
          <p:cNvPr name="TextBox 8" id="8"/>
          <p:cNvSpPr txBox="true"/>
          <p:nvPr/>
        </p:nvSpPr>
        <p:spPr>
          <a:xfrm rot="0">
            <a:off x="3277725" y="8273890"/>
            <a:ext cx="1052363" cy="302254"/>
          </a:xfrm>
          <a:prstGeom prst="rect">
            <a:avLst/>
          </a:prstGeom>
        </p:spPr>
        <p:txBody>
          <a:bodyPr anchor="t" rtlCol="false" tIns="0" lIns="0" bIns="0" rIns="0">
            <a:spAutoFit/>
          </a:bodyPr>
          <a:lstStyle/>
          <a:p>
            <a:pPr algn="l">
              <a:lnSpc>
                <a:spcPts val="2149"/>
              </a:lnSpc>
            </a:pPr>
            <a:r>
              <a:rPr lang="en-US" sz="1724">
                <a:solidFill>
                  <a:srgbClr val="878787"/>
                </a:solidFill>
                <a:latin typeface="Calibri (MS)"/>
                <a:ea typeface="Calibri (MS)"/>
                <a:cs typeface="Calibri (MS)"/>
                <a:sym typeface="Calibri (MS)"/>
              </a:rPr>
              <a:t>21</a:t>
            </a:r>
            <a:r>
              <a:rPr lang="en-US" sz="1724">
                <a:solidFill>
                  <a:srgbClr val="878787"/>
                </a:solidFill>
                <a:latin typeface="Calibri (MS)"/>
                <a:ea typeface="Calibri (MS)"/>
                <a:cs typeface="Calibri (MS)"/>
                <a:sym typeface="Calibri (MS)"/>
              </a:rPr>
              <a:t>.01.2026</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487706" y="1403369"/>
            <a:ext cx="13346210" cy="7508249"/>
            <a:chOff x="0" y="0"/>
            <a:chExt cx="13445071" cy="7563866"/>
          </a:xfrm>
        </p:grpSpPr>
        <p:sp>
          <p:nvSpPr>
            <p:cNvPr name="Freeform 3" id="3"/>
            <p:cNvSpPr/>
            <p:nvPr/>
          </p:nvSpPr>
          <p:spPr>
            <a:xfrm flipH="false" flipV="false" rot="0">
              <a:off x="0" y="0"/>
              <a:ext cx="13445110" cy="7563866"/>
            </a:xfrm>
            <a:custGeom>
              <a:avLst/>
              <a:gdLst/>
              <a:ahLst/>
              <a:cxnLst/>
              <a:rect r="r" b="b" t="t" l="l"/>
              <a:pathLst>
                <a:path h="7563866" w="13445110">
                  <a:moveTo>
                    <a:pt x="0" y="0"/>
                  </a:moveTo>
                  <a:lnTo>
                    <a:pt x="13445110" y="0"/>
                  </a:lnTo>
                  <a:lnTo>
                    <a:pt x="13445110" y="7563866"/>
                  </a:lnTo>
                  <a:lnTo>
                    <a:pt x="0" y="7563866"/>
                  </a:lnTo>
                  <a:lnTo>
                    <a:pt x="0" y="0"/>
                  </a:lnTo>
                  <a:close/>
                </a:path>
              </a:pathLst>
            </a:custGeom>
            <a:blipFill>
              <a:blip r:embed="rId2"/>
              <a:stretch>
                <a:fillRect l="0" t="0" r="0" b="-115"/>
              </a:stretch>
            </a:blipFill>
          </p:spPr>
        </p:sp>
      </p:grpSp>
      <p:sp>
        <p:nvSpPr>
          <p:cNvPr name="TextBox 4" id="4"/>
          <p:cNvSpPr txBox="true"/>
          <p:nvPr/>
        </p:nvSpPr>
        <p:spPr>
          <a:xfrm rot="0">
            <a:off x="5801204" y="2121257"/>
            <a:ext cx="6367388" cy="842244"/>
          </a:xfrm>
          <a:prstGeom prst="rect">
            <a:avLst/>
          </a:prstGeom>
        </p:spPr>
        <p:txBody>
          <a:bodyPr anchor="t" rtlCol="false" tIns="0" lIns="0" bIns="0" rIns="0">
            <a:spAutoFit/>
          </a:bodyPr>
          <a:lstStyle/>
          <a:p>
            <a:pPr algn="l">
              <a:lnSpc>
                <a:spcPts val="6289"/>
              </a:lnSpc>
            </a:pPr>
            <a:r>
              <a:rPr lang="en-US" b="true" sz="5241">
                <a:solidFill>
                  <a:srgbClr val="000000"/>
                </a:solidFill>
                <a:latin typeface="Times New Roman Bold"/>
                <a:ea typeface="Times New Roman Bold"/>
                <a:cs typeface="Times New Roman Bold"/>
                <a:sym typeface="Times New Roman Bold"/>
              </a:rPr>
              <a:t>Problem Statement</a:t>
            </a:r>
          </a:p>
        </p:txBody>
      </p:sp>
      <p:sp>
        <p:nvSpPr>
          <p:cNvPr name="TextBox 5" id="5"/>
          <p:cNvSpPr txBox="true"/>
          <p:nvPr/>
        </p:nvSpPr>
        <p:spPr>
          <a:xfrm rot="0">
            <a:off x="14867367" y="8413473"/>
            <a:ext cx="231710" cy="297700"/>
          </a:xfrm>
          <a:prstGeom prst="rect">
            <a:avLst/>
          </a:prstGeom>
        </p:spPr>
        <p:txBody>
          <a:bodyPr anchor="t" rtlCol="false" tIns="0" lIns="0" bIns="0" rIns="0">
            <a:spAutoFit/>
          </a:bodyPr>
          <a:lstStyle/>
          <a:p>
            <a:pPr algn="l">
              <a:lnSpc>
                <a:spcPts val="2069"/>
              </a:lnSpc>
            </a:pPr>
            <a:r>
              <a:rPr lang="en-US" sz="1724">
                <a:solidFill>
                  <a:srgbClr val="878787"/>
                </a:solidFill>
                <a:latin typeface="Cambria"/>
                <a:ea typeface="Cambria"/>
                <a:cs typeface="Cambria"/>
                <a:sym typeface="Cambria"/>
              </a:rPr>
              <a:t>‹#›</a:t>
            </a:r>
          </a:p>
        </p:txBody>
      </p:sp>
      <p:sp>
        <p:nvSpPr>
          <p:cNvPr name="TextBox 6" id="6"/>
          <p:cNvSpPr txBox="true"/>
          <p:nvPr/>
        </p:nvSpPr>
        <p:spPr>
          <a:xfrm rot="0">
            <a:off x="3190084" y="3016371"/>
            <a:ext cx="11941442" cy="4709014"/>
          </a:xfrm>
          <a:prstGeom prst="rect">
            <a:avLst/>
          </a:prstGeom>
        </p:spPr>
        <p:txBody>
          <a:bodyPr anchor="t" rtlCol="false" tIns="0" lIns="0" bIns="0" rIns="0">
            <a:spAutoFit/>
          </a:bodyPr>
          <a:lstStyle/>
          <a:p>
            <a:pPr algn="just">
              <a:lnSpc>
                <a:spcPts val="2440"/>
              </a:lnSpc>
            </a:pPr>
            <a:r>
              <a:rPr lang="en-US" sz="1990">
                <a:solidFill>
                  <a:srgbClr val="000000"/>
                </a:solidFill>
                <a:latin typeface="Times New Roman"/>
                <a:ea typeface="Times New Roman"/>
                <a:cs typeface="Times New Roman"/>
                <a:sym typeface="Times New Roman"/>
              </a:rPr>
              <a:t>A critical examination of contemporary educational platforms uncovers an inherent limitation at the core of the structure in how they arrange and deliver learning content. The majority of these platforms rely on linear content progression and static course listings, which do not reflect the complex, interdependent relationships among technical skills. This overly simplified structure often places learners in fragmented learning paths, leading to the phenomenon of information overload where users spend time on repetitive topics while essential prerequisites are inadvertently neglected. These inefficiencies result in confusion, partial knowledge acquisition, and slower professional development. The proposed initiative addresses these issues by developing an advanced Skill Graph, based learning model that represents a </a:t>
            </a:r>
            <a:r>
              <a:rPr lang="en-US" b="true" sz="1990">
                <a:solidFill>
                  <a:srgbClr val="000000"/>
                </a:solidFill>
                <a:latin typeface="Times New Roman Bold"/>
                <a:ea typeface="Times New Roman Bold"/>
                <a:cs typeface="Times New Roman Bold"/>
                <a:sym typeface="Times New Roman Bold"/>
              </a:rPr>
              <a:t>Directed Acyclic Graph (DAG)</a:t>
            </a:r>
            <a:r>
              <a:rPr lang="en-US" sz="1990">
                <a:solidFill>
                  <a:srgbClr val="000000"/>
                </a:solidFill>
                <a:latin typeface="Times New Roman"/>
                <a:ea typeface="Times New Roman"/>
                <a:cs typeface="Times New Roman"/>
                <a:sym typeface="Times New Roman"/>
              </a:rPr>
              <a:t> with the</a:t>
            </a:r>
            <a:r>
              <a:rPr lang="en-US" b="true" sz="1990">
                <a:solidFill>
                  <a:srgbClr val="000000"/>
                </a:solidFill>
                <a:latin typeface="Times New Roman Bold"/>
                <a:ea typeface="Times New Roman Bold"/>
                <a:cs typeface="Times New Roman Bold"/>
                <a:sym typeface="Times New Roman Bold"/>
              </a:rPr>
              <a:t> Neo4j graph database</a:t>
            </a:r>
            <a:r>
              <a:rPr lang="en-US" sz="1990">
                <a:solidFill>
                  <a:srgbClr val="000000"/>
                </a:solidFill>
                <a:latin typeface="Times New Roman"/>
                <a:ea typeface="Times New Roman"/>
                <a:cs typeface="Times New Roman"/>
                <a:sym typeface="Times New Roman"/>
              </a:rPr>
              <a:t>. Here, each skill is a node, and the prerequisite relationships are the directed edges, thus providing a precise and structured representation of knowledge dependencies. Neo4js feature of handling relationship, intensive data in an efficient manner is what makes logical learning progression possible and the problem of circular dependencies is resolved. Besides this, the platform also has an intelligent recommendation system accessible through the web, which determines the learner's proficiency and career objectives. It conducts the gap analysis automatically, and the pathfinding algorithms help to create a personalized step, by, step career roadmap. The progress comes out much clearer with the help of interactive visualizations that make tracking easier for learners.</a:t>
            </a:r>
          </a:p>
        </p:txBody>
      </p:sp>
      <p:sp>
        <p:nvSpPr>
          <p:cNvPr name="TextBox 7" id="7"/>
          <p:cNvSpPr txBox="true"/>
          <p:nvPr/>
        </p:nvSpPr>
        <p:spPr>
          <a:xfrm rot="0">
            <a:off x="4937008" y="8273890"/>
            <a:ext cx="9087342" cy="313133"/>
          </a:xfrm>
          <a:prstGeom prst="rect">
            <a:avLst/>
          </a:prstGeom>
        </p:spPr>
        <p:txBody>
          <a:bodyPr anchor="t" rtlCol="false" tIns="0" lIns="0" bIns="0" rIns="0">
            <a:spAutoFit/>
          </a:bodyPr>
          <a:lstStyle/>
          <a:p>
            <a:pPr algn="ctr">
              <a:lnSpc>
                <a:spcPts val="2149"/>
              </a:lnSpc>
            </a:pPr>
            <a:r>
              <a:rPr lang="en-US" sz="1724">
                <a:solidFill>
                  <a:srgbClr val="878787"/>
                </a:solidFill>
                <a:latin typeface="Calibri (MS)"/>
                <a:ea typeface="Calibri (MS)"/>
                <a:cs typeface="Calibri (MS)"/>
                <a:sym typeface="Calibri (MS)"/>
              </a:rPr>
              <a:t>Department of Computer Science and Engineering</a:t>
            </a:r>
          </a:p>
        </p:txBody>
      </p:sp>
      <p:sp>
        <p:nvSpPr>
          <p:cNvPr name="TextBox 8" id="8"/>
          <p:cNvSpPr txBox="true"/>
          <p:nvPr/>
        </p:nvSpPr>
        <p:spPr>
          <a:xfrm rot="0">
            <a:off x="3277725" y="8273890"/>
            <a:ext cx="1052363" cy="302254"/>
          </a:xfrm>
          <a:prstGeom prst="rect">
            <a:avLst/>
          </a:prstGeom>
        </p:spPr>
        <p:txBody>
          <a:bodyPr anchor="t" rtlCol="false" tIns="0" lIns="0" bIns="0" rIns="0">
            <a:spAutoFit/>
          </a:bodyPr>
          <a:lstStyle/>
          <a:p>
            <a:pPr algn="l">
              <a:lnSpc>
                <a:spcPts val="2149"/>
              </a:lnSpc>
            </a:pPr>
            <a:r>
              <a:rPr lang="en-US" sz="1724">
                <a:solidFill>
                  <a:srgbClr val="878787"/>
                </a:solidFill>
                <a:latin typeface="Calibri (MS)"/>
                <a:ea typeface="Calibri (MS)"/>
                <a:cs typeface="Calibri (MS)"/>
                <a:sym typeface="Calibri (MS)"/>
              </a:rPr>
              <a:t>21</a:t>
            </a:r>
            <a:r>
              <a:rPr lang="en-US" sz="1724">
                <a:solidFill>
                  <a:srgbClr val="878787"/>
                </a:solidFill>
                <a:latin typeface="Calibri (MS)"/>
                <a:ea typeface="Calibri (MS)"/>
                <a:cs typeface="Calibri (MS)"/>
                <a:sym typeface="Calibri (MS)"/>
              </a:rPr>
              <a:t>.01.2026</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487706" y="1403369"/>
            <a:ext cx="13346210" cy="7508249"/>
            <a:chOff x="0" y="0"/>
            <a:chExt cx="13445071" cy="7563866"/>
          </a:xfrm>
        </p:grpSpPr>
        <p:sp>
          <p:nvSpPr>
            <p:cNvPr name="Freeform 3" id="3"/>
            <p:cNvSpPr/>
            <p:nvPr/>
          </p:nvSpPr>
          <p:spPr>
            <a:xfrm flipH="false" flipV="false" rot="0">
              <a:off x="0" y="0"/>
              <a:ext cx="13445110" cy="7563866"/>
            </a:xfrm>
            <a:custGeom>
              <a:avLst/>
              <a:gdLst/>
              <a:ahLst/>
              <a:cxnLst/>
              <a:rect r="r" b="b" t="t" l="l"/>
              <a:pathLst>
                <a:path h="7563866" w="13445110">
                  <a:moveTo>
                    <a:pt x="0" y="0"/>
                  </a:moveTo>
                  <a:lnTo>
                    <a:pt x="13445110" y="0"/>
                  </a:lnTo>
                  <a:lnTo>
                    <a:pt x="13445110" y="7563866"/>
                  </a:lnTo>
                  <a:lnTo>
                    <a:pt x="0" y="7563866"/>
                  </a:lnTo>
                  <a:lnTo>
                    <a:pt x="0" y="0"/>
                  </a:lnTo>
                  <a:close/>
                </a:path>
              </a:pathLst>
            </a:custGeom>
            <a:blipFill>
              <a:blip r:embed="rId2"/>
              <a:stretch>
                <a:fillRect l="0" t="0" r="0" b="-115"/>
              </a:stretch>
            </a:blipFill>
          </p:spPr>
        </p:sp>
      </p:grpSp>
      <p:sp>
        <p:nvSpPr>
          <p:cNvPr name="TextBox 4" id="4"/>
          <p:cNvSpPr txBox="true"/>
          <p:nvPr/>
        </p:nvSpPr>
        <p:spPr>
          <a:xfrm rot="0">
            <a:off x="6179831" y="2124547"/>
            <a:ext cx="5602318" cy="842244"/>
          </a:xfrm>
          <a:prstGeom prst="rect">
            <a:avLst/>
          </a:prstGeom>
        </p:spPr>
        <p:txBody>
          <a:bodyPr anchor="t" rtlCol="false" tIns="0" lIns="0" bIns="0" rIns="0">
            <a:spAutoFit/>
          </a:bodyPr>
          <a:lstStyle/>
          <a:p>
            <a:pPr algn="l">
              <a:lnSpc>
                <a:spcPts val="6289"/>
              </a:lnSpc>
            </a:pPr>
            <a:r>
              <a:rPr lang="en-US" b="true" sz="5241">
                <a:solidFill>
                  <a:srgbClr val="000000"/>
                </a:solidFill>
                <a:latin typeface="Times New Roman Bold"/>
                <a:ea typeface="Times New Roman Bold"/>
                <a:cs typeface="Times New Roman Bold"/>
                <a:sym typeface="Times New Roman Bold"/>
              </a:rPr>
              <a:t>Abstract</a:t>
            </a:r>
          </a:p>
        </p:txBody>
      </p:sp>
      <p:sp>
        <p:nvSpPr>
          <p:cNvPr name="TextBox 5" id="5"/>
          <p:cNvSpPr txBox="true"/>
          <p:nvPr/>
        </p:nvSpPr>
        <p:spPr>
          <a:xfrm rot="0">
            <a:off x="14867367" y="8413473"/>
            <a:ext cx="231710" cy="297700"/>
          </a:xfrm>
          <a:prstGeom prst="rect">
            <a:avLst/>
          </a:prstGeom>
        </p:spPr>
        <p:txBody>
          <a:bodyPr anchor="t" rtlCol="false" tIns="0" lIns="0" bIns="0" rIns="0">
            <a:spAutoFit/>
          </a:bodyPr>
          <a:lstStyle/>
          <a:p>
            <a:pPr algn="l">
              <a:lnSpc>
                <a:spcPts val="2069"/>
              </a:lnSpc>
            </a:pPr>
            <a:r>
              <a:rPr lang="en-US" sz="1724">
                <a:solidFill>
                  <a:srgbClr val="878787"/>
                </a:solidFill>
                <a:latin typeface="Cambria"/>
                <a:ea typeface="Cambria"/>
                <a:cs typeface="Cambria"/>
                <a:sym typeface="Cambria"/>
              </a:rPr>
              <a:t>‹#›</a:t>
            </a:r>
          </a:p>
        </p:txBody>
      </p:sp>
      <p:sp>
        <p:nvSpPr>
          <p:cNvPr name="TextBox 6" id="6"/>
          <p:cNvSpPr txBox="true"/>
          <p:nvPr/>
        </p:nvSpPr>
        <p:spPr>
          <a:xfrm rot="0">
            <a:off x="2816802" y="3075572"/>
            <a:ext cx="12513467" cy="4415709"/>
          </a:xfrm>
          <a:prstGeom prst="rect">
            <a:avLst/>
          </a:prstGeom>
        </p:spPr>
        <p:txBody>
          <a:bodyPr anchor="t" rtlCol="false" tIns="0" lIns="0" bIns="0" rIns="0">
            <a:spAutoFit/>
          </a:bodyPr>
          <a:lstStyle/>
          <a:p>
            <a:pPr algn="just">
              <a:lnSpc>
                <a:spcPts val="2452"/>
              </a:lnSpc>
            </a:pPr>
            <a:r>
              <a:rPr lang="en-US" sz="1990">
                <a:solidFill>
                  <a:srgbClr val="000000"/>
                </a:solidFill>
                <a:latin typeface="Times New Roman"/>
                <a:ea typeface="Times New Roman"/>
                <a:cs typeface="Times New Roman"/>
                <a:sym typeface="Times New Roman"/>
              </a:rPr>
              <a:t>The exponential increase in digital educational platforms has led to a vast pool of learning materials, which are mostly delivered through linear and static content frameworks. These methods do not mirror the complex interrelations of the technical skills and thus lead to fragmented learning, information overload, and slow knowledge acquisition. It is a common occurrence that learners are stuck in repetitive topics or do not get essential prerequisites, leading to conceptual gaps and deferred professional development. This project aims to overcome such a drawback by the implementation of a personalized learning path recommendation system that uses a Skill Graph and is based on Graph Theory principles. The system identifies the technical skills as nodes and the prerequisite relations as directed edges in a Directed Acyclic Graph (DAG) which is kept in the Neo4j graph database that is designed to relationship, intensive data handling. Considering a learner's existing skill set and career goals, the system carries out an automatic gap analysis and also performs the efficient pathfinding algorithms in order to produce the personalized stepwise learning roadmap. The system also offers interactive visualization through the web to attract the user and allow him/her to keep track of their progress in real, time. This data, informed framework guarantees a reasonable sequence of learning, the avoidance of circular dependencies, and reduction of cognitive overload. In the end, the suggested model gives a different, less time, consuming, and more structurally sound way for learners to acquire professional mastery with the help of traditional learning methods.</a:t>
            </a:r>
          </a:p>
        </p:txBody>
      </p:sp>
      <p:sp>
        <p:nvSpPr>
          <p:cNvPr name="TextBox 7" id="7"/>
          <p:cNvSpPr txBox="true"/>
          <p:nvPr/>
        </p:nvSpPr>
        <p:spPr>
          <a:xfrm rot="0">
            <a:off x="4937008" y="8273890"/>
            <a:ext cx="9087342" cy="313133"/>
          </a:xfrm>
          <a:prstGeom prst="rect">
            <a:avLst/>
          </a:prstGeom>
        </p:spPr>
        <p:txBody>
          <a:bodyPr anchor="t" rtlCol="false" tIns="0" lIns="0" bIns="0" rIns="0">
            <a:spAutoFit/>
          </a:bodyPr>
          <a:lstStyle/>
          <a:p>
            <a:pPr algn="ctr">
              <a:lnSpc>
                <a:spcPts val="2149"/>
              </a:lnSpc>
            </a:pPr>
            <a:r>
              <a:rPr lang="en-US" sz="1724">
                <a:solidFill>
                  <a:srgbClr val="878787"/>
                </a:solidFill>
                <a:latin typeface="Calibri (MS)"/>
                <a:ea typeface="Calibri (MS)"/>
                <a:cs typeface="Calibri (MS)"/>
                <a:sym typeface="Calibri (MS)"/>
              </a:rPr>
              <a:t>Department of Computer Science and Engineering</a:t>
            </a:r>
          </a:p>
        </p:txBody>
      </p:sp>
      <p:sp>
        <p:nvSpPr>
          <p:cNvPr name="TextBox 8" id="8"/>
          <p:cNvSpPr txBox="true"/>
          <p:nvPr/>
        </p:nvSpPr>
        <p:spPr>
          <a:xfrm rot="0">
            <a:off x="3277725" y="8273890"/>
            <a:ext cx="1052363" cy="302254"/>
          </a:xfrm>
          <a:prstGeom prst="rect">
            <a:avLst/>
          </a:prstGeom>
        </p:spPr>
        <p:txBody>
          <a:bodyPr anchor="t" rtlCol="false" tIns="0" lIns="0" bIns="0" rIns="0">
            <a:spAutoFit/>
          </a:bodyPr>
          <a:lstStyle/>
          <a:p>
            <a:pPr algn="l">
              <a:lnSpc>
                <a:spcPts val="2149"/>
              </a:lnSpc>
            </a:pPr>
            <a:r>
              <a:rPr lang="en-US" sz="1724">
                <a:solidFill>
                  <a:srgbClr val="878787"/>
                </a:solidFill>
                <a:latin typeface="Calibri (MS)"/>
                <a:ea typeface="Calibri (MS)"/>
                <a:cs typeface="Calibri (MS)"/>
                <a:sym typeface="Calibri (MS)"/>
              </a:rPr>
              <a:t>21</a:t>
            </a:r>
            <a:r>
              <a:rPr lang="en-US" sz="1724">
                <a:solidFill>
                  <a:srgbClr val="878787"/>
                </a:solidFill>
                <a:latin typeface="Calibri (MS)"/>
                <a:ea typeface="Calibri (MS)"/>
                <a:cs typeface="Calibri (MS)"/>
                <a:sym typeface="Calibri (MS)"/>
              </a:rPr>
              <a:t>.01.2026</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487706" y="1403369"/>
            <a:ext cx="13346210" cy="7508249"/>
            <a:chOff x="0" y="0"/>
            <a:chExt cx="13445071" cy="7563866"/>
          </a:xfrm>
        </p:grpSpPr>
        <p:sp>
          <p:nvSpPr>
            <p:cNvPr name="Freeform 3" id="3"/>
            <p:cNvSpPr/>
            <p:nvPr/>
          </p:nvSpPr>
          <p:spPr>
            <a:xfrm flipH="false" flipV="false" rot="0">
              <a:off x="0" y="0"/>
              <a:ext cx="13445110" cy="7563866"/>
            </a:xfrm>
            <a:custGeom>
              <a:avLst/>
              <a:gdLst/>
              <a:ahLst/>
              <a:cxnLst/>
              <a:rect r="r" b="b" t="t" l="l"/>
              <a:pathLst>
                <a:path h="7563866" w="13445110">
                  <a:moveTo>
                    <a:pt x="0" y="0"/>
                  </a:moveTo>
                  <a:lnTo>
                    <a:pt x="13445110" y="0"/>
                  </a:lnTo>
                  <a:lnTo>
                    <a:pt x="13445110" y="7563866"/>
                  </a:lnTo>
                  <a:lnTo>
                    <a:pt x="0" y="7563866"/>
                  </a:lnTo>
                  <a:lnTo>
                    <a:pt x="0" y="0"/>
                  </a:lnTo>
                  <a:close/>
                </a:path>
              </a:pathLst>
            </a:custGeom>
            <a:blipFill>
              <a:blip r:embed="rId2"/>
              <a:stretch>
                <a:fillRect l="0" t="0" r="0" b="-115"/>
              </a:stretch>
            </a:blipFill>
          </p:spPr>
        </p:sp>
      </p:grpSp>
      <p:sp>
        <p:nvSpPr>
          <p:cNvPr name="TextBox 4" id="4"/>
          <p:cNvSpPr txBox="true"/>
          <p:nvPr/>
        </p:nvSpPr>
        <p:spPr>
          <a:xfrm rot="0">
            <a:off x="6514461" y="1588148"/>
            <a:ext cx="4724986" cy="835688"/>
          </a:xfrm>
          <a:prstGeom prst="rect">
            <a:avLst/>
          </a:prstGeom>
        </p:spPr>
        <p:txBody>
          <a:bodyPr anchor="t" rtlCol="false" tIns="0" lIns="0" bIns="0" rIns="0">
            <a:spAutoFit/>
          </a:bodyPr>
          <a:lstStyle/>
          <a:p>
            <a:pPr algn="l">
              <a:lnSpc>
                <a:spcPts val="6289"/>
              </a:lnSpc>
            </a:pPr>
            <a:r>
              <a:rPr lang="en-US" sz="5241">
                <a:solidFill>
                  <a:srgbClr val="000000"/>
                </a:solidFill>
                <a:latin typeface="Times New Roman"/>
                <a:ea typeface="Times New Roman"/>
                <a:cs typeface="Times New Roman"/>
                <a:sym typeface="Times New Roman"/>
              </a:rPr>
              <a:t>Literature Survey</a:t>
            </a:r>
          </a:p>
        </p:txBody>
      </p:sp>
      <p:sp>
        <p:nvSpPr>
          <p:cNvPr name="TextBox 5" id="5"/>
          <p:cNvSpPr txBox="true"/>
          <p:nvPr/>
        </p:nvSpPr>
        <p:spPr>
          <a:xfrm rot="0">
            <a:off x="14867367" y="8413473"/>
            <a:ext cx="231710" cy="297700"/>
          </a:xfrm>
          <a:prstGeom prst="rect">
            <a:avLst/>
          </a:prstGeom>
        </p:spPr>
        <p:txBody>
          <a:bodyPr anchor="t" rtlCol="false" tIns="0" lIns="0" bIns="0" rIns="0">
            <a:spAutoFit/>
          </a:bodyPr>
          <a:lstStyle/>
          <a:p>
            <a:pPr algn="l">
              <a:lnSpc>
                <a:spcPts val="2069"/>
              </a:lnSpc>
            </a:pPr>
            <a:r>
              <a:rPr lang="en-US" sz="1724">
                <a:solidFill>
                  <a:srgbClr val="878787"/>
                </a:solidFill>
                <a:latin typeface="Cambria"/>
                <a:ea typeface="Cambria"/>
                <a:cs typeface="Cambria"/>
                <a:sym typeface="Cambria"/>
              </a:rPr>
              <a:t>‹#›</a:t>
            </a:r>
          </a:p>
        </p:txBody>
      </p:sp>
      <p:graphicFrame>
        <p:nvGraphicFramePr>
          <p:cNvPr name="Table 6" id="6"/>
          <p:cNvGraphicFramePr>
            <a:graphicFrameLocks noGrp="true"/>
          </p:cNvGraphicFramePr>
          <p:nvPr/>
        </p:nvGraphicFramePr>
        <p:xfrm>
          <a:off x="2816598" y="2744481"/>
          <a:ext cx="12672155" cy="4840344"/>
        </p:xfrm>
        <a:graphic>
          <a:graphicData uri="http://schemas.openxmlformats.org/drawingml/2006/table">
            <a:tbl>
              <a:tblPr/>
              <a:tblGrid>
                <a:gridCol w="1976272"/>
                <a:gridCol w="2456082"/>
                <a:gridCol w="4238421"/>
                <a:gridCol w="4001380"/>
              </a:tblGrid>
              <a:tr h="516640">
                <a:tc>
                  <a:txBody>
                    <a:bodyPr anchor="t" rtlCol="false"/>
                    <a:lstStyle/>
                    <a:p>
                      <a:pPr algn="ctr">
                        <a:lnSpc>
                          <a:spcPts val="2069"/>
                        </a:lnSpc>
                        <a:defRPr/>
                      </a:pPr>
                      <a:r>
                        <a:rPr lang="en-US" b="true" sz="1724">
                          <a:solidFill>
                            <a:srgbClr val="000000"/>
                          </a:solidFill>
                          <a:latin typeface="Times New Roman Bold"/>
                          <a:ea typeface="Times New Roman Bold"/>
                          <a:cs typeface="Times New Roman Bold"/>
                          <a:sym typeface="Times New Roman Bold"/>
                        </a:rPr>
                        <a:t>Author(s)</a:t>
                      </a:r>
                      <a:endParaRPr lang="en-US" sz="1100"/>
                    </a:p>
                  </a:txBody>
                  <a:tcPr marL="0" marR="0" marT="0" marB="0" anchor="ctr">
                    <a:lnL cmpd="sng" algn="ctr" cap="flat" w="16809">
                      <a:solidFill>
                        <a:srgbClr val="9E9E9E"/>
                      </a:solidFill>
                      <a:prstDash val="solid"/>
                      <a:round/>
                      <a:headEnd type="none" w="med" len="med"/>
                      <a:tailEnd type="none" w="med" len="med"/>
                    </a:lnL>
                    <a:lnR cmpd="sng" algn="ctr" cap="flat" w="16809">
                      <a:solidFill>
                        <a:srgbClr val="9E9E9E"/>
                      </a:solidFill>
                      <a:prstDash val="solid"/>
                      <a:round/>
                      <a:headEnd type="none" w="med" len="med"/>
                      <a:tailEnd type="none" w="med" len="med"/>
                    </a:lnR>
                    <a:lnT cmpd="sng" algn="ctr" cap="flat" w="16809">
                      <a:solidFill>
                        <a:srgbClr val="9E9E9E"/>
                      </a:solidFill>
                      <a:prstDash val="solid"/>
                      <a:round/>
                      <a:headEnd type="none" w="med" len="med"/>
                      <a:tailEnd type="none" w="med" len="med"/>
                    </a:lnT>
                    <a:lnB cmpd="sng" algn="ctr" cap="flat" w="16809">
                      <a:solidFill>
                        <a:srgbClr val="9E9E9E"/>
                      </a:solidFill>
                      <a:prstDash val="solid"/>
                      <a:round/>
                      <a:headEnd type="none" w="med" len="med"/>
                      <a:tailEnd type="none" w="med" len="med"/>
                    </a:lnB>
                    <a:solidFill>
                      <a:srgbClr val="FFFFFF"/>
                    </a:solidFill>
                  </a:tcPr>
                </a:tc>
                <a:tc>
                  <a:txBody>
                    <a:bodyPr anchor="t" rtlCol="false"/>
                    <a:lstStyle/>
                    <a:p>
                      <a:pPr algn="ctr">
                        <a:lnSpc>
                          <a:spcPts val="2069"/>
                        </a:lnSpc>
                        <a:defRPr/>
                      </a:pPr>
                      <a:r>
                        <a:rPr lang="en-US" b="true" sz="1724">
                          <a:solidFill>
                            <a:srgbClr val="000000"/>
                          </a:solidFill>
                          <a:latin typeface="Times New Roman Bold"/>
                          <a:ea typeface="Times New Roman Bold"/>
                          <a:cs typeface="Times New Roman Bold"/>
                          <a:sym typeface="Times New Roman Bold"/>
                        </a:rPr>
                        <a:t>Method</a:t>
                      </a:r>
                      <a:endParaRPr lang="en-US" sz="1100"/>
                    </a:p>
                  </a:txBody>
                  <a:tcPr marL="0" marR="0" marT="0" marB="0" anchor="ctr">
                    <a:lnL cmpd="sng" algn="ctr" cap="flat" w="16809">
                      <a:solidFill>
                        <a:srgbClr val="9E9E9E"/>
                      </a:solidFill>
                      <a:prstDash val="solid"/>
                      <a:round/>
                      <a:headEnd type="none" w="med" len="med"/>
                      <a:tailEnd type="none" w="med" len="med"/>
                    </a:lnL>
                    <a:lnR cmpd="sng" algn="ctr" cap="flat" w="16809">
                      <a:solidFill>
                        <a:srgbClr val="9E9E9E"/>
                      </a:solidFill>
                      <a:prstDash val="solid"/>
                      <a:round/>
                      <a:headEnd type="none" w="med" len="med"/>
                      <a:tailEnd type="none" w="med" len="med"/>
                    </a:lnR>
                    <a:lnT cmpd="sng" algn="ctr" cap="flat" w="16809">
                      <a:solidFill>
                        <a:srgbClr val="9E9E9E"/>
                      </a:solidFill>
                      <a:prstDash val="solid"/>
                      <a:round/>
                      <a:headEnd type="none" w="med" len="med"/>
                      <a:tailEnd type="none" w="med" len="med"/>
                    </a:lnT>
                    <a:lnB cmpd="sng" algn="ctr" cap="flat" w="16809">
                      <a:solidFill>
                        <a:srgbClr val="9E9E9E"/>
                      </a:solidFill>
                      <a:prstDash val="solid"/>
                      <a:round/>
                      <a:headEnd type="none" w="med" len="med"/>
                      <a:tailEnd type="none" w="med" len="med"/>
                    </a:lnB>
                    <a:solidFill>
                      <a:srgbClr val="FFFFFF"/>
                    </a:solidFill>
                  </a:tcPr>
                </a:tc>
                <a:tc>
                  <a:txBody>
                    <a:bodyPr anchor="t" rtlCol="false"/>
                    <a:lstStyle/>
                    <a:p>
                      <a:pPr algn="ctr">
                        <a:lnSpc>
                          <a:spcPts val="2069"/>
                        </a:lnSpc>
                        <a:defRPr/>
                      </a:pPr>
                      <a:r>
                        <a:rPr lang="en-US" b="true" sz="1724">
                          <a:solidFill>
                            <a:srgbClr val="000000"/>
                          </a:solidFill>
                          <a:latin typeface="Times New Roman Bold"/>
                          <a:ea typeface="Times New Roman Bold"/>
                          <a:cs typeface="Times New Roman Bold"/>
                          <a:sym typeface="Times New Roman Bold"/>
                        </a:rPr>
                        <a:t>Advantages</a:t>
                      </a:r>
                      <a:endParaRPr lang="en-US" sz="1100"/>
                    </a:p>
                  </a:txBody>
                  <a:tcPr marL="0" marR="0" marT="0" marB="0" anchor="ctr">
                    <a:lnL cmpd="sng" algn="ctr" cap="flat" w="16809">
                      <a:solidFill>
                        <a:srgbClr val="9E9E9E"/>
                      </a:solidFill>
                      <a:prstDash val="solid"/>
                      <a:round/>
                      <a:headEnd type="none" w="med" len="med"/>
                      <a:tailEnd type="none" w="med" len="med"/>
                    </a:lnL>
                    <a:lnR cmpd="sng" algn="ctr" cap="flat" w="16809">
                      <a:solidFill>
                        <a:srgbClr val="9E9E9E"/>
                      </a:solidFill>
                      <a:prstDash val="solid"/>
                      <a:round/>
                      <a:headEnd type="none" w="med" len="med"/>
                      <a:tailEnd type="none" w="med" len="med"/>
                    </a:lnR>
                    <a:lnT cmpd="sng" algn="ctr" cap="flat" w="16809">
                      <a:solidFill>
                        <a:srgbClr val="9E9E9E"/>
                      </a:solidFill>
                      <a:prstDash val="solid"/>
                      <a:round/>
                      <a:headEnd type="none" w="med" len="med"/>
                      <a:tailEnd type="none" w="med" len="med"/>
                    </a:lnT>
                    <a:lnB cmpd="sng" algn="ctr" cap="flat" w="16809">
                      <a:solidFill>
                        <a:srgbClr val="9E9E9E"/>
                      </a:solidFill>
                      <a:prstDash val="solid"/>
                      <a:round/>
                      <a:headEnd type="none" w="med" len="med"/>
                      <a:tailEnd type="none" w="med" len="med"/>
                    </a:lnB>
                    <a:solidFill>
                      <a:srgbClr val="FFFFFF"/>
                    </a:solidFill>
                  </a:tcPr>
                </a:tc>
                <a:tc>
                  <a:txBody>
                    <a:bodyPr anchor="t" rtlCol="false"/>
                    <a:lstStyle/>
                    <a:p>
                      <a:pPr algn="ctr">
                        <a:lnSpc>
                          <a:spcPts val="2069"/>
                        </a:lnSpc>
                        <a:defRPr/>
                      </a:pPr>
                      <a:r>
                        <a:rPr lang="en-US" b="true" sz="1724">
                          <a:solidFill>
                            <a:srgbClr val="000000"/>
                          </a:solidFill>
                          <a:latin typeface="Times New Roman Bold"/>
                          <a:ea typeface="Times New Roman Bold"/>
                          <a:cs typeface="Times New Roman Bold"/>
                          <a:sym typeface="Times New Roman Bold"/>
                        </a:rPr>
                        <a:t>Disadvantages</a:t>
                      </a:r>
                      <a:endParaRPr lang="en-US" sz="1100"/>
                    </a:p>
                  </a:txBody>
                  <a:tcPr marL="0" marR="0" marT="0" marB="0" anchor="ctr">
                    <a:lnL cmpd="sng" algn="ctr" cap="flat" w="16809">
                      <a:solidFill>
                        <a:srgbClr val="9E9E9E"/>
                      </a:solidFill>
                      <a:prstDash val="solid"/>
                      <a:round/>
                      <a:headEnd type="none" w="med" len="med"/>
                      <a:tailEnd type="none" w="med" len="med"/>
                    </a:lnL>
                    <a:lnR cmpd="sng" algn="ctr" cap="flat" w="16809">
                      <a:solidFill>
                        <a:srgbClr val="9E9E9E"/>
                      </a:solidFill>
                      <a:prstDash val="solid"/>
                      <a:round/>
                      <a:headEnd type="none" w="med" len="med"/>
                      <a:tailEnd type="none" w="med" len="med"/>
                    </a:lnR>
                    <a:lnT cmpd="sng" algn="ctr" cap="flat" w="16809">
                      <a:solidFill>
                        <a:srgbClr val="9E9E9E"/>
                      </a:solidFill>
                      <a:prstDash val="solid"/>
                      <a:round/>
                      <a:headEnd type="none" w="med" len="med"/>
                      <a:tailEnd type="none" w="med" len="med"/>
                    </a:lnT>
                    <a:lnB cmpd="sng" algn="ctr" cap="flat" w="16809">
                      <a:solidFill>
                        <a:srgbClr val="9E9E9E"/>
                      </a:solidFill>
                      <a:prstDash val="solid"/>
                      <a:round/>
                      <a:headEnd type="none" w="med" len="med"/>
                      <a:tailEnd type="none" w="med" len="med"/>
                    </a:lnB>
                    <a:solidFill>
                      <a:srgbClr val="FFFFFF"/>
                    </a:solidFill>
                  </a:tcPr>
                </a:tc>
              </a:tr>
              <a:tr h="834116">
                <a:tc>
                  <a:txBody>
                    <a:bodyPr anchor="t" rtlCol="false"/>
                    <a:lstStyle/>
                    <a:p>
                      <a:pPr algn="l">
                        <a:lnSpc>
                          <a:spcPts val="2069"/>
                        </a:lnSpc>
                        <a:defRPr/>
                      </a:pPr>
                      <a:r>
                        <a:rPr lang="en-US" b="true" sz="1724">
                          <a:solidFill>
                            <a:srgbClr val="000000"/>
                          </a:solidFill>
                          <a:latin typeface="Times New Roman Bold"/>
                          <a:ea typeface="Times New Roman Bold"/>
                          <a:cs typeface="Times New Roman Bold"/>
                          <a:sym typeface="Times New Roman Bold"/>
                        </a:rPr>
                        <a:t>Chen et al.</a:t>
                      </a:r>
                      <a:endParaRPr lang="en-US" sz="1100"/>
                    </a:p>
                  </a:txBody>
                  <a:tcPr marL="0" marR="0" marT="0" marB="0" anchor="ctr">
                    <a:lnL cmpd="sng" algn="ctr" cap="flat" w="16809">
                      <a:solidFill>
                        <a:srgbClr val="9E9E9E"/>
                      </a:solidFill>
                      <a:prstDash val="solid"/>
                      <a:round/>
                      <a:headEnd type="none" w="med" len="med"/>
                      <a:tailEnd type="none" w="med" len="med"/>
                    </a:lnL>
                    <a:lnR cmpd="sng" algn="ctr" cap="flat" w="16809">
                      <a:solidFill>
                        <a:srgbClr val="9E9E9E"/>
                      </a:solidFill>
                      <a:prstDash val="solid"/>
                      <a:round/>
                      <a:headEnd type="none" w="med" len="med"/>
                      <a:tailEnd type="none" w="med" len="med"/>
                    </a:lnR>
                    <a:lnT cmpd="sng" algn="ctr" cap="flat" w="16809">
                      <a:solidFill>
                        <a:srgbClr val="9E9E9E"/>
                      </a:solidFill>
                      <a:prstDash val="solid"/>
                      <a:round/>
                      <a:headEnd type="none" w="med" len="med"/>
                      <a:tailEnd type="none" w="med" len="med"/>
                    </a:lnT>
                    <a:lnB cmpd="sng" algn="ctr" cap="flat" w="16809">
                      <a:solidFill>
                        <a:srgbClr val="9E9E9E"/>
                      </a:solidFill>
                      <a:prstDash val="solid"/>
                      <a:round/>
                      <a:headEnd type="none" w="med" len="med"/>
                      <a:tailEnd type="none" w="med" len="med"/>
                    </a:lnB>
                    <a:solidFill>
                      <a:srgbClr val="FFFFFF"/>
                    </a:solidFill>
                  </a:tcPr>
                </a:tc>
                <a:tc>
                  <a:txBody>
                    <a:bodyPr anchor="t" rtlCol="false"/>
                    <a:lstStyle/>
                    <a:p>
                      <a:pPr algn="l">
                        <a:lnSpc>
                          <a:spcPts val="2125"/>
                        </a:lnSpc>
                        <a:defRPr/>
                      </a:pPr>
                      <a:r>
                        <a:rPr lang="en-US" sz="1724">
                          <a:solidFill>
                            <a:srgbClr val="000000"/>
                          </a:solidFill>
                          <a:latin typeface="Times New Roman"/>
                          <a:ea typeface="Times New Roman"/>
                          <a:cs typeface="Times New Roman"/>
                          <a:sym typeface="Times New Roman"/>
                        </a:rPr>
                        <a:t>Dijkstra-based Pathfinding</a:t>
                      </a:r>
                      <a:endParaRPr lang="en-US" sz="1100"/>
                    </a:p>
                  </a:txBody>
                  <a:tcPr marL="0" marR="0" marT="0" marB="0" anchor="ctr">
                    <a:lnL cmpd="sng" algn="ctr" cap="flat" w="16809">
                      <a:solidFill>
                        <a:srgbClr val="9E9E9E"/>
                      </a:solidFill>
                      <a:prstDash val="solid"/>
                      <a:round/>
                      <a:headEnd type="none" w="med" len="med"/>
                      <a:tailEnd type="none" w="med" len="med"/>
                    </a:lnL>
                    <a:lnR cmpd="sng" algn="ctr" cap="flat" w="16809">
                      <a:solidFill>
                        <a:srgbClr val="9E9E9E"/>
                      </a:solidFill>
                      <a:prstDash val="solid"/>
                      <a:round/>
                      <a:headEnd type="none" w="med" len="med"/>
                      <a:tailEnd type="none" w="med" len="med"/>
                    </a:lnR>
                    <a:lnT cmpd="sng" algn="ctr" cap="flat" w="16809">
                      <a:solidFill>
                        <a:srgbClr val="9E9E9E"/>
                      </a:solidFill>
                      <a:prstDash val="solid"/>
                      <a:round/>
                      <a:headEnd type="none" w="med" len="med"/>
                      <a:tailEnd type="none" w="med" len="med"/>
                    </a:lnT>
                    <a:lnB cmpd="sng" algn="ctr" cap="flat" w="16809">
                      <a:solidFill>
                        <a:srgbClr val="9E9E9E"/>
                      </a:solidFill>
                      <a:prstDash val="solid"/>
                      <a:round/>
                      <a:headEnd type="none" w="med" len="med"/>
                      <a:tailEnd type="none" w="med" len="med"/>
                    </a:lnB>
                    <a:solidFill>
                      <a:srgbClr val="FFFFFF"/>
                    </a:solidFill>
                  </a:tcPr>
                </a:tc>
                <a:tc>
                  <a:txBody>
                    <a:bodyPr anchor="t" rtlCol="false"/>
                    <a:lstStyle/>
                    <a:p>
                      <a:pPr algn="l">
                        <a:lnSpc>
                          <a:spcPts val="2125"/>
                        </a:lnSpc>
                        <a:defRPr/>
                      </a:pPr>
                      <a:r>
                        <a:rPr lang="en-US" sz="1724">
                          <a:solidFill>
                            <a:srgbClr val="000000"/>
                          </a:solidFill>
                          <a:latin typeface="Times New Roman"/>
                          <a:ea typeface="Times New Roman"/>
                          <a:cs typeface="Times New Roman"/>
                          <a:sym typeface="Times New Roman"/>
                        </a:rPr>
                        <a:t>Finds the mathematically shortest learning route.</a:t>
                      </a:r>
                      <a:endParaRPr lang="en-US" sz="1100"/>
                    </a:p>
                  </a:txBody>
                  <a:tcPr marL="0" marR="0" marT="0" marB="0" anchor="ctr">
                    <a:lnL cmpd="sng" algn="ctr" cap="flat" w="16809">
                      <a:solidFill>
                        <a:srgbClr val="9E9E9E"/>
                      </a:solidFill>
                      <a:prstDash val="solid"/>
                      <a:round/>
                      <a:headEnd type="none" w="med" len="med"/>
                      <a:tailEnd type="none" w="med" len="med"/>
                    </a:lnL>
                    <a:lnR cmpd="sng" algn="ctr" cap="flat" w="16809">
                      <a:solidFill>
                        <a:srgbClr val="9E9E9E"/>
                      </a:solidFill>
                      <a:prstDash val="solid"/>
                      <a:round/>
                      <a:headEnd type="none" w="med" len="med"/>
                      <a:tailEnd type="none" w="med" len="med"/>
                    </a:lnR>
                    <a:lnT cmpd="sng" algn="ctr" cap="flat" w="16809">
                      <a:solidFill>
                        <a:srgbClr val="9E9E9E"/>
                      </a:solidFill>
                      <a:prstDash val="solid"/>
                      <a:round/>
                      <a:headEnd type="none" w="med" len="med"/>
                      <a:tailEnd type="none" w="med" len="med"/>
                    </a:lnT>
                    <a:lnB cmpd="sng" algn="ctr" cap="flat" w="16809">
                      <a:solidFill>
                        <a:srgbClr val="9E9E9E"/>
                      </a:solidFill>
                      <a:prstDash val="solid"/>
                      <a:round/>
                      <a:headEnd type="none" w="med" len="med"/>
                      <a:tailEnd type="none" w="med" len="med"/>
                    </a:lnB>
                    <a:solidFill>
                      <a:srgbClr val="FFFFFF"/>
                    </a:solidFill>
                  </a:tcPr>
                </a:tc>
                <a:tc>
                  <a:txBody>
                    <a:bodyPr anchor="t" rtlCol="false"/>
                    <a:lstStyle/>
                    <a:p>
                      <a:pPr algn="l">
                        <a:lnSpc>
                          <a:spcPts val="2125"/>
                        </a:lnSpc>
                        <a:defRPr/>
                      </a:pPr>
                      <a:r>
                        <a:rPr lang="en-US" sz="1724">
                          <a:solidFill>
                            <a:srgbClr val="000000"/>
                          </a:solidFill>
                          <a:latin typeface="Times New Roman"/>
                          <a:ea typeface="Times New Roman"/>
                          <a:cs typeface="Times New Roman"/>
                          <a:sym typeface="Times New Roman"/>
                        </a:rPr>
                        <a:t>Often ignores the "difficulty" of a specific skill.</a:t>
                      </a:r>
                      <a:endParaRPr lang="en-US" sz="1100"/>
                    </a:p>
                  </a:txBody>
                  <a:tcPr marL="0" marR="0" marT="0" marB="0" anchor="ctr">
                    <a:lnL cmpd="sng" algn="ctr" cap="flat" w="16809">
                      <a:solidFill>
                        <a:srgbClr val="9E9E9E"/>
                      </a:solidFill>
                      <a:prstDash val="solid"/>
                      <a:round/>
                      <a:headEnd type="none" w="med" len="med"/>
                      <a:tailEnd type="none" w="med" len="med"/>
                    </a:lnL>
                    <a:lnR cmpd="sng" algn="ctr" cap="flat" w="16809">
                      <a:solidFill>
                        <a:srgbClr val="9E9E9E"/>
                      </a:solidFill>
                      <a:prstDash val="solid"/>
                      <a:round/>
                      <a:headEnd type="none" w="med" len="med"/>
                      <a:tailEnd type="none" w="med" len="med"/>
                    </a:lnR>
                    <a:lnT cmpd="sng" algn="ctr" cap="flat" w="16809">
                      <a:solidFill>
                        <a:srgbClr val="9E9E9E"/>
                      </a:solidFill>
                      <a:prstDash val="solid"/>
                      <a:round/>
                      <a:headEnd type="none" w="med" len="med"/>
                      <a:tailEnd type="none" w="med" len="med"/>
                    </a:lnT>
                    <a:lnB cmpd="sng" algn="ctr" cap="flat" w="16809">
                      <a:solidFill>
                        <a:srgbClr val="9E9E9E"/>
                      </a:solidFill>
                      <a:prstDash val="solid"/>
                      <a:round/>
                      <a:headEnd type="none" w="med" len="med"/>
                      <a:tailEnd type="none" w="med" len="med"/>
                    </a:lnB>
                    <a:solidFill>
                      <a:srgbClr val="FFFFFF"/>
                    </a:solidFill>
                  </a:tcPr>
                </a:tc>
              </a:tr>
              <a:tr h="692212">
                <a:tc>
                  <a:txBody>
                    <a:bodyPr anchor="t" rtlCol="false"/>
                    <a:lstStyle/>
                    <a:p>
                      <a:pPr algn="l">
                        <a:lnSpc>
                          <a:spcPts val="2069"/>
                        </a:lnSpc>
                        <a:defRPr/>
                      </a:pPr>
                      <a:r>
                        <a:rPr lang="en-US" b="true" sz="1724">
                          <a:solidFill>
                            <a:srgbClr val="000000"/>
                          </a:solidFill>
                          <a:latin typeface="Times New Roman Bold"/>
                          <a:ea typeface="Times New Roman Bold"/>
                          <a:cs typeface="Times New Roman Bold"/>
                          <a:sym typeface="Times New Roman Bold"/>
                        </a:rPr>
                        <a:t>S. Smith</a:t>
                      </a:r>
                      <a:endParaRPr lang="en-US" sz="1100"/>
                    </a:p>
                  </a:txBody>
                  <a:tcPr marL="0" marR="0" marT="0" marB="0" anchor="ctr">
                    <a:lnL cmpd="sng" algn="ctr" cap="flat" w="16809">
                      <a:solidFill>
                        <a:srgbClr val="9E9E9E"/>
                      </a:solidFill>
                      <a:prstDash val="solid"/>
                      <a:round/>
                      <a:headEnd type="none" w="med" len="med"/>
                      <a:tailEnd type="none" w="med" len="med"/>
                    </a:lnL>
                    <a:lnR cmpd="sng" algn="ctr" cap="flat" w="16809">
                      <a:solidFill>
                        <a:srgbClr val="9E9E9E"/>
                      </a:solidFill>
                      <a:prstDash val="solid"/>
                      <a:round/>
                      <a:headEnd type="none" w="med" len="med"/>
                      <a:tailEnd type="none" w="med" len="med"/>
                    </a:lnR>
                    <a:lnT cmpd="sng" algn="ctr" cap="flat" w="16809">
                      <a:solidFill>
                        <a:srgbClr val="9E9E9E"/>
                      </a:solidFill>
                      <a:prstDash val="solid"/>
                      <a:round/>
                      <a:headEnd type="none" w="med" len="med"/>
                      <a:tailEnd type="none" w="med" len="med"/>
                    </a:lnT>
                    <a:lnB cmpd="sng" algn="ctr" cap="flat" w="16809">
                      <a:solidFill>
                        <a:srgbClr val="9E9E9E"/>
                      </a:solidFill>
                      <a:prstDash val="solid"/>
                      <a:round/>
                      <a:headEnd type="none" w="med" len="med"/>
                      <a:tailEnd type="none" w="med" len="med"/>
                    </a:lnB>
                    <a:solidFill>
                      <a:srgbClr val="FFFFFF"/>
                    </a:solidFill>
                  </a:tcPr>
                </a:tc>
                <a:tc>
                  <a:txBody>
                    <a:bodyPr anchor="t" rtlCol="false"/>
                    <a:lstStyle/>
                    <a:p>
                      <a:pPr algn="l">
                        <a:lnSpc>
                          <a:spcPts val="2069"/>
                        </a:lnSpc>
                        <a:defRPr/>
                      </a:pPr>
                      <a:r>
                        <a:rPr lang="en-US" sz="1724">
                          <a:solidFill>
                            <a:srgbClr val="000000"/>
                          </a:solidFill>
                          <a:latin typeface="Times New Roman"/>
                          <a:ea typeface="Times New Roman"/>
                          <a:cs typeface="Times New Roman"/>
                          <a:sym typeface="Times New Roman"/>
                        </a:rPr>
                        <a:t>D3.js Visualizations</a:t>
                      </a:r>
                      <a:endParaRPr lang="en-US" sz="1100"/>
                    </a:p>
                  </a:txBody>
                  <a:tcPr marL="0" marR="0" marT="0" marB="0" anchor="ctr">
                    <a:lnL cmpd="sng" algn="ctr" cap="flat" w="16809">
                      <a:solidFill>
                        <a:srgbClr val="9E9E9E"/>
                      </a:solidFill>
                      <a:prstDash val="solid"/>
                      <a:round/>
                      <a:headEnd type="none" w="med" len="med"/>
                      <a:tailEnd type="none" w="med" len="med"/>
                    </a:lnL>
                    <a:lnR cmpd="sng" algn="ctr" cap="flat" w="16809">
                      <a:solidFill>
                        <a:srgbClr val="9E9E9E"/>
                      </a:solidFill>
                      <a:prstDash val="solid"/>
                      <a:round/>
                      <a:headEnd type="none" w="med" len="med"/>
                      <a:tailEnd type="none" w="med" len="med"/>
                    </a:lnR>
                    <a:lnT cmpd="sng" algn="ctr" cap="flat" w="16809">
                      <a:solidFill>
                        <a:srgbClr val="9E9E9E"/>
                      </a:solidFill>
                      <a:prstDash val="solid"/>
                      <a:round/>
                      <a:headEnd type="none" w="med" len="med"/>
                      <a:tailEnd type="none" w="med" len="med"/>
                    </a:lnT>
                    <a:lnB cmpd="sng" algn="ctr" cap="flat" w="16809">
                      <a:solidFill>
                        <a:srgbClr val="9E9E9E"/>
                      </a:solidFill>
                      <a:prstDash val="solid"/>
                      <a:round/>
                      <a:headEnd type="none" w="med" len="med"/>
                      <a:tailEnd type="none" w="med" len="med"/>
                    </a:lnB>
                    <a:solidFill>
                      <a:srgbClr val="FFFFFF"/>
                    </a:solidFill>
                  </a:tcPr>
                </a:tc>
                <a:tc>
                  <a:txBody>
                    <a:bodyPr anchor="t" rtlCol="false"/>
                    <a:lstStyle/>
                    <a:p>
                      <a:pPr algn="l">
                        <a:lnSpc>
                          <a:spcPts val="2125"/>
                        </a:lnSpc>
                        <a:defRPr/>
                      </a:pPr>
                      <a:r>
                        <a:rPr lang="en-US" sz="1724">
                          <a:solidFill>
                            <a:srgbClr val="000000"/>
                          </a:solidFill>
                          <a:latin typeface="Times New Roman"/>
                          <a:ea typeface="Times New Roman"/>
                          <a:cs typeface="Times New Roman"/>
                          <a:sym typeface="Times New Roman"/>
                        </a:rPr>
                        <a:t>Highly intuitive and interactive user interface.</a:t>
                      </a:r>
                      <a:endParaRPr lang="en-US" sz="1100"/>
                    </a:p>
                  </a:txBody>
                  <a:tcPr marL="0" marR="0" marT="0" marB="0" anchor="ctr">
                    <a:lnL cmpd="sng" algn="ctr" cap="flat" w="16809">
                      <a:solidFill>
                        <a:srgbClr val="9E9E9E"/>
                      </a:solidFill>
                      <a:prstDash val="solid"/>
                      <a:round/>
                      <a:headEnd type="none" w="med" len="med"/>
                      <a:tailEnd type="none" w="med" len="med"/>
                    </a:lnL>
                    <a:lnR cmpd="sng" algn="ctr" cap="flat" w="16809">
                      <a:solidFill>
                        <a:srgbClr val="9E9E9E"/>
                      </a:solidFill>
                      <a:prstDash val="solid"/>
                      <a:round/>
                      <a:headEnd type="none" w="med" len="med"/>
                      <a:tailEnd type="none" w="med" len="med"/>
                    </a:lnR>
                    <a:lnT cmpd="sng" algn="ctr" cap="flat" w="16809">
                      <a:solidFill>
                        <a:srgbClr val="9E9E9E"/>
                      </a:solidFill>
                      <a:prstDash val="solid"/>
                      <a:round/>
                      <a:headEnd type="none" w="med" len="med"/>
                      <a:tailEnd type="none" w="med" len="med"/>
                    </a:lnT>
                    <a:lnB cmpd="sng" algn="ctr" cap="flat" w="16809">
                      <a:solidFill>
                        <a:srgbClr val="9E9E9E"/>
                      </a:solidFill>
                      <a:prstDash val="solid"/>
                      <a:round/>
                      <a:headEnd type="none" w="med" len="med"/>
                      <a:tailEnd type="none" w="med" len="med"/>
                    </a:lnB>
                    <a:solidFill>
                      <a:srgbClr val="FFFFFF"/>
                    </a:solidFill>
                  </a:tcPr>
                </a:tc>
                <a:tc>
                  <a:txBody>
                    <a:bodyPr anchor="t" rtlCol="false"/>
                    <a:lstStyle/>
                    <a:p>
                      <a:pPr algn="l">
                        <a:lnSpc>
                          <a:spcPts val="2125"/>
                        </a:lnSpc>
                        <a:defRPr/>
                      </a:pPr>
                      <a:r>
                        <a:rPr lang="en-US" sz="1724">
                          <a:solidFill>
                            <a:srgbClr val="000000"/>
                          </a:solidFill>
                          <a:latin typeface="Times New Roman"/>
                          <a:ea typeface="Times New Roman"/>
                          <a:cs typeface="Times New Roman"/>
                          <a:sym typeface="Times New Roman"/>
                        </a:rPr>
                        <a:t>Performance lags with very large datasets.</a:t>
                      </a:r>
                      <a:endParaRPr lang="en-US" sz="1100"/>
                    </a:p>
                  </a:txBody>
                  <a:tcPr marL="0" marR="0" marT="0" marB="0" anchor="ctr">
                    <a:lnL cmpd="sng" algn="ctr" cap="flat" w="16809">
                      <a:solidFill>
                        <a:srgbClr val="9E9E9E"/>
                      </a:solidFill>
                      <a:prstDash val="solid"/>
                      <a:round/>
                      <a:headEnd type="none" w="med" len="med"/>
                      <a:tailEnd type="none" w="med" len="med"/>
                    </a:lnL>
                    <a:lnR cmpd="sng" algn="ctr" cap="flat" w="16809">
                      <a:solidFill>
                        <a:srgbClr val="9E9E9E"/>
                      </a:solidFill>
                      <a:prstDash val="solid"/>
                      <a:round/>
                      <a:headEnd type="none" w="med" len="med"/>
                      <a:tailEnd type="none" w="med" len="med"/>
                    </a:lnR>
                    <a:lnT cmpd="sng" algn="ctr" cap="flat" w="16809">
                      <a:solidFill>
                        <a:srgbClr val="9E9E9E"/>
                      </a:solidFill>
                      <a:prstDash val="solid"/>
                      <a:round/>
                      <a:headEnd type="none" w="med" len="med"/>
                      <a:tailEnd type="none" w="med" len="med"/>
                    </a:lnT>
                    <a:lnB cmpd="sng" algn="ctr" cap="flat" w="16809">
                      <a:solidFill>
                        <a:srgbClr val="9E9E9E"/>
                      </a:solidFill>
                      <a:prstDash val="solid"/>
                      <a:round/>
                      <a:headEnd type="none" w="med" len="med"/>
                      <a:tailEnd type="none" w="med" len="med"/>
                    </a:lnB>
                    <a:solidFill>
                      <a:srgbClr val="FFFFFF"/>
                    </a:solidFill>
                  </a:tcPr>
                </a:tc>
              </a:tr>
              <a:tr h="632527">
                <a:tc>
                  <a:txBody>
                    <a:bodyPr anchor="t" rtlCol="false"/>
                    <a:lstStyle/>
                    <a:p>
                      <a:pPr algn="l">
                        <a:lnSpc>
                          <a:spcPts val="2069"/>
                        </a:lnSpc>
                        <a:defRPr/>
                      </a:pPr>
                      <a:r>
                        <a:rPr lang="en-US" b="true" sz="1724">
                          <a:solidFill>
                            <a:srgbClr val="000000"/>
                          </a:solidFill>
                          <a:latin typeface="Times New Roman Bold"/>
                          <a:ea typeface="Times New Roman Bold"/>
                          <a:cs typeface="Times New Roman Bold"/>
                          <a:sym typeface="Times New Roman Bold"/>
                        </a:rPr>
                        <a:t>IEEE Survey</a:t>
                      </a:r>
                      <a:endParaRPr lang="en-US" sz="1100"/>
                    </a:p>
                  </a:txBody>
                  <a:tcPr marL="0" marR="0" marT="0" marB="0" anchor="ctr">
                    <a:lnL cmpd="sng" algn="ctr" cap="flat" w="16809">
                      <a:solidFill>
                        <a:srgbClr val="9E9E9E"/>
                      </a:solidFill>
                      <a:prstDash val="solid"/>
                      <a:round/>
                      <a:headEnd type="none" w="med" len="med"/>
                      <a:tailEnd type="none" w="med" len="med"/>
                    </a:lnL>
                    <a:lnR cmpd="sng" algn="ctr" cap="flat" w="16809">
                      <a:solidFill>
                        <a:srgbClr val="9E9E9E"/>
                      </a:solidFill>
                      <a:prstDash val="solid"/>
                      <a:round/>
                      <a:headEnd type="none" w="med" len="med"/>
                      <a:tailEnd type="none" w="med" len="med"/>
                    </a:lnR>
                    <a:lnT cmpd="sng" algn="ctr" cap="flat" w="16809">
                      <a:solidFill>
                        <a:srgbClr val="9E9E9E"/>
                      </a:solidFill>
                      <a:prstDash val="solid"/>
                      <a:round/>
                      <a:headEnd type="none" w="med" len="med"/>
                      <a:tailEnd type="none" w="med" len="med"/>
                    </a:lnT>
                    <a:lnB cmpd="sng" algn="ctr" cap="flat" w="16809">
                      <a:solidFill>
                        <a:srgbClr val="9E9E9E"/>
                      </a:solidFill>
                      <a:prstDash val="solid"/>
                      <a:round/>
                      <a:headEnd type="none" w="med" len="med"/>
                      <a:tailEnd type="none" w="med" len="med"/>
                    </a:lnB>
                    <a:solidFill>
                      <a:srgbClr val="FFFFFF"/>
                    </a:solidFill>
                  </a:tcPr>
                </a:tc>
                <a:tc>
                  <a:txBody>
                    <a:bodyPr anchor="t" rtlCol="false"/>
                    <a:lstStyle/>
                    <a:p>
                      <a:pPr algn="l">
                        <a:lnSpc>
                          <a:spcPts val="2069"/>
                        </a:lnSpc>
                        <a:defRPr/>
                      </a:pPr>
                      <a:r>
                        <a:rPr lang="en-US" sz="1724">
                          <a:solidFill>
                            <a:srgbClr val="000000"/>
                          </a:solidFill>
                          <a:latin typeface="Times New Roman"/>
                          <a:ea typeface="Times New Roman"/>
                          <a:cs typeface="Times New Roman"/>
                          <a:sym typeface="Times New Roman"/>
                        </a:rPr>
                        <a:t>Collaborative Filtering</a:t>
                      </a:r>
                      <a:endParaRPr lang="en-US" sz="1100"/>
                    </a:p>
                  </a:txBody>
                  <a:tcPr marL="0" marR="0" marT="0" marB="0" anchor="ctr">
                    <a:lnL cmpd="sng" algn="ctr" cap="flat" w="16809">
                      <a:solidFill>
                        <a:srgbClr val="9E9E9E"/>
                      </a:solidFill>
                      <a:prstDash val="solid"/>
                      <a:round/>
                      <a:headEnd type="none" w="med" len="med"/>
                      <a:tailEnd type="none" w="med" len="med"/>
                    </a:lnL>
                    <a:lnR cmpd="sng" algn="ctr" cap="flat" w="16809">
                      <a:solidFill>
                        <a:srgbClr val="9E9E9E"/>
                      </a:solidFill>
                      <a:prstDash val="solid"/>
                      <a:round/>
                      <a:headEnd type="none" w="med" len="med"/>
                      <a:tailEnd type="none" w="med" len="med"/>
                    </a:lnR>
                    <a:lnT cmpd="sng" algn="ctr" cap="flat" w="16809">
                      <a:solidFill>
                        <a:srgbClr val="9E9E9E"/>
                      </a:solidFill>
                      <a:prstDash val="solid"/>
                      <a:round/>
                      <a:headEnd type="none" w="med" len="med"/>
                      <a:tailEnd type="none" w="med" len="med"/>
                    </a:lnT>
                    <a:lnB cmpd="sng" algn="ctr" cap="flat" w="16809">
                      <a:solidFill>
                        <a:srgbClr val="9E9E9E"/>
                      </a:solidFill>
                      <a:prstDash val="solid"/>
                      <a:round/>
                      <a:headEnd type="none" w="med" len="med"/>
                      <a:tailEnd type="none" w="med" len="med"/>
                    </a:lnB>
                    <a:solidFill>
                      <a:srgbClr val="FFFFFF"/>
                    </a:solidFill>
                  </a:tcPr>
                </a:tc>
                <a:tc>
                  <a:txBody>
                    <a:bodyPr anchor="t" rtlCol="false"/>
                    <a:lstStyle/>
                    <a:p>
                      <a:pPr algn="l">
                        <a:lnSpc>
                          <a:spcPts val="2125"/>
                        </a:lnSpc>
                        <a:defRPr/>
                      </a:pPr>
                      <a:r>
                        <a:rPr lang="en-US" sz="1724">
                          <a:solidFill>
                            <a:srgbClr val="000000"/>
                          </a:solidFill>
                          <a:latin typeface="Times New Roman"/>
                          <a:ea typeface="Times New Roman"/>
                          <a:cs typeface="Times New Roman"/>
                          <a:sym typeface="Times New Roman"/>
                        </a:rPr>
                        <a:t>Recommends paths based on other successful learners.</a:t>
                      </a:r>
                      <a:endParaRPr lang="en-US" sz="1100"/>
                    </a:p>
                  </a:txBody>
                  <a:tcPr marL="0" marR="0" marT="0" marB="0" anchor="ctr">
                    <a:lnL cmpd="sng" algn="ctr" cap="flat" w="16809">
                      <a:solidFill>
                        <a:srgbClr val="9E9E9E"/>
                      </a:solidFill>
                      <a:prstDash val="solid"/>
                      <a:round/>
                      <a:headEnd type="none" w="med" len="med"/>
                      <a:tailEnd type="none" w="med" len="med"/>
                    </a:lnL>
                    <a:lnR cmpd="sng" algn="ctr" cap="flat" w="16809">
                      <a:solidFill>
                        <a:srgbClr val="9E9E9E"/>
                      </a:solidFill>
                      <a:prstDash val="solid"/>
                      <a:round/>
                      <a:headEnd type="none" w="med" len="med"/>
                      <a:tailEnd type="none" w="med" len="med"/>
                    </a:lnR>
                    <a:lnT cmpd="sng" algn="ctr" cap="flat" w="16809">
                      <a:solidFill>
                        <a:srgbClr val="9E9E9E"/>
                      </a:solidFill>
                      <a:prstDash val="solid"/>
                      <a:round/>
                      <a:headEnd type="none" w="med" len="med"/>
                      <a:tailEnd type="none" w="med" len="med"/>
                    </a:lnT>
                    <a:lnB cmpd="sng" algn="ctr" cap="flat" w="16809">
                      <a:solidFill>
                        <a:srgbClr val="9E9E9E"/>
                      </a:solidFill>
                      <a:prstDash val="solid"/>
                      <a:round/>
                      <a:headEnd type="none" w="med" len="med"/>
                      <a:tailEnd type="none" w="med" len="med"/>
                    </a:lnB>
                    <a:solidFill>
                      <a:srgbClr val="FFFFFF"/>
                    </a:solidFill>
                  </a:tcPr>
                </a:tc>
                <a:tc>
                  <a:txBody>
                    <a:bodyPr anchor="t" rtlCol="false"/>
                    <a:lstStyle/>
                    <a:p>
                      <a:pPr algn="l">
                        <a:lnSpc>
                          <a:spcPts val="2125"/>
                        </a:lnSpc>
                        <a:defRPr/>
                      </a:pPr>
                      <a:r>
                        <a:rPr lang="en-US" sz="1724">
                          <a:solidFill>
                            <a:srgbClr val="000000"/>
                          </a:solidFill>
                          <a:latin typeface="Times New Roman"/>
                          <a:ea typeface="Times New Roman"/>
                          <a:cs typeface="Times New Roman"/>
                          <a:sym typeface="Times New Roman"/>
                        </a:rPr>
                        <a:t>The "Cold Start" problem for brand-new users.</a:t>
                      </a:r>
                      <a:endParaRPr lang="en-US" sz="1100"/>
                    </a:p>
                  </a:txBody>
                  <a:tcPr marL="0" marR="0" marT="0" marB="0" anchor="ctr">
                    <a:lnL cmpd="sng" algn="ctr" cap="flat" w="16809">
                      <a:solidFill>
                        <a:srgbClr val="9E9E9E"/>
                      </a:solidFill>
                      <a:prstDash val="solid"/>
                      <a:round/>
                      <a:headEnd type="none" w="med" len="med"/>
                      <a:tailEnd type="none" w="med" len="med"/>
                    </a:lnL>
                    <a:lnR cmpd="sng" algn="ctr" cap="flat" w="16809">
                      <a:solidFill>
                        <a:srgbClr val="9E9E9E"/>
                      </a:solidFill>
                      <a:prstDash val="solid"/>
                      <a:round/>
                      <a:headEnd type="none" w="med" len="med"/>
                      <a:tailEnd type="none" w="med" len="med"/>
                    </a:lnR>
                    <a:lnT cmpd="sng" algn="ctr" cap="flat" w="16809">
                      <a:solidFill>
                        <a:srgbClr val="9E9E9E"/>
                      </a:solidFill>
                      <a:prstDash val="solid"/>
                      <a:round/>
                      <a:headEnd type="none" w="med" len="med"/>
                      <a:tailEnd type="none" w="med" len="med"/>
                    </a:lnT>
                    <a:lnB cmpd="sng" algn="ctr" cap="flat" w="16809">
                      <a:solidFill>
                        <a:srgbClr val="9E9E9E"/>
                      </a:solidFill>
                      <a:prstDash val="solid"/>
                      <a:round/>
                      <a:headEnd type="none" w="med" len="med"/>
                      <a:tailEnd type="none" w="med" len="med"/>
                    </a:lnB>
                    <a:solidFill>
                      <a:srgbClr val="FFFFFF"/>
                    </a:solidFill>
                  </a:tcPr>
                </a:tc>
              </a:tr>
              <a:tr h="1082424">
                <a:tc>
                  <a:txBody>
                    <a:bodyPr anchor="t" rtlCol="false"/>
                    <a:lstStyle/>
                    <a:p>
                      <a:pPr algn="l">
                        <a:lnSpc>
                          <a:spcPts val="2069"/>
                        </a:lnSpc>
                        <a:defRPr/>
                      </a:pPr>
                      <a:r>
                        <a:rPr lang="en-US" b="true" sz="1724">
                          <a:solidFill>
                            <a:srgbClr val="000000"/>
                          </a:solidFill>
                          <a:latin typeface="Times New Roman Bold"/>
                          <a:ea typeface="Times New Roman Bold"/>
                          <a:cs typeface="Times New Roman Bold"/>
                          <a:sym typeface="Times New Roman Bold"/>
                        </a:rPr>
                        <a:t>J. Guo et al. </a:t>
                      </a:r>
                      <a:endParaRPr lang="en-US" sz="1100"/>
                    </a:p>
                  </a:txBody>
                  <a:tcPr marL="0" marR="0" marT="0" marB="0" anchor="ctr">
                    <a:lnL cmpd="sng" algn="ctr" cap="flat" w="16809">
                      <a:solidFill>
                        <a:srgbClr val="9E9E9E"/>
                      </a:solidFill>
                      <a:prstDash val="solid"/>
                      <a:round/>
                      <a:headEnd type="none" w="med" len="med"/>
                      <a:tailEnd type="none" w="med" len="med"/>
                    </a:lnL>
                    <a:lnR cmpd="sng" algn="ctr" cap="flat" w="16809">
                      <a:solidFill>
                        <a:srgbClr val="9E9E9E"/>
                      </a:solidFill>
                      <a:prstDash val="solid"/>
                      <a:round/>
                      <a:headEnd type="none" w="med" len="med"/>
                      <a:tailEnd type="none" w="med" len="med"/>
                    </a:lnR>
                    <a:lnT cmpd="sng" algn="ctr" cap="flat" w="16809">
                      <a:solidFill>
                        <a:srgbClr val="9E9E9E"/>
                      </a:solidFill>
                      <a:prstDash val="solid"/>
                      <a:round/>
                      <a:headEnd type="none" w="med" len="med"/>
                      <a:tailEnd type="none" w="med" len="med"/>
                    </a:lnT>
                    <a:lnB cmpd="sng" algn="ctr" cap="flat" w="16809">
                      <a:solidFill>
                        <a:srgbClr val="9E9E9E"/>
                      </a:solidFill>
                      <a:prstDash val="solid"/>
                      <a:round/>
                      <a:headEnd type="none" w="med" len="med"/>
                      <a:tailEnd type="none" w="med" len="med"/>
                    </a:lnB>
                    <a:solidFill>
                      <a:srgbClr val="FFFFFF"/>
                    </a:solidFill>
                  </a:tcPr>
                </a:tc>
                <a:tc>
                  <a:txBody>
                    <a:bodyPr anchor="t" rtlCol="false"/>
                    <a:lstStyle/>
                    <a:p>
                      <a:pPr algn="l">
                        <a:lnSpc>
                          <a:spcPts val="2069"/>
                        </a:lnSpc>
                        <a:defRPr/>
                      </a:pPr>
                      <a:r>
                        <a:rPr lang="en-US" sz="1724">
                          <a:solidFill>
                            <a:srgbClr val="000000"/>
                          </a:solidFill>
                          <a:latin typeface="Times New Roman"/>
                          <a:ea typeface="Times New Roman"/>
                          <a:cs typeface="Times New Roman"/>
                          <a:sym typeface="Times New Roman"/>
                        </a:rPr>
                        <a:t>Knowledge Graph–Based Recommendation System</a:t>
                      </a:r>
                      <a:endParaRPr lang="en-US" sz="1100"/>
                    </a:p>
                  </a:txBody>
                  <a:tcPr marL="0" marR="0" marT="0" marB="0" anchor="ctr">
                    <a:lnL cmpd="sng" algn="ctr" cap="flat" w="16809">
                      <a:solidFill>
                        <a:srgbClr val="9E9E9E"/>
                      </a:solidFill>
                      <a:prstDash val="solid"/>
                      <a:round/>
                      <a:headEnd type="none" w="med" len="med"/>
                      <a:tailEnd type="none" w="med" len="med"/>
                    </a:lnL>
                    <a:lnR cmpd="sng" algn="ctr" cap="flat" w="16809">
                      <a:solidFill>
                        <a:srgbClr val="9E9E9E"/>
                      </a:solidFill>
                      <a:prstDash val="solid"/>
                      <a:round/>
                      <a:headEnd type="none" w="med" len="med"/>
                      <a:tailEnd type="none" w="med" len="med"/>
                    </a:lnR>
                    <a:lnT cmpd="sng" algn="ctr" cap="flat" w="16809">
                      <a:solidFill>
                        <a:srgbClr val="9E9E9E"/>
                      </a:solidFill>
                      <a:prstDash val="solid"/>
                      <a:round/>
                      <a:headEnd type="none" w="med" len="med"/>
                      <a:tailEnd type="none" w="med" len="med"/>
                    </a:lnT>
                    <a:lnB cmpd="sng" algn="ctr" cap="flat" w="16809">
                      <a:solidFill>
                        <a:srgbClr val="9E9E9E"/>
                      </a:solidFill>
                      <a:prstDash val="solid"/>
                      <a:round/>
                      <a:headEnd type="none" w="med" len="med"/>
                      <a:tailEnd type="none" w="med" len="med"/>
                    </a:lnB>
                    <a:solidFill>
                      <a:srgbClr val="FFFFFF"/>
                    </a:solidFill>
                  </a:tcPr>
                </a:tc>
                <a:tc>
                  <a:txBody>
                    <a:bodyPr anchor="t" rtlCol="false"/>
                    <a:lstStyle/>
                    <a:p>
                      <a:pPr algn="l">
                        <a:lnSpc>
                          <a:spcPts val="2125"/>
                        </a:lnSpc>
                        <a:defRPr/>
                      </a:pPr>
                      <a:r>
                        <a:rPr lang="en-US" sz="1724">
                          <a:solidFill>
                            <a:srgbClr val="000000"/>
                          </a:solidFill>
                          <a:latin typeface="Times New Roman"/>
                          <a:ea typeface="Times New Roman"/>
                          <a:cs typeface="Times New Roman"/>
                          <a:sym typeface="Times New Roman"/>
                        </a:rPr>
                        <a:t>Captures complex skill dependencies &amp;  enables highly personalized learning paths using semantic relationships.</a:t>
                      </a:r>
                      <a:endParaRPr lang="en-US" sz="1100"/>
                    </a:p>
                  </a:txBody>
                  <a:tcPr marL="0" marR="0" marT="0" marB="0" anchor="ctr">
                    <a:lnL cmpd="sng" algn="ctr" cap="flat" w="16809">
                      <a:solidFill>
                        <a:srgbClr val="9E9E9E"/>
                      </a:solidFill>
                      <a:prstDash val="solid"/>
                      <a:round/>
                      <a:headEnd type="none" w="med" len="med"/>
                      <a:tailEnd type="none" w="med" len="med"/>
                    </a:lnL>
                    <a:lnR cmpd="sng" algn="ctr" cap="flat" w="16809">
                      <a:solidFill>
                        <a:srgbClr val="9E9E9E"/>
                      </a:solidFill>
                      <a:prstDash val="solid"/>
                      <a:round/>
                      <a:headEnd type="none" w="med" len="med"/>
                      <a:tailEnd type="none" w="med" len="med"/>
                    </a:lnR>
                    <a:lnT cmpd="sng" algn="ctr" cap="flat" w="16809">
                      <a:solidFill>
                        <a:srgbClr val="9E9E9E"/>
                      </a:solidFill>
                      <a:prstDash val="solid"/>
                      <a:round/>
                      <a:headEnd type="none" w="med" len="med"/>
                      <a:tailEnd type="none" w="med" len="med"/>
                    </a:lnT>
                    <a:lnB cmpd="sng" algn="ctr" cap="flat" w="16809">
                      <a:solidFill>
                        <a:srgbClr val="9E9E9E"/>
                      </a:solidFill>
                      <a:prstDash val="solid"/>
                      <a:round/>
                      <a:headEnd type="none" w="med" len="med"/>
                      <a:tailEnd type="none" w="med" len="med"/>
                    </a:lnB>
                    <a:solidFill>
                      <a:srgbClr val="FFFFFF"/>
                    </a:solidFill>
                  </a:tcPr>
                </a:tc>
                <a:tc>
                  <a:txBody>
                    <a:bodyPr anchor="t" rtlCol="false"/>
                    <a:lstStyle/>
                    <a:p>
                      <a:pPr algn="l">
                        <a:lnSpc>
                          <a:spcPts val="2125"/>
                        </a:lnSpc>
                        <a:defRPr/>
                      </a:pPr>
                      <a:r>
                        <a:rPr lang="en-US" sz="1724">
                          <a:solidFill>
                            <a:srgbClr val="000000"/>
                          </a:solidFill>
                          <a:latin typeface="Times New Roman"/>
                          <a:ea typeface="Times New Roman"/>
                          <a:cs typeface="Times New Roman"/>
                          <a:sym typeface="Times New Roman"/>
                        </a:rPr>
                        <a:t> Requires extensive data modeling and high computational resources for large-scale graphs.</a:t>
                      </a:r>
                      <a:endParaRPr lang="en-US" sz="1100"/>
                    </a:p>
                  </a:txBody>
                  <a:tcPr marL="0" marR="0" marT="0" marB="0" anchor="ctr">
                    <a:lnL cmpd="sng" algn="ctr" cap="flat" w="16809">
                      <a:solidFill>
                        <a:srgbClr val="9E9E9E"/>
                      </a:solidFill>
                      <a:prstDash val="solid"/>
                      <a:round/>
                      <a:headEnd type="none" w="med" len="med"/>
                      <a:tailEnd type="none" w="med" len="med"/>
                    </a:lnL>
                    <a:lnR cmpd="sng" algn="ctr" cap="flat" w="16809">
                      <a:solidFill>
                        <a:srgbClr val="9E9E9E"/>
                      </a:solidFill>
                      <a:prstDash val="solid"/>
                      <a:round/>
                      <a:headEnd type="none" w="med" len="med"/>
                      <a:tailEnd type="none" w="med" len="med"/>
                    </a:lnR>
                    <a:lnT cmpd="sng" algn="ctr" cap="flat" w="16809">
                      <a:solidFill>
                        <a:srgbClr val="9E9E9E"/>
                      </a:solidFill>
                      <a:prstDash val="solid"/>
                      <a:round/>
                      <a:headEnd type="none" w="med" len="med"/>
                      <a:tailEnd type="none" w="med" len="med"/>
                    </a:lnT>
                    <a:lnB cmpd="sng" algn="ctr" cap="flat" w="16809">
                      <a:solidFill>
                        <a:srgbClr val="9E9E9E"/>
                      </a:solidFill>
                      <a:prstDash val="solid"/>
                      <a:round/>
                      <a:headEnd type="none" w="med" len="med"/>
                      <a:tailEnd type="none" w="med" len="med"/>
                    </a:lnB>
                    <a:solidFill>
                      <a:srgbClr val="FFFFFF"/>
                    </a:solidFill>
                  </a:tcPr>
                </a:tc>
              </a:tr>
              <a:tr h="1082424">
                <a:tc>
                  <a:txBody>
                    <a:bodyPr anchor="t" rtlCol="false"/>
                    <a:lstStyle/>
                    <a:p>
                      <a:pPr algn="l">
                        <a:lnSpc>
                          <a:spcPts val="2069"/>
                        </a:lnSpc>
                        <a:defRPr/>
                      </a:pPr>
                      <a:r>
                        <a:rPr lang="en-US" b="true" sz="1724">
                          <a:solidFill>
                            <a:srgbClr val="000000"/>
                          </a:solidFill>
                          <a:latin typeface="Times New Roman Bold"/>
                          <a:ea typeface="Times New Roman Bold"/>
                          <a:cs typeface="Times New Roman Bold"/>
                          <a:sym typeface="Times New Roman Bold"/>
                        </a:rPr>
                        <a:t>L. Ma et al. (Applied Sciences, 2023)</a:t>
                      </a:r>
                      <a:endParaRPr lang="en-US" sz="1100"/>
                    </a:p>
                  </a:txBody>
                  <a:tcPr marL="0" marR="0" marT="0" marB="0" anchor="ctr">
                    <a:lnL cmpd="sng" algn="ctr" cap="flat" w="16809">
                      <a:solidFill>
                        <a:srgbClr val="9E9E9E"/>
                      </a:solidFill>
                      <a:prstDash val="solid"/>
                      <a:round/>
                      <a:headEnd type="none" w="med" len="med"/>
                      <a:tailEnd type="none" w="med" len="med"/>
                    </a:lnL>
                    <a:lnR cmpd="sng" algn="ctr" cap="flat" w="16809">
                      <a:solidFill>
                        <a:srgbClr val="9E9E9E"/>
                      </a:solidFill>
                      <a:prstDash val="solid"/>
                      <a:round/>
                      <a:headEnd type="none" w="med" len="med"/>
                      <a:tailEnd type="none" w="med" len="med"/>
                    </a:lnR>
                    <a:lnT cmpd="sng" algn="ctr" cap="flat" w="16809">
                      <a:solidFill>
                        <a:srgbClr val="9E9E9E"/>
                      </a:solidFill>
                      <a:prstDash val="solid"/>
                      <a:round/>
                      <a:headEnd type="none" w="med" len="med"/>
                      <a:tailEnd type="none" w="med" len="med"/>
                    </a:lnT>
                    <a:lnB cmpd="sng" algn="ctr" cap="flat" w="16809">
                      <a:solidFill>
                        <a:srgbClr val="9E9E9E"/>
                      </a:solidFill>
                      <a:prstDash val="solid"/>
                      <a:round/>
                      <a:headEnd type="none" w="med" len="med"/>
                      <a:tailEnd type="none" w="med" len="med"/>
                    </a:lnB>
                    <a:solidFill>
                      <a:srgbClr val="FFFFFF"/>
                    </a:solidFill>
                  </a:tcPr>
                </a:tc>
                <a:tc>
                  <a:txBody>
                    <a:bodyPr anchor="t" rtlCol="false"/>
                    <a:lstStyle/>
                    <a:p>
                      <a:pPr algn="l">
                        <a:lnSpc>
                          <a:spcPts val="2069"/>
                        </a:lnSpc>
                        <a:defRPr/>
                      </a:pPr>
                      <a:r>
                        <a:rPr lang="en-US" sz="1724">
                          <a:solidFill>
                            <a:srgbClr val="000000"/>
                          </a:solidFill>
                          <a:latin typeface="Times New Roman"/>
                          <a:ea typeface="Times New Roman"/>
                          <a:cs typeface="Times New Roman"/>
                          <a:sym typeface="Times New Roman"/>
                        </a:rPr>
                        <a:t>Hybrid Learning Path Recommendation </a:t>
                      </a:r>
                      <a:endParaRPr lang="en-US" sz="1100"/>
                    </a:p>
                  </a:txBody>
                  <a:tcPr marL="0" marR="0" marT="0" marB="0" anchor="ctr">
                    <a:lnL cmpd="sng" algn="ctr" cap="flat" w="16809">
                      <a:solidFill>
                        <a:srgbClr val="9E9E9E"/>
                      </a:solidFill>
                      <a:prstDash val="solid"/>
                      <a:round/>
                      <a:headEnd type="none" w="med" len="med"/>
                      <a:tailEnd type="none" w="med" len="med"/>
                    </a:lnL>
                    <a:lnR cmpd="sng" algn="ctr" cap="flat" w="16809">
                      <a:solidFill>
                        <a:srgbClr val="9E9E9E"/>
                      </a:solidFill>
                      <a:prstDash val="solid"/>
                      <a:round/>
                      <a:headEnd type="none" w="med" len="med"/>
                      <a:tailEnd type="none" w="med" len="med"/>
                    </a:lnR>
                    <a:lnT cmpd="sng" algn="ctr" cap="flat" w="16809">
                      <a:solidFill>
                        <a:srgbClr val="9E9E9E"/>
                      </a:solidFill>
                      <a:prstDash val="solid"/>
                      <a:round/>
                      <a:headEnd type="none" w="med" len="med"/>
                      <a:tailEnd type="none" w="med" len="med"/>
                    </a:lnT>
                    <a:lnB cmpd="sng" algn="ctr" cap="flat" w="16809">
                      <a:solidFill>
                        <a:srgbClr val="9E9E9E"/>
                      </a:solidFill>
                      <a:prstDash val="solid"/>
                      <a:round/>
                      <a:headEnd type="none" w="med" len="med"/>
                      <a:tailEnd type="none" w="med" len="med"/>
                    </a:lnB>
                    <a:solidFill>
                      <a:srgbClr val="FFFFFF"/>
                    </a:solidFill>
                  </a:tcPr>
                </a:tc>
                <a:tc>
                  <a:txBody>
                    <a:bodyPr anchor="t" rtlCol="false"/>
                    <a:lstStyle/>
                    <a:p>
                      <a:pPr algn="l">
                        <a:lnSpc>
                          <a:spcPts val="2125"/>
                        </a:lnSpc>
                        <a:defRPr/>
                      </a:pPr>
                      <a:r>
                        <a:rPr lang="en-US" sz="1724">
                          <a:solidFill>
                            <a:srgbClr val="000000"/>
                          </a:solidFill>
                          <a:latin typeface="Times New Roman"/>
                          <a:ea typeface="Times New Roman"/>
                          <a:cs typeface="Times New Roman"/>
                          <a:sym typeface="Times New Roman"/>
                        </a:rPr>
                        <a:t>Improves recommendation accuracy by combining multiple algorithms and learner behavior analysis.</a:t>
                      </a:r>
                      <a:endParaRPr lang="en-US" sz="1100"/>
                    </a:p>
                  </a:txBody>
                  <a:tcPr marL="0" marR="0" marT="0" marB="0" anchor="ctr">
                    <a:lnL cmpd="sng" algn="ctr" cap="flat" w="16809">
                      <a:solidFill>
                        <a:srgbClr val="9E9E9E"/>
                      </a:solidFill>
                      <a:prstDash val="solid"/>
                      <a:round/>
                      <a:headEnd type="none" w="med" len="med"/>
                      <a:tailEnd type="none" w="med" len="med"/>
                    </a:lnL>
                    <a:lnR cmpd="sng" algn="ctr" cap="flat" w="16809">
                      <a:solidFill>
                        <a:srgbClr val="9E9E9E"/>
                      </a:solidFill>
                      <a:prstDash val="solid"/>
                      <a:round/>
                      <a:headEnd type="none" w="med" len="med"/>
                      <a:tailEnd type="none" w="med" len="med"/>
                    </a:lnR>
                    <a:lnT cmpd="sng" algn="ctr" cap="flat" w="16809">
                      <a:solidFill>
                        <a:srgbClr val="9E9E9E"/>
                      </a:solidFill>
                      <a:prstDash val="solid"/>
                      <a:round/>
                      <a:headEnd type="none" w="med" len="med"/>
                      <a:tailEnd type="none" w="med" len="med"/>
                    </a:lnT>
                    <a:lnB cmpd="sng" algn="ctr" cap="flat" w="16809">
                      <a:solidFill>
                        <a:srgbClr val="9E9E9E"/>
                      </a:solidFill>
                      <a:prstDash val="solid"/>
                      <a:round/>
                      <a:headEnd type="none" w="med" len="med"/>
                      <a:tailEnd type="none" w="med" len="med"/>
                    </a:lnB>
                    <a:solidFill>
                      <a:srgbClr val="FFFFFF"/>
                    </a:solidFill>
                  </a:tcPr>
                </a:tc>
                <a:tc>
                  <a:txBody>
                    <a:bodyPr anchor="t" rtlCol="false"/>
                    <a:lstStyle/>
                    <a:p>
                      <a:pPr algn="l">
                        <a:lnSpc>
                          <a:spcPts val="2125"/>
                        </a:lnSpc>
                        <a:defRPr/>
                      </a:pPr>
                      <a:r>
                        <a:rPr lang="en-US" sz="1724">
                          <a:solidFill>
                            <a:srgbClr val="000000"/>
                          </a:solidFill>
                          <a:latin typeface="Times New Roman"/>
                          <a:ea typeface="Times New Roman"/>
                          <a:cs typeface="Times New Roman"/>
                          <a:sym typeface="Times New Roman"/>
                        </a:rPr>
                        <a:t>Increased system complexity and longer training time for model optimization.</a:t>
                      </a:r>
                      <a:endParaRPr lang="en-US" sz="1100"/>
                    </a:p>
                  </a:txBody>
                  <a:tcPr marL="0" marR="0" marT="0" marB="0" anchor="ctr">
                    <a:lnL cmpd="sng" algn="ctr" cap="flat" w="16809">
                      <a:solidFill>
                        <a:srgbClr val="9E9E9E"/>
                      </a:solidFill>
                      <a:prstDash val="solid"/>
                      <a:round/>
                      <a:headEnd type="none" w="med" len="med"/>
                      <a:tailEnd type="none" w="med" len="med"/>
                    </a:lnL>
                    <a:lnR cmpd="sng" algn="ctr" cap="flat" w="16809">
                      <a:solidFill>
                        <a:srgbClr val="9E9E9E"/>
                      </a:solidFill>
                      <a:prstDash val="solid"/>
                      <a:round/>
                      <a:headEnd type="none" w="med" len="med"/>
                      <a:tailEnd type="none" w="med" len="med"/>
                    </a:lnR>
                    <a:lnT cmpd="sng" algn="ctr" cap="flat" w="16809">
                      <a:solidFill>
                        <a:srgbClr val="9E9E9E"/>
                      </a:solidFill>
                      <a:prstDash val="solid"/>
                      <a:round/>
                      <a:headEnd type="none" w="med" len="med"/>
                      <a:tailEnd type="none" w="med" len="med"/>
                    </a:lnT>
                    <a:lnB cmpd="sng" algn="ctr" cap="flat" w="16809">
                      <a:solidFill>
                        <a:srgbClr val="9E9E9E"/>
                      </a:solidFill>
                      <a:prstDash val="solid"/>
                      <a:round/>
                      <a:headEnd type="none" w="med" len="med"/>
                      <a:tailEnd type="none" w="med" len="med"/>
                    </a:lnB>
                    <a:solidFill>
                      <a:srgbClr val="FFFFFF"/>
                    </a:solidFill>
                  </a:tcPr>
                </a:tc>
              </a:tr>
            </a:tbl>
          </a:graphicData>
        </a:graphic>
      </p:graphicFrame>
      <p:sp>
        <p:nvSpPr>
          <p:cNvPr name="TextBox 7" id="7"/>
          <p:cNvSpPr txBox="true"/>
          <p:nvPr/>
        </p:nvSpPr>
        <p:spPr>
          <a:xfrm rot="0">
            <a:off x="4937008" y="8273890"/>
            <a:ext cx="9087342" cy="313133"/>
          </a:xfrm>
          <a:prstGeom prst="rect">
            <a:avLst/>
          </a:prstGeom>
        </p:spPr>
        <p:txBody>
          <a:bodyPr anchor="t" rtlCol="false" tIns="0" lIns="0" bIns="0" rIns="0">
            <a:spAutoFit/>
          </a:bodyPr>
          <a:lstStyle/>
          <a:p>
            <a:pPr algn="ctr">
              <a:lnSpc>
                <a:spcPts val="2149"/>
              </a:lnSpc>
            </a:pPr>
            <a:r>
              <a:rPr lang="en-US" sz="1724">
                <a:solidFill>
                  <a:srgbClr val="878787"/>
                </a:solidFill>
                <a:latin typeface="Calibri (MS)"/>
                <a:ea typeface="Calibri (MS)"/>
                <a:cs typeface="Calibri (MS)"/>
                <a:sym typeface="Calibri (MS)"/>
              </a:rPr>
              <a:t>Department of Computer Science and Engineering</a:t>
            </a:r>
          </a:p>
        </p:txBody>
      </p:sp>
      <p:sp>
        <p:nvSpPr>
          <p:cNvPr name="TextBox 8" id="8"/>
          <p:cNvSpPr txBox="true"/>
          <p:nvPr/>
        </p:nvSpPr>
        <p:spPr>
          <a:xfrm rot="0">
            <a:off x="3277725" y="8273890"/>
            <a:ext cx="1052363" cy="302254"/>
          </a:xfrm>
          <a:prstGeom prst="rect">
            <a:avLst/>
          </a:prstGeom>
        </p:spPr>
        <p:txBody>
          <a:bodyPr anchor="t" rtlCol="false" tIns="0" lIns="0" bIns="0" rIns="0">
            <a:spAutoFit/>
          </a:bodyPr>
          <a:lstStyle/>
          <a:p>
            <a:pPr algn="l">
              <a:lnSpc>
                <a:spcPts val="2149"/>
              </a:lnSpc>
            </a:pPr>
            <a:r>
              <a:rPr lang="en-US" sz="1724">
                <a:solidFill>
                  <a:srgbClr val="878787"/>
                </a:solidFill>
                <a:latin typeface="Calibri (MS)"/>
                <a:ea typeface="Calibri (MS)"/>
                <a:cs typeface="Calibri (MS)"/>
                <a:sym typeface="Calibri (MS)"/>
              </a:rPr>
              <a:t>21</a:t>
            </a:r>
            <a:r>
              <a:rPr lang="en-US" sz="1724">
                <a:solidFill>
                  <a:srgbClr val="878787"/>
                </a:solidFill>
                <a:latin typeface="Calibri (MS)"/>
                <a:ea typeface="Calibri (MS)"/>
                <a:cs typeface="Calibri (MS)"/>
                <a:sym typeface="Calibri (MS)"/>
              </a:rPr>
              <a:t>.01.2026</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487706" y="1403369"/>
            <a:ext cx="13346210" cy="7508249"/>
            <a:chOff x="0" y="0"/>
            <a:chExt cx="13445071" cy="7563866"/>
          </a:xfrm>
        </p:grpSpPr>
        <p:sp>
          <p:nvSpPr>
            <p:cNvPr name="Freeform 3" id="3"/>
            <p:cNvSpPr/>
            <p:nvPr/>
          </p:nvSpPr>
          <p:spPr>
            <a:xfrm flipH="false" flipV="false" rot="0">
              <a:off x="0" y="0"/>
              <a:ext cx="13445110" cy="7563866"/>
            </a:xfrm>
            <a:custGeom>
              <a:avLst/>
              <a:gdLst/>
              <a:ahLst/>
              <a:cxnLst/>
              <a:rect r="r" b="b" t="t" l="l"/>
              <a:pathLst>
                <a:path h="7563866" w="13445110">
                  <a:moveTo>
                    <a:pt x="0" y="0"/>
                  </a:moveTo>
                  <a:lnTo>
                    <a:pt x="13445110" y="0"/>
                  </a:lnTo>
                  <a:lnTo>
                    <a:pt x="13445110" y="7563866"/>
                  </a:lnTo>
                  <a:lnTo>
                    <a:pt x="0" y="7563866"/>
                  </a:lnTo>
                  <a:lnTo>
                    <a:pt x="0" y="0"/>
                  </a:lnTo>
                  <a:close/>
                </a:path>
              </a:pathLst>
            </a:custGeom>
            <a:blipFill>
              <a:blip r:embed="rId2"/>
              <a:stretch>
                <a:fillRect l="0" t="0" r="0" b="-115"/>
              </a:stretch>
            </a:blipFill>
          </p:spPr>
        </p:sp>
      </p:grpSp>
      <p:sp>
        <p:nvSpPr>
          <p:cNvPr name="TextBox 4" id="4"/>
          <p:cNvSpPr txBox="true"/>
          <p:nvPr/>
        </p:nvSpPr>
        <p:spPr>
          <a:xfrm rot="0">
            <a:off x="7289617" y="1590821"/>
            <a:ext cx="3459155" cy="835688"/>
          </a:xfrm>
          <a:prstGeom prst="rect">
            <a:avLst/>
          </a:prstGeom>
        </p:spPr>
        <p:txBody>
          <a:bodyPr anchor="t" rtlCol="false" tIns="0" lIns="0" bIns="0" rIns="0">
            <a:spAutoFit/>
          </a:bodyPr>
          <a:lstStyle/>
          <a:p>
            <a:pPr algn="l">
              <a:lnSpc>
                <a:spcPts val="6289"/>
              </a:lnSpc>
            </a:pPr>
            <a:r>
              <a:rPr lang="en-US" b="true" sz="5241">
                <a:solidFill>
                  <a:srgbClr val="000000"/>
                </a:solidFill>
                <a:latin typeface="Times New Roman Bold"/>
                <a:ea typeface="Times New Roman Bold"/>
                <a:cs typeface="Times New Roman Bold"/>
                <a:sym typeface="Times New Roman Bold"/>
              </a:rPr>
              <a:t>Objectives</a:t>
            </a:r>
          </a:p>
        </p:txBody>
      </p:sp>
      <p:sp>
        <p:nvSpPr>
          <p:cNvPr name="TextBox 5" id="5"/>
          <p:cNvSpPr txBox="true"/>
          <p:nvPr/>
        </p:nvSpPr>
        <p:spPr>
          <a:xfrm rot="0">
            <a:off x="14867367" y="8413473"/>
            <a:ext cx="231710" cy="297700"/>
          </a:xfrm>
          <a:prstGeom prst="rect">
            <a:avLst/>
          </a:prstGeom>
        </p:spPr>
        <p:txBody>
          <a:bodyPr anchor="t" rtlCol="false" tIns="0" lIns="0" bIns="0" rIns="0">
            <a:spAutoFit/>
          </a:bodyPr>
          <a:lstStyle/>
          <a:p>
            <a:pPr algn="l">
              <a:lnSpc>
                <a:spcPts val="2069"/>
              </a:lnSpc>
            </a:pPr>
            <a:r>
              <a:rPr lang="en-US" sz="1724">
                <a:solidFill>
                  <a:srgbClr val="878787"/>
                </a:solidFill>
                <a:latin typeface="Cambria"/>
                <a:ea typeface="Cambria"/>
                <a:cs typeface="Cambria"/>
                <a:sym typeface="Cambria"/>
              </a:rPr>
              <a:t>‹#›</a:t>
            </a:r>
          </a:p>
        </p:txBody>
      </p:sp>
      <p:sp>
        <p:nvSpPr>
          <p:cNvPr name="TextBox 6" id="6"/>
          <p:cNvSpPr txBox="true"/>
          <p:nvPr/>
        </p:nvSpPr>
        <p:spPr>
          <a:xfrm rot="0">
            <a:off x="3074645" y="2784277"/>
            <a:ext cx="12172320" cy="5053774"/>
          </a:xfrm>
          <a:prstGeom prst="rect">
            <a:avLst/>
          </a:prstGeom>
        </p:spPr>
        <p:txBody>
          <a:bodyPr anchor="t" rtlCol="false" tIns="0" lIns="0" bIns="0" rIns="0">
            <a:spAutoFit/>
          </a:bodyPr>
          <a:lstStyle/>
          <a:p>
            <a:pPr algn="just" marL="425299" indent="-212649" lvl="1">
              <a:lnSpc>
                <a:spcPts val="2616"/>
              </a:lnSpc>
              <a:buFont typeface="Arial"/>
              <a:buChar char="•"/>
            </a:pPr>
            <a:r>
              <a:rPr lang="en-US" b="true" sz="2122">
                <a:solidFill>
                  <a:srgbClr val="000000"/>
                </a:solidFill>
                <a:latin typeface="Times New Roman Bold"/>
                <a:ea typeface="Times New Roman Bold"/>
                <a:cs typeface="Times New Roman Bold"/>
                <a:sym typeface="Times New Roman Bold"/>
              </a:rPr>
              <a:t>Construct a Knowledge Graph Architecture: </a:t>
            </a:r>
            <a:r>
              <a:rPr lang="en-US" sz="2122">
                <a:solidFill>
                  <a:srgbClr val="000000"/>
                </a:solidFill>
                <a:latin typeface="Times New Roman"/>
                <a:ea typeface="Times New Roman"/>
                <a:cs typeface="Times New Roman"/>
                <a:sym typeface="Times New Roman"/>
              </a:rPr>
              <a:t>To design and implement a Directed Acyclic Graph (DAG) using the </a:t>
            </a:r>
            <a:r>
              <a:rPr lang="en-US" b="true" sz="2122">
                <a:solidFill>
                  <a:srgbClr val="000000"/>
                </a:solidFill>
                <a:latin typeface="Times New Roman Bold"/>
                <a:ea typeface="Times New Roman Bold"/>
                <a:cs typeface="Times New Roman Bold"/>
                <a:sym typeface="Times New Roman Bold"/>
              </a:rPr>
              <a:t>Neo4j database</a:t>
            </a:r>
            <a:r>
              <a:rPr lang="en-US" sz="2122">
                <a:solidFill>
                  <a:srgbClr val="000000"/>
                </a:solidFill>
                <a:latin typeface="Times New Roman"/>
                <a:ea typeface="Times New Roman"/>
                <a:cs typeface="Times New Roman"/>
                <a:sym typeface="Times New Roman"/>
              </a:rPr>
              <a:t>, mapping technical skills as nodes and their prerequisite dependencies as directed edges to create a structured skill ecosystem.</a:t>
            </a:r>
          </a:p>
          <a:p>
            <a:pPr algn="just" marL="372136" indent="-186068" lvl="1">
              <a:lnSpc>
                <a:spcPts val="2289"/>
              </a:lnSpc>
            </a:pPr>
          </a:p>
          <a:p>
            <a:pPr algn="l" marL="425299" indent="-212649" lvl="1">
              <a:lnSpc>
                <a:spcPts val="2616"/>
              </a:lnSpc>
              <a:buFont typeface="Arial"/>
              <a:buChar char="•"/>
            </a:pPr>
            <a:r>
              <a:rPr lang="en-US" b="true" sz="2122">
                <a:solidFill>
                  <a:srgbClr val="000000"/>
                </a:solidFill>
                <a:latin typeface="Times New Roman Bold"/>
                <a:ea typeface="Times New Roman Bold"/>
                <a:cs typeface="Times New Roman Bold"/>
                <a:sym typeface="Times New Roman Bold"/>
              </a:rPr>
              <a:t>Develop an Intelligent Recommendation Engine: </a:t>
            </a:r>
            <a:r>
              <a:rPr lang="en-US" sz="2122">
                <a:solidFill>
                  <a:srgbClr val="000000"/>
                </a:solidFill>
                <a:latin typeface="Times New Roman"/>
                <a:ea typeface="Times New Roman"/>
                <a:cs typeface="Times New Roman"/>
                <a:sym typeface="Times New Roman"/>
              </a:rPr>
              <a:t>To build a backend system that utilizes </a:t>
            </a:r>
            <a:r>
              <a:rPr lang="en-US" b="true" sz="2122">
                <a:solidFill>
                  <a:srgbClr val="000000"/>
                </a:solidFill>
                <a:latin typeface="Times New Roman Bold"/>
                <a:ea typeface="Times New Roman Bold"/>
                <a:cs typeface="Times New Roman Bold"/>
                <a:sym typeface="Times New Roman Bold"/>
              </a:rPr>
              <a:t>pathfinding algorithms </a:t>
            </a:r>
            <a:r>
              <a:rPr lang="en-US" sz="2122">
                <a:solidFill>
                  <a:srgbClr val="000000"/>
                </a:solidFill>
                <a:latin typeface="Times New Roman"/>
                <a:ea typeface="Times New Roman"/>
                <a:cs typeface="Times New Roman"/>
                <a:sym typeface="Times New Roman"/>
              </a:rPr>
              <a:t>(such as Dijkstra’s or BFS) to perform automated gap analysis and generate a personalized, step- by-step learning roadmap based on a user’s unique profile.</a:t>
            </a:r>
          </a:p>
          <a:p>
            <a:pPr algn="l" marL="372136" indent="-186068" lvl="1">
              <a:lnSpc>
                <a:spcPts val="2289"/>
              </a:lnSpc>
            </a:pPr>
          </a:p>
          <a:p>
            <a:pPr algn="l" marL="425299" indent="-212649" lvl="1">
              <a:lnSpc>
                <a:spcPts val="2616"/>
              </a:lnSpc>
              <a:buFont typeface="Arial"/>
              <a:buChar char="•"/>
            </a:pPr>
            <a:r>
              <a:rPr lang="en-US" b="true" sz="2122">
                <a:solidFill>
                  <a:srgbClr val="000000"/>
                </a:solidFill>
                <a:latin typeface="Times New Roman Bold"/>
                <a:ea typeface="Times New Roman Bold"/>
                <a:cs typeface="Times New Roman Bold"/>
                <a:sym typeface="Times New Roman Bold"/>
              </a:rPr>
              <a:t>Create an Interactive Web Visualization Dashboard: </a:t>
            </a:r>
            <a:r>
              <a:rPr lang="en-US" sz="2122">
                <a:solidFill>
                  <a:srgbClr val="000000"/>
                </a:solidFill>
                <a:latin typeface="Times New Roman"/>
                <a:ea typeface="Times New Roman"/>
                <a:cs typeface="Times New Roman"/>
                <a:sym typeface="Times New Roman"/>
              </a:rPr>
              <a:t>To develop a dynamic frontend using </a:t>
            </a:r>
            <a:r>
              <a:rPr lang="en-US" b="true" sz="2122">
                <a:solidFill>
                  <a:srgbClr val="000000"/>
                </a:solidFill>
                <a:latin typeface="Times New Roman Bold"/>
                <a:ea typeface="Times New Roman Bold"/>
                <a:cs typeface="Times New Roman Bold"/>
                <a:sym typeface="Times New Roman Bold"/>
              </a:rPr>
              <a:t>web technologies (React and D3.js/Cytoscape.js) </a:t>
            </a:r>
            <a:r>
              <a:rPr lang="en-US" sz="2122">
                <a:solidFill>
                  <a:srgbClr val="000000"/>
                </a:solidFill>
                <a:latin typeface="Times New Roman"/>
                <a:ea typeface="Times New Roman"/>
                <a:cs typeface="Times New Roman"/>
                <a:sym typeface="Times New Roman"/>
              </a:rPr>
              <a:t>that provides users with a visual, "GPS-like" interface to explore their career path and track learning progress in real-time.</a:t>
            </a:r>
          </a:p>
          <a:p>
            <a:pPr algn="l" marL="372136" indent="-186068" lvl="1">
              <a:lnSpc>
                <a:spcPts val="2289"/>
              </a:lnSpc>
            </a:pPr>
          </a:p>
          <a:p>
            <a:pPr algn="l" marL="425299" indent="-212649" lvl="1">
              <a:lnSpc>
                <a:spcPts val="2616"/>
              </a:lnSpc>
              <a:buFont typeface="Arial"/>
              <a:buChar char="•"/>
            </a:pPr>
            <a:r>
              <a:rPr lang="en-US" b="true" sz="2122">
                <a:solidFill>
                  <a:srgbClr val="000000"/>
                </a:solidFill>
                <a:latin typeface="Times New Roman Bold"/>
                <a:ea typeface="Times New Roman Bold"/>
                <a:cs typeface="Times New Roman Bold"/>
                <a:sym typeface="Times New Roman Bold"/>
              </a:rPr>
              <a:t>Optimize the Learning Experience: </a:t>
            </a:r>
            <a:r>
              <a:rPr lang="en-US" sz="2122">
                <a:solidFill>
                  <a:srgbClr val="000000"/>
                </a:solidFill>
                <a:latin typeface="Times New Roman"/>
                <a:ea typeface="Times New Roman"/>
                <a:cs typeface="Times New Roman"/>
                <a:sym typeface="Times New Roman"/>
              </a:rPr>
              <a:t>To streamline professional mastery by eliminating "Information Overload" and educational redundancy, ensuring users follow the most efficient and logical sequence of skill acquisition for their specific career goals.</a:t>
            </a:r>
          </a:p>
        </p:txBody>
      </p:sp>
      <p:sp>
        <p:nvSpPr>
          <p:cNvPr name="TextBox 7" id="7"/>
          <p:cNvSpPr txBox="true"/>
          <p:nvPr/>
        </p:nvSpPr>
        <p:spPr>
          <a:xfrm rot="0">
            <a:off x="4937008" y="8273890"/>
            <a:ext cx="9087342" cy="313133"/>
          </a:xfrm>
          <a:prstGeom prst="rect">
            <a:avLst/>
          </a:prstGeom>
        </p:spPr>
        <p:txBody>
          <a:bodyPr anchor="t" rtlCol="false" tIns="0" lIns="0" bIns="0" rIns="0">
            <a:spAutoFit/>
          </a:bodyPr>
          <a:lstStyle/>
          <a:p>
            <a:pPr algn="ctr">
              <a:lnSpc>
                <a:spcPts val="2149"/>
              </a:lnSpc>
            </a:pPr>
            <a:r>
              <a:rPr lang="en-US" sz="1724">
                <a:solidFill>
                  <a:srgbClr val="878787"/>
                </a:solidFill>
                <a:latin typeface="Calibri (MS)"/>
                <a:ea typeface="Calibri (MS)"/>
                <a:cs typeface="Calibri (MS)"/>
                <a:sym typeface="Calibri (MS)"/>
              </a:rPr>
              <a:t>Department of Computer Science and Engineering</a:t>
            </a:r>
          </a:p>
        </p:txBody>
      </p:sp>
      <p:sp>
        <p:nvSpPr>
          <p:cNvPr name="TextBox 8" id="8"/>
          <p:cNvSpPr txBox="true"/>
          <p:nvPr/>
        </p:nvSpPr>
        <p:spPr>
          <a:xfrm rot="0">
            <a:off x="3277725" y="8273890"/>
            <a:ext cx="1052363" cy="302254"/>
          </a:xfrm>
          <a:prstGeom prst="rect">
            <a:avLst/>
          </a:prstGeom>
        </p:spPr>
        <p:txBody>
          <a:bodyPr anchor="t" rtlCol="false" tIns="0" lIns="0" bIns="0" rIns="0">
            <a:spAutoFit/>
          </a:bodyPr>
          <a:lstStyle/>
          <a:p>
            <a:pPr algn="l">
              <a:lnSpc>
                <a:spcPts val="2149"/>
              </a:lnSpc>
            </a:pPr>
            <a:r>
              <a:rPr lang="en-US" sz="1724">
                <a:solidFill>
                  <a:srgbClr val="878787"/>
                </a:solidFill>
                <a:latin typeface="Calibri (MS)"/>
                <a:ea typeface="Calibri (MS)"/>
                <a:cs typeface="Calibri (MS)"/>
                <a:sym typeface="Calibri (MS)"/>
              </a:rPr>
              <a:t>21</a:t>
            </a:r>
            <a:r>
              <a:rPr lang="en-US" sz="1724">
                <a:solidFill>
                  <a:srgbClr val="878787"/>
                </a:solidFill>
                <a:latin typeface="Calibri (MS)"/>
                <a:ea typeface="Calibri (MS)"/>
                <a:cs typeface="Calibri (MS)"/>
                <a:sym typeface="Calibri (MS)"/>
              </a:rPr>
              <a:t>.01.2026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487706" y="1403369"/>
            <a:ext cx="13346210" cy="7508249"/>
            <a:chOff x="0" y="0"/>
            <a:chExt cx="13445071" cy="7563866"/>
          </a:xfrm>
        </p:grpSpPr>
        <p:sp>
          <p:nvSpPr>
            <p:cNvPr name="Freeform 3" id="3"/>
            <p:cNvSpPr/>
            <p:nvPr/>
          </p:nvSpPr>
          <p:spPr>
            <a:xfrm flipH="false" flipV="false" rot="0">
              <a:off x="0" y="0"/>
              <a:ext cx="13445110" cy="7563866"/>
            </a:xfrm>
            <a:custGeom>
              <a:avLst/>
              <a:gdLst/>
              <a:ahLst/>
              <a:cxnLst/>
              <a:rect r="r" b="b" t="t" l="l"/>
              <a:pathLst>
                <a:path h="7563866" w="13445110">
                  <a:moveTo>
                    <a:pt x="0" y="0"/>
                  </a:moveTo>
                  <a:lnTo>
                    <a:pt x="13445110" y="0"/>
                  </a:lnTo>
                  <a:lnTo>
                    <a:pt x="13445110" y="7563866"/>
                  </a:lnTo>
                  <a:lnTo>
                    <a:pt x="0" y="7563866"/>
                  </a:lnTo>
                  <a:lnTo>
                    <a:pt x="0" y="0"/>
                  </a:lnTo>
                  <a:close/>
                </a:path>
              </a:pathLst>
            </a:custGeom>
            <a:blipFill>
              <a:blip r:embed="rId2"/>
              <a:stretch>
                <a:fillRect l="0" t="0" r="0" b="-115"/>
              </a:stretch>
            </a:blipFill>
          </p:spPr>
        </p:sp>
      </p:grpSp>
      <p:sp>
        <p:nvSpPr>
          <p:cNvPr name="TextBox 4" id="4"/>
          <p:cNvSpPr txBox="true"/>
          <p:nvPr/>
        </p:nvSpPr>
        <p:spPr>
          <a:xfrm rot="0">
            <a:off x="6955983" y="1792136"/>
            <a:ext cx="4000912" cy="835688"/>
          </a:xfrm>
          <a:prstGeom prst="rect">
            <a:avLst/>
          </a:prstGeom>
        </p:spPr>
        <p:txBody>
          <a:bodyPr anchor="t" rtlCol="false" tIns="0" lIns="0" bIns="0" rIns="0">
            <a:spAutoFit/>
          </a:bodyPr>
          <a:lstStyle/>
          <a:p>
            <a:pPr algn="l">
              <a:lnSpc>
                <a:spcPts val="6289"/>
              </a:lnSpc>
            </a:pPr>
            <a:r>
              <a:rPr lang="en-US" b="true" sz="5241">
                <a:solidFill>
                  <a:srgbClr val="000000"/>
                </a:solidFill>
                <a:latin typeface="Times New Roman Bold"/>
                <a:ea typeface="Times New Roman Bold"/>
                <a:cs typeface="Times New Roman Bold"/>
                <a:sym typeface="Times New Roman Bold"/>
              </a:rPr>
              <a:t>Methodology</a:t>
            </a:r>
          </a:p>
        </p:txBody>
      </p:sp>
      <p:sp>
        <p:nvSpPr>
          <p:cNvPr name="TextBox 5" id="5"/>
          <p:cNvSpPr txBox="true"/>
          <p:nvPr/>
        </p:nvSpPr>
        <p:spPr>
          <a:xfrm rot="0">
            <a:off x="14867367" y="8413473"/>
            <a:ext cx="231710" cy="297700"/>
          </a:xfrm>
          <a:prstGeom prst="rect">
            <a:avLst/>
          </a:prstGeom>
        </p:spPr>
        <p:txBody>
          <a:bodyPr anchor="t" rtlCol="false" tIns="0" lIns="0" bIns="0" rIns="0">
            <a:spAutoFit/>
          </a:bodyPr>
          <a:lstStyle/>
          <a:p>
            <a:pPr algn="l">
              <a:lnSpc>
                <a:spcPts val="2069"/>
              </a:lnSpc>
            </a:pPr>
            <a:r>
              <a:rPr lang="en-US" sz="1724">
                <a:solidFill>
                  <a:srgbClr val="878787"/>
                </a:solidFill>
                <a:latin typeface="Cambria"/>
                <a:ea typeface="Cambria"/>
                <a:cs typeface="Cambria"/>
                <a:sym typeface="Cambria"/>
              </a:rPr>
              <a:t>‹#›</a:t>
            </a:r>
          </a:p>
        </p:txBody>
      </p:sp>
      <p:sp>
        <p:nvSpPr>
          <p:cNvPr name="TextBox 6" id="6"/>
          <p:cNvSpPr txBox="true"/>
          <p:nvPr/>
        </p:nvSpPr>
        <p:spPr>
          <a:xfrm rot="0">
            <a:off x="2797829" y="2883921"/>
            <a:ext cx="12759460" cy="5048604"/>
          </a:xfrm>
          <a:prstGeom prst="rect">
            <a:avLst/>
          </a:prstGeom>
        </p:spPr>
        <p:txBody>
          <a:bodyPr anchor="t" rtlCol="false" tIns="0" lIns="0" bIns="0" rIns="0">
            <a:spAutoFit/>
          </a:bodyPr>
          <a:lstStyle/>
          <a:p>
            <a:pPr algn="l" marL="257588" indent="-128794" lvl="1">
              <a:lnSpc>
                <a:spcPts val="2388"/>
              </a:lnSpc>
              <a:buAutoNum type="arabicPeriod" startAt="1"/>
            </a:pPr>
            <a:r>
              <a:rPr lang="en-US" b="true" sz="1990">
                <a:solidFill>
                  <a:srgbClr val="000000"/>
                </a:solidFill>
                <a:latin typeface="Times New Roman Bold"/>
                <a:ea typeface="Times New Roman Bold"/>
                <a:cs typeface="Times New Roman Bold"/>
                <a:sym typeface="Times New Roman Bold"/>
              </a:rPr>
              <a:t>Data Collection &amp; Modeling:</a:t>
            </a:r>
          </a:p>
          <a:p>
            <a:pPr algn="l" marL="1024321" indent="-341440" lvl="2">
              <a:lnSpc>
                <a:spcPts val="2452"/>
              </a:lnSpc>
              <a:buFont typeface="Arial"/>
              <a:buChar char="⚬"/>
            </a:pPr>
            <a:r>
              <a:rPr lang="en-US" sz="1990">
                <a:solidFill>
                  <a:srgbClr val="000000"/>
                </a:solidFill>
                <a:latin typeface="Times New Roman"/>
                <a:ea typeface="Times New Roman"/>
                <a:cs typeface="Times New Roman"/>
                <a:sym typeface="Times New Roman"/>
              </a:rPr>
              <a:t>Scraping job descriptions and course syllabi to define skill nodes. Establishing "Requires" and "Leads To" relationships.</a:t>
            </a:r>
          </a:p>
          <a:p>
            <a:pPr algn="l" marL="1024321" indent="-341440" lvl="2">
              <a:lnSpc>
                <a:spcPts val="2388"/>
              </a:lnSpc>
              <a:buFont typeface="Arial"/>
              <a:buChar char="⚬"/>
            </a:pPr>
            <a:r>
              <a:rPr lang="en-US" sz="1990">
                <a:solidFill>
                  <a:srgbClr val="000000"/>
                </a:solidFill>
                <a:latin typeface="Times New Roman"/>
                <a:ea typeface="Times New Roman"/>
                <a:cs typeface="Times New Roman"/>
                <a:sym typeface="Times New Roman"/>
              </a:rPr>
              <a:t>Storing data in a </a:t>
            </a:r>
            <a:r>
              <a:rPr lang="en-US" b="true" sz="1990">
                <a:solidFill>
                  <a:srgbClr val="000000"/>
                </a:solidFill>
                <a:latin typeface="Times New Roman Bold"/>
                <a:ea typeface="Times New Roman Bold"/>
                <a:cs typeface="Times New Roman Bold"/>
                <a:sym typeface="Times New Roman Bold"/>
              </a:rPr>
              <a:t>Graph Database</a:t>
            </a:r>
            <a:r>
              <a:rPr lang="en-US" sz="1990">
                <a:solidFill>
                  <a:srgbClr val="000000"/>
                </a:solidFill>
                <a:latin typeface="Times New Roman"/>
                <a:ea typeface="Times New Roman"/>
                <a:cs typeface="Times New Roman"/>
                <a:sym typeface="Times New Roman"/>
              </a:rPr>
              <a:t> (Neo4j) for efficient querying.</a:t>
            </a:r>
          </a:p>
          <a:p>
            <a:pPr algn="l" marL="956033" indent="-318678" lvl="2">
              <a:lnSpc>
                <a:spcPts val="2229"/>
              </a:lnSpc>
            </a:pPr>
          </a:p>
          <a:p>
            <a:pPr algn="l" marL="257588" indent="-128794" lvl="1">
              <a:lnSpc>
                <a:spcPts val="2388"/>
              </a:lnSpc>
              <a:buAutoNum type="arabicPeriod" startAt="1"/>
            </a:pPr>
            <a:r>
              <a:rPr lang="en-US" b="true" sz="1990">
                <a:solidFill>
                  <a:srgbClr val="000000"/>
                </a:solidFill>
                <a:latin typeface="Times New Roman Bold"/>
                <a:ea typeface="Times New Roman Bold"/>
                <a:cs typeface="Times New Roman Bold"/>
                <a:sym typeface="Times New Roman Bold"/>
              </a:rPr>
              <a:t>User Profiling:</a:t>
            </a:r>
          </a:p>
          <a:p>
            <a:pPr algn="l" marL="1024321" indent="-341440" lvl="2">
              <a:lnSpc>
                <a:spcPts val="2452"/>
              </a:lnSpc>
              <a:buFont typeface="Arial"/>
              <a:buChar char="⚬"/>
            </a:pPr>
            <a:r>
              <a:rPr lang="en-US" sz="1990">
                <a:solidFill>
                  <a:srgbClr val="000000"/>
                </a:solidFill>
                <a:latin typeface="Times New Roman"/>
                <a:ea typeface="Times New Roman"/>
                <a:cs typeface="Times New Roman"/>
                <a:sym typeface="Times New Roman"/>
              </a:rPr>
              <a:t>A </a:t>
            </a:r>
            <a:r>
              <a:rPr lang="en-US" b="true" sz="1990">
                <a:solidFill>
                  <a:srgbClr val="000000"/>
                </a:solidFill>
                <a:latin typeface="Times New Roman Bold"/>
                <a:ea typeface="Times New Roman Bold"/>
                <a:cs typeface="Times New Roman Bold"/>
                <a:sym typeface="Times New Roman Bold"/>
              </a:rPr>
              <a:t>skill assessment module</a:t>
            </a:r>
            <a:r>
              <a:rPr lang="en-US" sz="1990">
                <a:solidFill>
                  <a:srgbClr val="000000"/>
                </a:solidFill>
                <a:latin typeface="Times New Roman"/>
                <a:ea typeface="Times New Roman"/>
                <a:cs typeface="Times New Roman"/>
                <a:sym typeface="Times New Roman"/>
              </a:rPr>
              <a:t> where users input their current proficiency. The system marks "Completed" nodes in the graph based on user input.</a:t>
            </a:r>
          </a:p>
          <a:p>
            <a:pPr algn="l" marL="956033" indent="-318678" lvl="2">
              <a:lnSpc>
                <a:spcPts val="2229"/>
              </a:lnSpc>
            </a:pPr>
          </a:p>
          <a:p>
            <a:pPr algn="l" marL="257588" indent="-128794" lvl="1">
              <a:lnSpc>
                <a:spcPts val="2388"/>
              </a:lnSpc>
              <a:buAutoNum type="arabicPeriod" startAt="1"/>
            </a:pPr>
            <a:r>
              <a:rPr lang="en-US" b="true" sz="1990">
                <a:solidFill>
                  <a:srgbClr val="000000"/>
                </a:solidFill>
                <a:latin typeface="Times New Roman Bold"/>
                <a:ea typeface="Times New Roman Bold"/>
                <a:cs typeface="Times New Roman Bold"/>
                <a:sym typeface="Times New Roman Bold"/>
              </a:rPr>
              <a:t>The Recommendation Algorithm:</a:t>
            </a:r>
          </a:p>
          <a:p>
            <a:pPr algn="l" marL="1024321" indent="-341440" lvl="2">
              <a:lnSpc>
                <a:spcPts val="2452"/>
              </a:lnSpc>
              <a:buFont typeface="Arial"/>
              <a:buChar char="⚬"/>
            </a:pPr>
            <a:r>
              <a:rPr lang="en-US" sz="1990">
                <a:solidFill>
                  <a:srgbClr val="000000"/>
                </a:solidFill>
                <a:latin typeface="Times New Roman"/>
                <a:ea typeface="Times New Roman"/>
                <a:cs typeface="Times New Roman"/>
                <a:sym typeface="Times New Roman"/>
              </a:rPr>
              <a:t>Implementation of </a:t>
            </a:r>
            <a:r>
              <a:rPr lang="en-US" b="true" sz="1990">
                <a:solidFill>
                  <a:srgbClr val="000000"/>
                </a:solidFill>
                <a:latin typeface="Times New Roman Bold"/>
                <a:ea typeface="Times New Roman Bold"/>
                <a:cs typeface="Times New Roman Bold"/>
                <a:sym typeface="Times New Roman Bold"/>
              </a:rPr>
              <a:t>BFS</a:t>
            </a:r>
            <a:r>
              <a:rPr lang="en-US" sz="1990">
                <a:solidFill>
                  <a:srgbClr val="000000"/>
                </a:solidFill>
                <a:latin typeface="Times New Roman"/>
                <a:ea typeface="Times New Roman"/>
                <a:cs typeface="Times New Roman"/>
                <a:sym typeface="Times New Roman"/>
              </a:rPr>
              <a:t> (Breadth-First Search) to find the logical sequence. </a:t>
            </a:r>
            <a:r>
              <a:rPr lang="en-US" b="true" sz="1990">
                <a:solidFill>
                  <a:srgbClr val="000000"/>
                </a:solidFill>
                <a:latin typeface="Times New Roman Bold"/>
                <a:ea typeface="Times New Roman Bold"/>
                <a:cs typeface="Times New Roman Bold"/>
                <a:sym typeface="Times New Roman Bold"/>
              </a:rPr>
              <a:t>Ranking resources </a:t>
            </a:r>
            <a:r>
              <a:rPr lang="en-US" sz="1990">
                <a:solidFill>
                  <a:srgbClr val="000000"/>
                </a:solidFill>
                <a:latin typeface="Times New Roman"/>
                <a:ea typeface="Times New Roman"/>
                <a:cs typeface="Times New Roman"/>
                <a:sym typeface="Times New Roman"/>
              </a:rPr>
              <a:t>(Videos/Articles) for each specific skill node.</a:t>
            </a:r>
          </a:p>
          <a:p>
            <a:pPr algn="l" marL="956033" indent="-318678" lvl="2">
              <a:lnSpc>
                <a:spcPts val="2229"/>
              </a:lnSpc>
            </a:pPr>
          </a:p>
          <a:p>
            <a:pPr algn="l" marL="257588" indent="-128794" lvl="1">
              <a:lnSpc>
                <a:spcPts val="2388"/>
              </a:lnSpc>
              <a:buAutoNum type="arabicPeriod" startAt="1"/>
            </a:pPr>
            <a:r>
              <a:rPr lang="en-US" b="true" sz="1990">
                <a:solidFill>
                  <a:srgbClr val="000000"/>
                </a:solidFill>
                <a:latin typeface="Times New Roman Bold"/>
                <a:ea typeface="Times New Roman Bold"/>
                <a:cs typeface="Times New Roman Bold"/>
                <a:sym typeface="Times New Roman Bold"/>
              </a:rPr>
              <a:t>Web Visualization:</a:t>
            </a:r>
          </a:p>
          <a:p>
            <a:pPr algn="l" marL="1024321" indent="-341440" lvl="2">
              <a:lnSpc>
                <a:spcPts val="2388"/>
              </a:lnSpc>
              <a:buFont typeface="Arial"/>
              <a:buChar char="⚬"/>
            </a:pPr>
            <a:r>
              <a:rPr lang="en-US" sz="1990">
                <a:solidFill>
                  <a:srgbClr val="000000"/>
                </a:solidFill>
                <a:latin typeface="Times New Roman"/>
                <a:ea typeface="Times New Roman"/>
                <a:cs typeface="Times New Roman"/>
                <a:sym typeface="Times New Roman"/>
              </a:rPr>
              <a:t>Using </a:t>
            </a:r>
            <a:r>
              <a:rPr lang="en-US" b="true" sz="1990">
                <a:solidFill>
                  <a:srgbClr val="000000"/>
                </a:solidFill>
                <a:latin typeface="Times New Roman Bold"/>
                <a:ea typeface="Times New Roman Bold"/>
                <a:cs typeface="Times New Roman Bold"/>
                <a:sym typeface="Times New Roman Bold"/>
              </a:rPr>
              <a:t>D3.js </a:t>
            </a:r>
            <a:r>
              <a:rPr lang="en-US" sz="1990">
                <a:solidFill>
                  <a:srgbClr val="000000"/>
                </a:solidFill>
                <a:latin typeface="Times New Roman"/>
                <a:ea typeface="Times New Roman"/>
                <a:cs typeface="Times New Roman"/>
                <a:sym typeface="Times New Roman"/>
              </a:rPr>
              <a:t>to render an interactive map.</a:t>
            </a:r>
          </a:p>
          <a:p>
            <a:pPr algn="l" marL="1024321" indent="-341440" lvl="2">
              <a:lnSpc>
                <a:spcPts val="2388"/>
              </a:lnSpc>
              <a:buFont typeface="Arial"/>
              <a:buChar char="⚬"/>
            </a:pPr>
            <a:r>
              <a:rPr lang="en-US" b="true" sz="1990">
                <a:solidFill>
                  <a:srgbClr val="000000"/>
                </a:solidFill>
                <a:latin typeface="Times New Roman Bold"/>
                <a:ea typeface="Times New Roman Bold"/>
                <a:cs typeface="Times New Roman Bold"/>
                <a:sym typeface="Times New Roman Bold"/>
              </a:rPr>
              <a:t>Color-coding: </a:t>
            </a:r>
            <a:r>
              <a:rPr lang="en-US" sz="1990">
                <a:solidFill>
                  <a:srgbClr val="000000"/>
                </a:solidFill>
                <a:latin typeface="Times New Roman"/>
                <a:ea typeface="Times New Roman"/>
                <a:cs typeface="Times New Roman"/>
                <a:sym typeface="Times New Roman"/>
              </a:rPr>
              <a:t>Green (Learned), Yellow (In-Progress), Red (To-Learn).</a:t>
            </a:r>
          </a:p>
        </p:txBody>
      </p:sp>
      <p:sp>
        <p:nvSpPr>
          <p:cNvPr name="TextBox 7" id="7"/>
          <p:cNvSpPr txBox="true"/>
          <p:nvPr/>
        </p:nvSpPr>
        <p:spPr>
          <a:xfrm rot="0">
            <a:off x="4937008" y="8273890"/>
            <a:ext cx="9087342" cy="313133"/>
          </a:xfrm>
          <a:prstGeom prst="rect">
            <a:avLst/>
          </a:prstGeom>
        </p:spPr>
        <p:txBody>
          <a:bodyPr anchor="t" rtlCol="false" tIns="0" lIns="0" bIns="0" rIns="0">
            <a:spAutoFit/>
          </a:bodyPr>
          <a:lstStyle/>
          <a:p>
            <a:pPr algn="ctr">
              <a:lnSpc>
                <a:spcPts val="2149"/>
              </a:lnSpc>
            </a:pPr>
            <a:r>
              <a:rPr lang="en-US" sz="1724">
                <a:solidFill>
                  <a:srgbClr val="878787"/>
                </a:solidFill>
                <a:latin typeface="Calibri (MS)"/>
                <a:ea typeface="Calibri (MS)"/>
                <a:cs typeface="Calibri (MS)"/>
                <a:sym typeface="Calibri (MS)"/>
              </a:rPr>
              <a:t>Department of Computer Science and Engineering</a:t>
            </a:r>
          </a:p>
        </p:txBody>
      </p:sp>
      <p:sp>
        <p:nvSpPr>
          <p:cNvPr name="TextBox 8" id="8"/>
          <p:cNvSpPr txBox="true"/>
          <p:nvPr/>
        </p:nvSpPr>
        <p:spPr>
          <a:xfrm rot="0">
            <a:off x="3277725" y="8273890"/>
            <a:ext cx="1052363" cy="302254"/>
          </a:xfrm>
          <a:prstGeom prst="rect">
            <a:avLst/>
          </a:prstGeom>
        </p:spPr>
        <p:txBody>
          <a:bodyPr anchor="t" rtlCol="false" tIns="0" lIns="0" bIns="0" rIns="0">
            <a:spAutoFit/>
          </a:bodyPr>
          <a:lstStyle/>
          <a:p>
            <a:pPr algn="l">
              <a:lnSpc>
                <a:spcPts val="2149"/>
              </a:lnSpc>
            </a:pPr>
            <a:r>
              <a:rPr lang="en-US" sz="1724">
                <a:solidFill>
                  <a:srgbClr val="878787"/>
                </a:solidFill>
                <a:latin typeface="Calibri (MS)"/>
                <a:ea typeface="Calibri (MS)"/>
                <a:cs typeface="Calibri (MS)"/>
                <a:sym typeface="Calibri (MS)"/>
              </a:rPr>
              <a:t>21</a:t>
            </a:r>
            <a:r>
              <a:rPr lang="en-US" sz="1724">
                <a:solidFill>
                  <a:srgbClr val="878787"/>
                </a:solidFill>
                <a:latin typeface="Calibri (MS)"/>
                <a:ea typeface="Calibri (MS)"/>
                <a:cs typeface="Calibri (MS)"/>
                <a:sym typeface="Calibri (MS)"/>
              </a:rPr>
              <a:t>.01.2026</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487706" y="1403369"/>
            <a:ext cx="13346210" cy="7508249"/>
            <a:chOff x="0" y="0"/>
            <a:chExt cx="13445071" cy="7563866"/>
          </a:xfrm>
        </p:grpSpPr>
        <p:sp>
          <p:nvSpPr>
            <p:cNvPr name="Freeform 3" id="3"/>
            <p:cNvSpPr/>
            <p:nvPr/>
          </p:nvSpPr>
          <p:spPr>
            <a:xfrm flipH="false" flipV="false" rot="0">
              <a:off x="0" y="0"/>
              <a:ext cx="13445110" cy="7563866"/>
            </a:xfrm>
            <a:custGeom>
              <a:avLst/>
              <a:gdLst/>
              <a:ahLst/>
              <a:cxnLst/>
              <a:rect r="r" b="b" t="t" l="l"/>
              <a:pathLst>
                <a:path h="7563866" w="13445110">
                  <a:moveTo>
                    <a:pt x="0" y="0"/>
                  </a:moveTo>
                  <a:lnTo>
                    <a:pt x="13445110" y="0"/>
                  </a:lnTo>
                  <a:lnTo>
                    <a:pt x="13445110" y="7563866"/>
                  </a:lnTo>
                  <a:lnTo>
                    <a:pt x="0" y="7563866"/>
                  </a:lnTo>
                  <a:lnTo>
                    <a:pt x="0" y="0"/>
                  </a:lnTo>
                  <a:close/>
                </a:path>
              </a:pathLst>
            </a:custGeom>
            <a:blipFill>
              <a:blip r:embed="rId2"/>
              <a:stretch>
                <a:fillRect l="0" t="0" r="0" b="-115"/>
              </a:stretch>
            </a:blipFill>
          </p:spPr>
        </p:sp>
      </p:grpSp>
      <p:sp>
        <p:nvSpPr>
          <p:cNvPr name="TextBox 4" id="4"/>
          <p:cNvSpPr txBox="true"/>
          <p:nvPr/>
        </p:nvSpPr>
        <p:spPr>
          <a:xfrm rot="0">
            <a:off x="14867367" y="8413473"/>
            <a:ext cx="231710" cy="297700"/>
          </a:xfrm>
          <a:prstGeom prst="rect">
            <a:avLst/>
          </a:prstGeom>
        </p:spPr>
        <p:txBody>
          <a:bodyPr anchor="t" rtlCol="false" tIns="0" lIns="0" bIns="0" rIns="0">
            <a:spAutoFit/>
          </a:bodyPr>
          <a:lstStyle/>
          <a:p>
            <a:pPr algn="l">
              <a:lnSpc>
                <a:spcPts val="2069"/>
              </a:lnSpc>
            </a:pPr>
            <a:r>
              <a:rPr lang="en-US" sz="1724">
                <a:solidFill>
                  <a:srgbClr val="878787"/>
                </a:solidFill>
                <a:latin typeface="Cambria"/>
                <a:ea typeface="Cambria"/>
                <a:cs typeface="Cambria"/>
                <a:sym typeface="Cambria"/>
              </a:rPr>
              <a:t>‹#›</a:t>
            </a:r>
          </a:p>
        </p:txBody>
      </p:sp>
      <p:grpSp>
        <p:nvGrpSpPr>
          <p:cNvPr name="Group 5" id="5"/>
          <p:cNvGrpSpPr/>
          <p:nvPr/>
        </p:nvGrpSpPr>
        <p:grpSpPr>
          <a:xfrm rot="0">
            <a:off x="5198772" y="1514723"/>
            <a:ext cx="8187494" cy="6916255"/>
            <a:chOff x="0" y="0"/>
            <a:chExt cx="8248142" cy="6967487"/>
          </a:xfrm>
        </p:grpSpPr>
        <p:sp>
          <p:nvSpPr>
            <p:cNvPr name="Freeform 6" id="6"/>
            <p:cNvSpPr/>
            <p:nvPr/>
          </p:nvSpPr>
          <p:spPr>
            <a:xfrm flipH="false" flipV="false" rot="0">
              <a:off x="0" y="0"/>
              <a:ext cx="8248142" cy="6967474"/>
            </a:xfrm>
            <a:custGeom>
              <a:avLst/>
              <a:gdLst/>
              <a:ahLst/>
              <a:cxnLst/>
              <a:rect r="r" b="b" t="t" l="l"/>
              <a:pathLst>
                <a:path h="6967474" w="8248142">
                  <a:moveTo>
                    <a:pt x="0" y="0"/>
                  </a:moveTo>
                  <a:lnTo>
                    <a:pt x="8248142" y="0"/>
                  </a:lnTo>
                  <a:lnTo>
                    <a:pt x="8248142" y="6967474"/>
                  </a:lnTo>
                  <a:lnTo>
                    <a:pt x="0" y="6967474"/>
                  </a:lnTo>
                  <a:lnTo>
                    <a:pt x="0" y="0"/>
                  </a:lnTo>
                  <a:close/>
                </a:path>
              </a:pathLst>
            </a:custGeom>
            <a:blipFill>
              <a:blip r:embed="rId3"/>
              <a:stretch>
                <a:fillRect l="-22097" t="-3787" r="-50987" b="-32811"/>
              </a:stretch>
            </a:blipFill>
          </p:spPr>
        </p:sp>
      </p:grpSp>
      <p:sp>
        <p:nvSpPr>
          <p:cNvPr name="TextBox 7" id="7"/>
          <p:cNvSpPr txBox="true"/>
          <p:nvPr/>
        </p:nvSpPr>
        <p:spPr>
          <a:xfrm rot="0">
            <a:off x="4617140" y="8383341"/>
            <a:ext cx="9087342" cy="313133"/>
          </a:xfrm>
          <a:prstGeom prst="rect">
            <a:avLst/>
          </a:prstGeom>
        </p:spPr>
        <p:txBody>
          <a:bodyPr anchor="t" rtlCol="false" tIns="0" lIns="0" bIns="0" rIns="0">
            <a:spAutoFit/>
          </a:bodyPr>
          <a:lstStyle/>
          <a:p>
            <a:pPr algn="ctr">
              <a:lnSpc>
                <a:spcPts val="2149"/>
              </a:lnSpc>
            </a:pPr>
            <a:r>
              <a:rPr lang="en-US" sz="1724">
                <a:solidFill>
                  <a:srgbClr val="878787"/>
                </a:solidFill>
                <a:latin typeface="Calibri (MS)"/>
                <a:ea typeface="Calibri (MS)"/>
                <a:cs typeface="Calibri (MS)"/>
                <a:sym typeface="Calibri (MS)"/>
              </a:rPr>
              <a:t>Department of Computer Science and Engineering</a:t>
            </a:r>
          </a:p>
        </p:txBody>
      </p:sp>
      <p:sp>
        <p:nvSpPr>
          <p:cNvPr name="TextBox 8" id="8"/>
          <p:cNvSpPr txBox="true"/>
          <p:nvPr/>
        </p:nvSpPr>
        <p:spPr>
          <a:xfrm rot="0">
            <a:off x="3277725" y="8273890"/>
            <a:ext cx="1052363" cy="302254"/>
          </a:xfrm>
          <a:prstGeom prst="rect">
            <a:avLst/>
          </a:prstGeom>
        </p:spPr>
        <p:txBody>
          <a:bodyPr anchor="t" rtlCol="false" tIns="0" lIns="0" bIns="0" rIns="0">
            <a:spAutoFit/>
          </a:bodyPr>
          <a:lstStyle/>
          <a:p>
            <a:pPr algn="l">
              <a:lnSpc>
                <a:spcPts val="2149"/>
              </a:lnSpc>
            </a:pPr>
            <a:r>
              <a:rPr lang="en-US" sz="1724">
                <a:solidFill>
                  <a:srgbClr val="878787"/>
                </a:solidFill>
                <a:latin typeface="Calibri (MS)"/>
                <a:ea typeface="Calibri (MS)"/>
                <a:cs typeface="Calibri (MS)"/>
                <a:sym typeface="Calibri (MS)"/>
              </a:rPr>
              <a:t>21</a:t>
            </a:r>
            <a:r>
              <a:rPr lang="en-US" sz="1724">
                <a:solidFill>
                  <a:srgbClr val="878787"/>
                </a:solidFill>
                <a:latin typeface="Calibri (MS)"/>
                <a:ea typeface="Calibri (MS)"/>
                <a:cs typeface="Calibri (MS)"/>
                <a:sym typeface="Calibri (MS)"/>
              </a:rPr>
              <a:t>.01.2026</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487706" y="1403369"/>
            <a:ext cx="13346210" cy="7508249"/>
            <a:chOff x="0" y="0"/>
            <a:chExt cx="13445071" cy="7563866"/>
          </a:xfrm>
        </p:grpSpPr>
        <p:sp>
          <p:nvSpPr>
            <p:cNvPr name="Freeform 3" id="3"/>
            <p:cNvSpPr/>
            <p:nvPr/>
          </p:nvSpPr>
          <p:spPr>
            <a:xfrm flipH="false" flipV="false" rot="0">
              <a:off x="0" y="0"/>
              <a:ext cx="13445110" cy="7563866"/>
            </a:xfrm>
            <a:custGeom>
              <a:avLst/>
              <a:gdLst/>
              <a:ahLst/>
              <a:cxnLst/>
              <a:rect r="r" b="b" t="t" l="l"/>
              <a:pathLst>
                <a:path h="7563866" w="13445110">
                  <a:moveTo>
                    <a:pt x="0" y="0"/>
                  </a:moveTo>
                  <a:lnTo>
                    <a:pt x="13445110" y="0"/>
                  </a:lnTo>
                  <a:lnTo>
                    <a:pt x="13445110" y="7563866"/>
                  </a:lnTo>
                  <a:lnTo>
                    <a:pt x="0" y="7563866"/>
                  </a:lnTo>
                  <a:lnTo>
                    <a:pt x="0" y="0"/>
                  </a:lnTo>
                  <a:close/>
                </a:path>
              </a:pathLst>
            </a:custGeom>
            <a:blipFill>
              <a:blip r:embed="rId2"/>
              <a:stretch>
                <a:fillRect l="0" t="0" r="0" b="-115"/>
              </a:stretch>
            </a:blipFill>
          </p:spPr>
        </p:sp>
      </p:grpSp>
      <p:sp>
        <p:nvSpPr>
          <p:cNvPr name="TextBox 4" id="4"/>
          <p:cNvSpPr txBox="true"/>
          <p:nvPr/>
        </p:nvSpPr>
        <p:spPr>
          <a:xfrm rot="0">
            <a:off x="5801217" y="2185929"/>
            <a:ext cx="5602368" cy="846568"/>
          </a:xfrm>
          <a:prstGeom prst="rect">
            <a:avLst/>
          </a:prstGeom>
        </p:spPr>
        <p:txBody>
          <a:bodyPr anchor="t" rtlCol="false" tIns="0" lIns="0" bIns="0" rIns="0">
            <a:spAutoFit/>
          </a:bodyPr>
          <a:lstStyle/>
          <a:p>
            <a:pPr algn="l">
              <a:lnSpc>
                <a:spcPts val="6289"/>
              </a:lnSpc>
            </a:pPr>
            <a:r>
              <a:rPr lang="en-US" sz="5241">
                <a:solidFill>
                  <a:srgbClr val="000000"/>
                </a:solidFill>
                <a:latin typeface="Times New Roman"/>
                <a:ea typeface="Times New Roman"/>
                <a:cs typeface="Times New Roman"/>
                <a:sym typeface="Times New Roman"/>
              </a:rPr>
              <a:t>References</a:t>
            </a:r>
          </a:p>
        </p:txBody>
      </p:sp>
      <p:sp>
        <p:nvSpPr>
          <p:cNvPr name="TextBox 5" id="5"/>
          <p:cNvSpPr txBox="true"/>
          <p:nvPr/>
        </p:nvSpPr>
        <p:spPr>
          <a:xfrm rot="0">
            <a:off x="14787768" y="8407344"/>
            <a:ext cx="260352" cy="303766"/>
          </a:xfrm>
          <a:prstGeom prst="rect">
            <a:avLst/>
          </a:prstGeom>
        </p:spPr>
        <p:txBody>
          <a:bodyPr anchor="t" rtlCol="false" tIns="0" lIns="0" bIns="0" rIns="0">
            <a:spAutoFit/>
          </a:bodyPr>
          <a:lstStyle/>
          <a:p>
            <a:pPr algn="l">
              <a:lnSpc>
                <a:spcPts val="2149"/>
              </a:lnSpc>
            </a:pPr>
            <a:r>
              <a:rPr lang="en-US" sz="1724">
                <a:solidFill>
                  <a:srgbClr val="878787"/>
                </a:solidFill>
                <a:latin typeface="Calibri (MS)"/>
                <a:ea typeface="Calibri (MS)"/>
                <a:cs typeface="Calibri (MS)"/>
                <a:sym typeface="Calibri (MS)"/>
              </a:rPr>
              <a:t>10</a:t>
            </a:r>
          </a:p>
        </p:txBody>
      </p:sp>
      <p:sp>
        <p:nvSpPr>
          <p:cNvPr name="TextBox 6" id="6"/>
          <p:cNvSpPr txBox="true"/>
          <p:nvPr/>
        </p:nvSpPr>
        <p:spPr>
          <a:xfrm rot="0">
            <a:off x="3908598" y="3533306"/>
            <a:ext cx="10757013" cy="3463518"/>
          </a:xfrm>
          <a:prstGeom prst="rect">
            <a:avLst/>
          </a:prstGeom>
        </p:spPr>
        <p:txBody>
          <a:bodyPr anchor="t" rtlCol="false" tIns="0" lIns="0" bIns="0" rIns="0">
            <a:spAutoFit/>
          </a:bodyPr>
          <a:lstStyle/>
          <a:p>
            <a:pPr algn="just" marL="256746" indent="-128373" lvl="1">
              <a:lnSpc>
                <a:spcPts val="2452"/>
              </a:lnSpc>
              <a:buAutoNum type="arabicPeriod" startAt="1"/>
            </a:pPr>
            <a:r>
              <a:rPr lang="en-US" b="true" sz="1990">
                <a:solidFill>
                  <a:srgbClr val="000000"/>
                </a:solidFill>
                <a:latin typeface="Times New Roman Bold"/>
                <a:ea typeface="Times New Roman Bold"/>
                <a:cs typeface="Times New Roman Bold"/>
                <a:sym typeface="Times New Roman Bold"/>
              </a:rPr>
              <a:t>J. Guo, Y. Wang, S. Wu, W. Yang, and Q. Li</a:t>
            </a:r>
            <a:r>
              <a:rPr lang="en-US" sz="1990">
                <a:solidFill>
                  <a:srgbClr val="000000"/>
                </a:solidFill>
                <a:latin typeface="Times New Roman"/>
                <a:ea typeface="Times New Roman"/>
                <a:cs typeface="Times New Roman"/>
                <a:sym typeface="Times New Roman"/>
              </a:rPr>
              <a:t>, "A Survey on Knowledge Graph-Based Recommender Systems," IEEE Transactions on Knowledge and Data Engineering, vol. 34, no. 8,</a:t>
            </a:r>
          </a:p>
          <a:p>
            <a:pPr algn="just" marL="256746" indent="-128373" lvl="1">
              <a:lnSpc>
                <a:spcPts val="2388"/>
              </a:lnSpc>
            </a:pPr>
            <a:r>
              <a:rPr lang="en-US" sz="1990">
                <a:solidFill>
                  <a:srgbClr val="000000"/>
                </a:solidFill>
                <a:latin typeface="Times New Roman"/>
                <a:ea typeface="Times New Roman"/>
                <a:cs typeface="Times New Roman"/>
                <a:sym typeface="Times New Roman"/>
              </a:rPr>
              <a:t>pp. 3522-3543, Aug. 2022. [IEEE]</a:t>
            </a:r>
          </a:p>
          <a:p>
            <a:pPr algn="just" marL="256746" indent="-128373" lvl="1">
              <a:lnSpc>
                <a:spcPts val="2452"/>
              </a:lnSpc>
              <a:buAutoNum type="arabicPeriod" startAt="1"/>
            </a:pPr>
            <a:r>
              <a:rPr lang="en-US" b="true" sz="1990">
                <a:solidFill>
                  <a:srgbClr val="000000"/>
                </a:solidFill>
                <a:latin typeface="Times New Roman Bold"/>
                <a:ea typeface="Times New Roman Bold"/>
                <a:cs typeface="Times New Roman Bold"/>
                <a:sym typeface="Times New Roman Bold"/>
              </a:rPr>
              <a:t>L.  Ma,  X.  Li,  and  Y.  Wang</a:t>
            </a:r>
            <a:r>
              <a:rPr lang="en-US" sz="1990">
                <a:solidFill>
                  <a:srgbClr val="000000"/>
                </a:solidFill>
                <a:latin typeface="Times New Roman"/>
                <a:ea typeface="Times New Roman"/>
                <a:cs typeface="Times New Roman"/>
                <a:sym typeface="Times New Roman"/>
              </a:rPr>
              <a:t>,  "Personalized  Learning  Path  Recommendation  Method Incorporating Multi-Algorithm," Applied Sciences, vol. 13, no. 10, pp. 5946-5962, May 2023. [MDPI]</a:t>
            </a:r>
          </a:p>
          <a:p>
            <a:pPr algn="just" marL="256746" indent="-128373" lvl="1">
              <a:lnSpc>
                <a:spcPts val="2452"/>
              </a:lnSpc>
              <a:buAutoNum type="arabicPeriod" startAt="1"/>
            </a:pPr>
            <a:r>
              <a:rPr lang="en-US" b="true" sz="1990">
                <a:solidFill>
                  <a:srgbClr val="000000"/>
                </a:solidFill>
                <a:latin typeface="Times New Roman Bold"/>
                <a:ea typeface="Times New Roman Bold"/>
                <a:cs typeface="Times New Roman Bold"/>
                <a:sym typeface="Times New Roman Bold"/>
              </a:rPr>
              <a:t>Y. Chen, Y. Liu, and H. Cheng</a:t>
            </a:r>
            <a:r>
              <a:rPr lang="en-US" sz="1990">
                <a:solidFill>
                  <a:srgbClr val="000000"/>
                </a:solidFill>
                <a:latin typeface="Times New Roman"/>
                <a:ea typeface="Times New Roman"/>
                <a:cs typeface="Times New Roman"/>
                <a:sym typeface="Times New Roman"/>
              </a:rPr>
              <a:t>, "Construction of Knowledge Graph for Personalized Learning Recommendation," Journal of Physics: Conference Series, vol. 1651, no. 1, pp. 012115-012125, Oct. 2020. [IOP]</a:t>
            </a:r>
          </a:p>
          <a:p>
            <a:pPr algn="just" marL="256746" indent="-128373" lvl="1">
              <a:lnSpc>
                <a:spcPts val="2452"/>
              </a:lnSpc>
              <a:buAutoNum type="arabicPeriod" startAt="1"/>
            </a:pPr>
            <a:r>
              <a:rPr lang="en-US" b="true" sz="1990">
                <a:solidFill>
                  <a:srgbClr val="000000"/>
                </a:solidFill>
                <a:latin typeface="Times New Roman Bold"/>
                <a:ea typeface="Times New Roman Bold"/>
                <a:cs typeface="Times New Roman Bold"/>
                <a:sym typeface="Times New Roman Bold"/>
              </a:rPr>
              <a:t>B. Meissner and M. Köbis, </a:t>
            </a:r>
            <a:r>
              <a:rPr lang="en-US" sz="1990">
                <a:solidFill>
                  <a:srgbClr val="000000"/>
                </a:solidFill>
                <a:latin typeface="Times New Roman"/>
                <a:ea typeface="Times New Roman"/>
                <a:cs typeface="Times New Roman"/>
                <a:sym typeface="Times New Roman"/>
              </a:rPr>
              <a:t>"Annotated Knowledge Graphs for Teaching in Higher Education," International Conference on Web Engineering, vol. 12111, pp. 581-588, Jun. 2020. [Springer]</a:t>
            </a:r>
          </a:p>
        </p:txBody>
      </p:sp>
      <p:sp>
        <p:nvSpPr>
          <p:cNvPr name="TextBox 7" id="7"/>
          <p:cNvSpPr txBox="true"/>
          <p:nvPr/>
        </p:nvSpPr>
        <p:spPr>
          <a:xfrm rot="0">
            <a:off x="4937008" y="8273890"/>
            <a:ext cx="9087342" cy="313133"/>
          </a:xfrm>
          <a:prstGeom prst="rect">
            <a:avLst/>
          </a:prstGeom>
        </p:spPr>
        <p:txBody>
          <a:bodyPr anchor="t" rtlCol="false" tIns="0" lIns="0" bIns="0" rIns="0">
            <a:spAutoFit/>
          </a:bodyPr>
          <a:lstStyle/>
          <a:p>
            <a:pPr algn="ctr">
              <a:lnSpc>
                <a:spcPts val="2149"/>
              </a:lnSpc>
            </a:pPr>
            <a:r>
              <a:rPr lang="en-US" sz="1724">
                <a:solidFill>
                  <a:srgbClr val="878787"/>
                </a:solidFill>
                <a:latin typeface="Calibri (MS)"/>
                <a:ea typeface="Calibri (MS)"/>
                <a:cs typeface="Calibri (MS)"/>
                <a:sym typeface="Calibri (MS)"/>
              </a:rPr>
              <a:t>Department of Computer Science and Engineering</a:t>
            </a:r>
          </a:p>
        </p:txBody>
      </p:sp>
      <p:sp>
        <p:nvSpPr>
          <p:cNvPr name="TextBox 8" id="8"/>
          <p:cNvSpPr txBox="true"/>
          <p:nvPr/>
        </p:nvSpPr>
        <p:spPr>
          <a:xfrm rot="0">
            <a:off x="3277725" y="8273890"/>
            <a:ext cx="1052363" cy="302254"/>
          </a:xfrm>
          <a:prstGeom prst="rect">
            <a:avLst/>
          </a:prstGeom>
        </p:spPr>
        <p:txBody>
          <a:bodyPr anchor="t" rtlCol="false" tIns="0" lIns="0" bIns="0" rIns="0">
            <a:spAutoFit/>
          </a:bodyPr>
          <a:lstStyle/>
          <a:p>
            <a:pPr algn="l">
              <a:lnSpc>
                <a:spcPts val="2149"/>
              </a:lnSpc>
            </a:pPr>
            <a:r>
              <a:rPr lang="en-US" sz="1724">
                <a:solidFill>
                  <a:srgbClr val="878787"/>
                </a:solidFill>
                <a:latin typeface="Calibri (MS)"/>
                <a:ea typeface="Calibri (MS)"/>
                <a:cs typeface="Calibri (MS)"/>
                <a:sym typeface="Calibri (MS)"/>
              </a:rPr>
              <a:t>21</a:t>
            </a:r>
            <a:r>
              <a:rPr lang="en-US" sz="1724">
                <a:solidFill>
                  <a:srgbClr val="878787"/>
                </a:solidFill>
                <a:latin typeface="Calibri (MS)"/>
                <a:ea typeface="Calibri (MS)"/>
                <a:cs typeface="Calibri (MS)"/>
                <a:sym typeface="Calibri (MS)"/>
              </a:rPr>
              <a:t>.01.2026</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487706" y="1403369"/>
            <a:ext cx="13346210" cy="7508249"/>
            <a:chOff x="0" y="0"/>
            <a:chExt cx="13445071" cy="7563866"/>
          </a:xfrm>
        </p:grpSpPr>
        <p:sp>
          <p:nvSpPr>
            <p:cNvPr name="Freeform 3" id="3"/>
            <p:cNvSpPr/>
            <p:nvPr/>
          </p:nvSpPr>
          <p:spPr>
            <a:xfrm flipH="false" flipV="false" rot="0">
              <a:off x="0" y="0"/>
              <a:ext cx="13445110" cy="7563866"/>
            </a:xfrm>
            <a:custGeom>
              <a:avLst/>
              <a:gdLst/>
              <a:ahLst/>
              <a:cxnLst/>
              <a:rect r="r" b="b" t="t" l="l"/>
              <a:pathLst>
                <a:path h="7563866" w="13445110">
                  <a:moveTo>
                    <a:pt x="0" y="0"/>
                  </a:moveTo>
                  <a:lnTo>
                    <a:pt x="13445110" y="0"/>
                  </a:lnTo>
                  <a:lnTo>
                    <a:pt x="13445110" y="7563866"/>
                  </a:lnTo>
                  <a:lnTo>
                    <a:pt x="0" y="7563866"/>
                  </a:lnTo>
                  <a:lnTo>
                    <a:pt x="0" y="0"/>
                  </a:lnTo>
                  <a:close/>
                </a:path>
              </a:pathLst>
            </a:custGeom>
            <a:blipFill>
              <a:blip r:embed="rId2"/>
              <a:stretch>
                <a:fillRect l="0" t="0" r="0" b="-115"/>
              </a:stretch>
            </a:blipFill>
          </p:spPr>
        </p:sp>
      </p:grpSp>
      <p:sp>
        <p:nvSpPr>
          <p:cNvPr name="TextBox 4" id="4"/>
          <p:cNvSpPr txBox="true"/>
          <p:nvPr/>
        </p:nvSpPr>
        <p:spPr>
          <a:xfrm rot="0">
            <a:off x="4937008" y="8273890"/>
            <a:ext cx="9087342" cy="313133"/>
          </a:xfrm>
          <a:prstGeom prst="rect">
            <a:avLst/>
          </a:prstGeom>
        </p:spPr>
        <p:txBody>
          <a:bodyPr anchor="t" rtlCol="false" tIns="0" lIns="0" bIns="0" rIns="0">
            <a:spAutoFit/>
          </a:bodyPr>
          <a:lstStyle/>
          <a:p>
            <a:pPr algn="ctr">
              <a:lnSpc>
                <a:spcPts val="2149"/>
              </a:lnSpc>
            </a:pPr>
            <a:r>
              <a:rPr lang="en-US" sz="1724">
                <a:solidFill>
                  <a:srgbClr val="878787"/>
                </a:solidFill>
                <a:latin typeface="Calibri (MS)"/>
                <a:ea typeface="Calibri (MS)"/>
                <a:cs typeface="Calibri (MS)"/>
                <a:sym typeface="Calibri (MS)"/>
              </a:rPr>
              <a:t>Department of Computer Science and Engineering</a:t>
            </a:r>
          </a:p>
        </p:txBody>
      </p:sp>
      <p:sp>
        <p:nvSpPr>
          <p:cNvPr name="TextBox 5" id="5"/>
          <p:cNvSpPr txBox="true"/>
          <p:nvPr/>
        </p:nvSpPr>
        <p:spPr>
          <a:xfrm rot="0">
            <a:off x="3277725" y="8273890"/>
            <a:ext cx="1052363" cy="302254"/>
          </a:xfrm>
          <a:prstGeom prst="rect">
            <a:avLst/>
          </a:prstGeom>
        </p:spPr>
        <p:txBody>
          <a:bodyPr anchor="t" rtlCol="false" tIns="0" lIns="0" bIns="0" rIns="0">
            <a:spAutoFit/>
          </a:bodyPr>
          <a:lstStyle/>
          <a:p>
            <a:pPr algn="l">
              <a:lnSpc>
                <a:spcPts val="2149"/>
              </a:lnSpc>
            </a:pPr>
            <a:r>
              <a:rPr lang="en-US" sz="1724">
                <a:solidFill>
                  <a:srgbClr val="878787"/>
                </a:solidFill>
                <a:latin typeface="Calibri (MS)"/>
                <a:ea typeface="Calibri (MS)"/>
                <a:cs typeface="Calibri (MS)"/>
                <a:sym typeface="Calibri (MS)"/>
              </a:rPr>
              <a:t>21</a:t>
            </a:r>
            <a:r>
              <a:rPr lang="en-US" sz="1724">
                <a:solidFill>
                  <a:srgbClr val="878787"/>
                </a:solidFill>
                <a:latin typeface="Calibri (MS)"/>
                <a:ea typeface="Calibri (MS)"/>
                <a:cs typeface="Calibri (MS)"/>
                <a:sym typeface="Calibri (MS)"/>
              </a:rPr>
              <a:t>.01.2026</a:t>
            </a:r>
          </a:p>
        </p:txBody>
      </p:sp>
      <p:sp>
        <p:nvSpPr>
          <p:cNvPr name="TextBox 6" id="6"/>
          <p:cNvSpPr txBox="true"/>
          <p:nvPr/>
        </p:nvSpPr>
        <p:spPr>
          <a:xfrm rot="0">
            <a:off x="3277725" y="3457049"/>
            <a:ext cx="11701502" cy="2429434"/>
          </a:xfrm>
          <a:prstGeom prst="rect">
            <a:avLst/>
          </a:prstGeom>
        </p:spPr>
        <p:txBody>
          <a:bodyPr anchor="t" rtlCol="false" tIns="0" lIns="0" bIns="0" rIns="0">
            <a:spAutoFit/>
          </a:bodyPr>
          <a:lstStyle/>
          <a:p>
            <a:pPr algn="ctr">
              <a:lnSpc>
                <a:spcPts val="19270"/>
              </a:lnSpc>
            </a:pPr>
            <a:r>
              <a:rPr lang="en-US" sz="13764" b="true">
                <a:solidFill>
                  <a:srgbClr val="000000"/>
                </a:solidFill>
                <a:latin typeface="Times New Roman Bold"/>
                <a:ea typeface="Times New Roman Bold"/>
                <a:cs typeface="Times New Roman Bold"/>
                <a:sym typeface="Times New Roman Bold"/>
              </a:rPr>
              <a:t>UML Diagrams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487706" y="1403369"/>
            <a:ext cx="13346210" cy="7508249"/>
            <a:chOff x="0" y="0"/>
            <a:chExt cx="13445071" cy="7563866"/>
          </a:xfrm>
        </p:grpSpPr>
        <p:sp>
          <p:nvSpPr>
            <p:cNvPr name="Freeform 3" id="3"/>
            <p:cNvSpPr/>
            <p:nvPr/>
          </p:nvSpPr>
          <p:spPr>
            <a:xfrm flipH="false" flipV="false" rot="0">
              <a:off x="0" y="0"/>
              <a:ext cx="13445110" cy="7563866"/>
            </a:xfrm>
            <a:custGeom>
              <a:avLst/>
              <a:gdLst/>
              <a:ahLst/>
              <a:cxnLst/>
              <a:rect r="r" b="b" t="t" l="l"/>
              <a:pathLst>
                <a:path h="7563866" w="13445110">
                  <a:moveTo>
                    <a:pt x="0" y="0"/>
                  </a:moveTo>
                  <a:lnTo>
                    <a:pt x="13445110" y="0"/>
                  </a:lnTo>
                  <a:lnTo>
                    <a:pt x="13445110" y="7563866"/>
                  </a:lnTo>
                  <a:lnTo>
                    <a:pt x="0" y="7563866"/>
                  </a:lnTo>
                  <a:lnTo>
                    <a:pt x="0" y="0"/>
                  </a:lnTo>
                  <a:close/>
                </a:path>
              </a:pathLst>
            </a:custGeom>
            <a:blipFill>
              <a:blip r:embed="rId2"/>
              <a:stretch>
                <a:fillRect l="0" t="0" r="0" b="-115"/>
              </a:stretch>
            </a:blipFill>
          </p:spPr>
        </p:sp>
      </p:grpSp>
      <p:sp>
        <p:nvSpPr>
          <p:cNvPr name="Freeform 4" id="4"/>
          <p:cNvSpPr/>
          <p:nvPr/>
        </p:nvSpPr>
        <p:spPr>
          <a:xfrm flipH="false" flipV="false" rot="0">
            <a:off x="9550350" y="2323124"/>
            <a:ext cx="4843046" cy="5998391"/>
          </a:xfrm>
          <a:custGeom>
            <a:avLst/>
            <a:gdLst/>
            <a:ahLst/>
            <a:cxnLst/>
            <a:rect r="r" b="b" t="t" l="l"/>
            <a:pathLst>
              <a:path h="5998391" w="4843046">
                <a:moveTo>
                  <a:pt x="0" y="0"/>
                </a:moveTo>
                <a:lnTo>
                  <a:pt x="4843046" y="0"/>
                </a:lnTo>
                <a:lnTo>
                  <a:pt x="4843046" y="5998391"/>
                </a:lnTo>
                <a:lnTo>
                  <a:pt x="0" y="5998391"/>
                </a:lnTo>
                <a:lnTo>
                  <a:pt x="0" y="0"/>
                </a:lnTo>
                <a:close/>
              </a:path>
            </a:pathLst>
          </a:custGeom>
          <a:blipFill>
            <a:blip r:embed="rId3"/>
            <a:stretch>
              <a:fillRect l="0" t="0" r="0" b="0"/>
            </a:stretch>
          </a:blipFill>
        </p:spPr>
      </p:sp>
      <p:sp>
        <p:nvSpPr>
          <p:cNvPr name="TextBox 5" id="5"/>
          <p:cNvSpPr txBox="true"/>
          <p:nvPr/>
        </p:nvSpPr>
        <p:spPr>
          <a:xfrm rot="0">
            <a:off x="4880396" y="8401204"/>
            <a:ext cx="9087342" cy="313133"/>
          </a:xfrm>
          <a:prstGeom prst="rect">
            <a:avLst/>
          </a:prstGeom>
        </p:spPr>
        <p:txBody>
          <a:bodyPr anchor="t" rtlCol="false" tIns="0" lIns="0" bIns="0" rIns="0">
            <a:spAutoFit/>
          </a:bodyPr>
          <a:lstStyle/>
          <a:p>
            <a:pPr algn="ctr">
              <a:lnSpc>
                <a:spcPts val="2149"/>
              </a:lnSpc>
            </a:pPr>
            <a:r>
              <a:rPr lang="en-US" sz="1724">
                <a:solidFill>
                  <a:srgbClr val="878787"/>
                </a:solidFill>
                <a:latin typeface="Calibri (MS)"/>
                <a:ea typeface="Calibri (MS)"/>
                <a:cs typeface="Calibri (MS)"/>
                <a:sym typeface="Calibri (MS)"/>
              </a:rPr>
              <a:t>Department of Computer Science and Engineering</a:t>
            </a:r>
          </a:p>
        </p:txBody>
      </p:sp>
      <p:sp>
        <p:nvSpPr>
          <p:cNvPr name="TextBox 6" id="6"/>
          <p:cNvSpPr txBox="true"/>
          <p:nvPr/>
        </p:nvSpPr>
        <p:spPr>
          <a:xfrm rot="0">
            <a:off x="3202085" y="8412084"/>
            <a:ext cx="1052363" cy="302254"/>
          </a:xfrm>
          <a:prstGeom prst="rect">
            <a:avLst/>
          </a:prstGeom>
        </p:spPr>
        <p:txBody>
          <a:bodyPr anchor="t" rtlCol="false" tIns="0" lIns="0" bIns="0" rIns="0">
            <a:spAutoFit/>
          </a:bodyPr>
          <a:lstStyle/>
          <a:p>
            <a:pPr algn="l">
              <a:lnSpc>
                <a:spcPts val="2149"/>
              </a:lnSpc>
            </a:pPr>
            <a:r>
              <a:rPr lang="en-US" sz="1724" i="true">
                <a:solidFill>
                  <a:srgbClr val="878787"/>
                </a:solidFill>
                <a:latin typeface="Calibri (MS) Italics"/>
                <a:ea typeface="Calibri (MS) Italics"/>
                <a:cs typeface="Calibri (MS) Italics"/>
                <a:sym typeface="Calibri (MS) Italics"/>
              </a:rPr>
              <a:t>21</a:t>
            </a:r>
            <a:r>
              <a:rPr lang="en-US" sz="1724" i="true">
                <a:solidFill>
                  <a:srgbClr val="878787"/>
                </a:solidFill>
                <a:latin typeface="Calibri (MS) Italics"/>
                <a:ea typeface="Calibri (MS) Italics"/>
                <a:cs typeface="Calibri (MS) Italics"/>
                <a:sym typeface="Calibri (MS) Italics"/>
              </a:rPr>
              <a:t>.01.2026</a:t>
            </a:r>
          </a:p>
        </p:txBody>
      </p:sp>
      <p:sp>
        <p:nvSpPr>
          <p:cNvPr name="TextBox 7" id="7"/>
          <p:cNvSpPr txBox="true"/>
          <p:nvPr/>
        </p:nvSpPr>
        <p:spPr>
          <a:xfrm rot="0">
            <a:off x="5680066" y="1513000"/>
            <a:ext cx="5099377" cy="709893"/>
          </a:xfrm>
          <a:prstGeom prst="rect">
            <a:avLst/>
          </a:prstGeom>
        </p:spPr>
        <p:txBody>
          <a:bodyPr anchor="t" rtlCol="false" tIns="0" lIns="0" bIns="0" rIns="0">
            <a:spAutoFit/>
          </a:bodyPr>
          <a:lstStyle/>
          <a:p>
            <a:pPr algn="ctr">
              <a:lnSpc>
                <a:spcPts val="5558"/>
              </a:lnSpc>
            </a:pPr>
            <a:r>
              <a:rPr lang="en-US" sz="3970" b="true">
                <a:solidFill>
                  <a:srgbClr val="000000"/>
                </a:solidFill>
                <a:latin typeface="Times New Roman Bold"/>
                <a:ea typeface="Times New Roman Bold"/>
                <a:cs typeface="Times New Roman Bold"/>
                <a:sym typeface="Times New Roman Bold"/>
              </a:rPr>
              <a:t>USECASE  DIAGRAM</a:t>
            </a:r>
          </a:p>
        </p:txBody>
      </p:sp>
      <p:sp>
        <p:nvSpPr>
          <p:cNvPr name="TextBox 8" id="8"/>
          <p:cNvSpPr txBox="true"/>
          <p:nvPr/>
        </p:nvSpPr>
        <p:spPr>
          <a:xfrm rot="0">
            <a:off x="3202085" y="2611126"/>
            <a:ext cx="7501718" cy="5762064"/>
          </a:xfrm>
          <a:prstGeom prst="rect">
            <a:avLst/>
          </a:prstGeom>
        </p:spPr>
        <p:txBody>
          <a:bodyPr anchor="t" rtlCol="false" tIns="0" lIns="0" bIns="0" rIns="0">
            <a:spAutoFit/>
          </a:bodyPr>
          <a:lstStyle/>
          <a:p>
            <a:pPr algn="l" marL="371483" indent="-185741" lvl="1">
              <a:lnSpc>
                <a:spcPts val="2408"/>
              </a:lnSpc>
              <a:buFont typeface="Arial"/>
              <a:buChar char="•"/>
            </a:pPr>
            <a:r>
              <a:rPr lang="en-US" sz="1720">
                <a:solidFill>
                  <a:srgbClr val="000000"/>
                </a:solidFill>
                <a:latin typeface="Times New Roman"/>
                <a:ea typeface="Times New Roman"/>
                <a:cs typeface="Times New Roman"/>
                <a:sym typeface="Times New Roman"/>
              </a:rPr>
              <a:t>Represents functional behavior of the system</a:t>
            </a:r>
          </a:p>
          <a:p>
            <a:pPr algn="l" marL="371483" indent="-185741" lvl="1">
              <a:lnSpc>
                <a:spcPts val="2408"/>
              </a:lnSpc>
              <a:buFont typeface="Arial"/>
              <a:buChar char="•"/>
            </a:pPr>
            <a:r>
              <a:rPr lang="en-US" sz="1720">
                <a:solidFill>
                  <a:srgbClr val="000000"/>
                </a:solidFill>
                <a:latin typeface="Times New Roman"/>
                <a:ea typeface="Times New Roman"/>
                <a:cs typeface="Times New Roman"/>
                <a:sym typeface="Times New Roman"/>
              </a:rPr>
              <a:t>Shows interaction between actors and system features</a:t>
            </a:r>
          </a:p>
          <a:p>
            <a:pPr algn="l" marL="371483" indent="-185741" lvl="1">
              <a:lnSpc>
                <a:spcPts val="2408"/>
              </a:lnSpc>
              <a:buFont typeface="Arial"/>
              <a:buChar char="•"/>
            </a:pPr>
            <a:r>
              <a:rPr lang="en-US" sz="1720">
                <a:solidFill>
                  <a:srgbClr val="000000"/>
                </a:solidFill>
                <a:latin typeface="Times New Roman"/>
                <a:ea typeface="Times New Roman"/>
                <a:cs typeface="Times New Roman"/>
                <a:sym typeface="Times New Roman"/>
              </a:rPr>
              <a:t>Actors involved:</a:t>
            </a:r>
          </a:p>
          <a:p>
            <a:pPr algn="l" marL="742966" indent="-247655" lvl="2">
              <a:lnSpc>
                <a:spcPts val="2408"/>
              </a:lnSpc>
              <a:buFont typeface="Arial"/>
              <a:buChar char="⚬"/>
            </a:pPr>
            <a:r>
              <a:rPr lang="en-US" sz="1720">
                <a:solidFill>
                  <a:srgbClr val="000000"/>
                </a:solidFill>
                <a:latin typeface="Times New Roman"/>
                <a:ea typeface="Times New Roman"/>
                <a:cs typeface="Times New Roman"/>
                <a:sym typeface="Times New Roman"/>
              </a:rPr>
              <a:t>Learner (User)</a:t>
            </a:r>
          </a:p>
          <a:p>
            <a:pPr algn="l" marL="742966" indent="-247655" lvl="2">
              <a:lnSpc>
                <a:spcPts val="2408"/>
              </a:lnSpc>
              <a:buFont typeface="Arial"/>
              <a:buChar char="⚬"/>
            </a:pPr>
            <a:r>
              <a:rPr lang="en-US" sz="1720">
                <a:solidFill>
                  <a:srgbClr val="000000"/>
                </a:solidFill>
                <a:latin typeface="Times New Roman"/>
                <a:ea typeface="Times New Roman"/>
                <a:cs typeface="Times New Roman"/>
                <a:sym typeface="Times New Roman"/>
              </a:rPr>
              <a:t>Administrator (Admin)</a:t>
            </a:r>
          </a:p>
          <a:p>
            <a:pPr algn="l" marL="742966" indent="-247655" lvl="2">
              <a:lnSpc>
                <a:spcPts val="2408"/>
              </a:lnSpc>
              <a:buFont typeface="Arial"/>
              <a:buChar char="⚬"/>
            </a:pPr>
            <a:r>
              <a:rPr lang="en-US" sz="1720">
                <a:solidFill>
                  <a:srgbClr val="000000"/>
                </a:solidFill>
                <a:latin typeface="Times New Roman"/>
                <a:ea typeface="Times New Roman"/>
                <a:cs typeface="Times New Roman"/>
                <a:sym typeface="Times New Roman"/>
              </a:rPr>
              <a:t>External APIs (Resources / Job Data)</a:t>
            </a:r>
          </a:p>
          <a:p>
            <a:pPr algn="l" marL="371483" indent="-185741" lvl="1">
              <a:lnSpc>
                <a:spcPts val="2408"/>
              </a:lnSpc>
              <a:buFont typeface="Arial"/>
              <a:buChar char="•"/>
            </a:pPr>
            <a:r>
              <a:rPr lang="en-US" sz="1720">
                <a:solidFill>
                  <a:srgbClr val="000000"/>
                </a:solidFill>
                <a:latin typeface="Times New Roman"/>
                <a:ea typeface="Times New Roman"/>
                <a:cs typeface="Times New Roman"/>
                <a:sym typeface="Times New Roman"/>
              </a:rPr>
              <a:t>Learner functionalities:</a:t>
            </a:r>
          </a:p>
          <a:p>
            <a:pPr algn="l" marL="742966" indent="-247655" lvl="2">
              <a:lnSpc>
                <a:spcPts val="2408"/>
              </a:lnSpc>
              <a:buFont typeface="Arial"/>
              <a:buChar char="⚬"/>
            </a:pPr>
            <a:r>
              <a:rPr lang="en-US" sz="1720">
                <a:solidFill>
                  <a:srgbClr val="000000"/>
                </a:solidFill>
                <a:latin typeface="Times New Roman"/>
                <a:ea typeface="Times New Roman"/>
                <a:cs typeface="Times New Roman"/>
                <a:sym typeface="Times New Roman"/>
              </a:rPr>
              <a:t>Register &amp; Login</a:t>
            </a:r>
          </a:p>
          <a:p>
            <a:pPr algn="l" marL="742966" indent="-247655" lvl="2">
              <a:lnSpc>
                <a:spcPts val="2408"/>
              </a:lnSpc>
              <a:buFont typeface="Arial"/>
              <a:buChar char="⚬"/>
            </a:pPr>
            <a:r>
              <a:rPr lang="en-US" sz="1720">
                <a:solidFill>
                  <a:srgbClr val="000000"/>
                </a:solidFill>
                <a:latin typeface="Times New Roman"/>
                <a:ea typeface="Times New Roman"/>
                <a:cs typeface="Times New Roman"/>
                <a:sym typeface="Times New Roman"/>
              </a:rPr>
              <a:t>Enter current skills</a:t>
            </a:r>
          </a:p>
          <a:p>
            <a:pPr algn="l" marL="742966" indent="-247655" lvl="2">
              <a:lnSpc>
                <a:spcPts val="2408"/>
              </a:lnSpc>
              <a:buFont typeface="Arial"/>
              <a:buChar char="⚬"/>
            </a:pPr>
            <a:r>
              <a:rPr lang="en-US" sz="1720">
                <a:solidFill>
                  <a:srgbClr val="000000"/>
                </a:solidFill>
                <a:latin typeface="Times New Roman"/>
                <a:ea typeface="Times New Roman"/>
                <a:cs typeface="Times New Roman"/>
                <a:sym typeface="Times New Roman"/>
              </a:rPr>
              <a:t>Select career goals</a:t>
            </a:r>
          </a:p>
          <a:p>
            <a:pPr algn="l" marL="742966" indent="-247655" lvl="2">
              <a:lnSpc>
                <a:spcPts val="2408"/>
              </a:lnSpc>
              <a:buFont typeface="Arial"/>
              <a:buChar char="⚬"/>
            </a:pPr>
            <a:r>
              <a:rPr lang="en-US" sz="1720">
                <a:solidFill>
                  <a:srgbClr val="000000"/>
                </a:solidFill>
                <a:latin typeface="Times New Roman"/>
                <a:ea typeface="Times New Roman"/>
                <a:cs typeface="Times New Roman"/>
                <a:sym typeface="Times New Roman"/>
              </a:rPr>
              <a:t>View skill graph</a:t>
            </a:r>
          </a:p>
          <a:p>
            <a:pPr algn="l" marL="742966" indent="-247655" lvl="2">
              <a:lnSpc>
                <a:spcPts val="2408"/>
              </a:lnSpc>
              <a:buFont typeface="Arial"/>
              <a:buChar char="⚬"/>
            </a:pPr>
            <a:r>
              <a:rPr lang="en-US" sz="1720">
                <a:solidFill>
                  <a:srgbClr val="000000"/>
                </a:solidFill>
                <a:latin typeface="Times New Roman"/>
                <a:ea typeface="Times New Roman"/>
                <a:cs typeface="Times New Roman"/>
                <a:sym typeface="Times New Roman"/>
              </a:rPr>
              <a:t>Get personalized learning path</a:t>
            </a:r>
          </a:p>
          <a:p>
            <a:pPr algn="l" marL="742966" indent="-247655" lvl="2">
              <a:lnSpc>
                <a:spcPts val="2408"/>
              </a:lnSpc>
              <a:buFont typeface="Arial"/>
              <a:buChar char="⚬"/>
            </a:pPr>
            <a:r>
              <a:rPr lang="en-US" sz="1720">
                <a:solidFill>
                  <a:srgbClr val="000000"/>
                </a:solidFill>
                <a:latin typeface="Times New Roman"/>
                <a:ea typeface="Times New Roman"/>
                <a:cs typeface="Times New Roman"/>
                <a:sym typeface="Times New Roman"/>
              </a:rPr>
              <a:t>Track learning progress</a:t>
            </a:r>
          </a:p>
          <a:p>
            <a:pPr algn="l" marL="371483" indent="-185741" lvl="1">
              <a:lnSpc>
                <a:spcPts val="2408"/>
              </a:lnSpc>
              <a:buFont typeface="Arial"/>
              <a:buChar char="•"/>
            </a:pPr>
            <a:r>
              <a:rPr lang="en-US" sz="1720">
                <a:solidFill>
                  <a:srgbClr val="000000"/>
                </a:solidFill>
                <a:latin typeface="Times New Roman"/>
                <a:ea typeface="Times New Roman"/>
                <a:cs typeface="Times New Roman"/>
                <a:sym typeface="Times New Roman"/>
              </a:rPr>
              <a:t>Admin functionalities:</a:t>
            </a:r>
          </a:p>
          <a:p>
            <a:pPr algn="l" marL="742966" indent="-247655" lvl="2">
              <a:lnSpc>
                <a:spcPts val="2408"/>
              </a:lnSpc>
              <a:buFont typeface="Arial"/>
              <a:buChar char="⚬"/>
            </a:pPr>
            <a:r>
              <a:rPr lang="en-US" sz="1720">
                <a:solidFill>
                  <a:srgbClr val="000000"/>
                </a:solidFill>
                <a:latin typeface="Times New Roman"/>
                <a:ea typeface="Times New Roman"/>
                <a:cs typeface="Times New Roman"/>
                <a:sym typeface="Times New Roman"/>
              </a:rPr>
              <a:t>Add / update skills</a:t>
            </a:r>
          </a:p>
          <a:p>
            <a:pPr algn="l" marL="742966" indent="-247655" lvl="2">
              <a:lnSpc>
                <a:spcPts val="2408"/>
              </a:lnSpc>
              <a:buFont typeface="Arial"/>
              <a:buChar char="⚬"/>
            </a:pPr>
            <a:r>
              <a:rPr lang="en-US" sz="1720">
                <a:solidFill>
                  <a:srgbClr val="000000"/>
                </a:solidFill>
                <a:latin typeface="Times New Roman"/>
                <a:ea typeface="Times New Roman"/>
                <a:cs typeface="Times New Roman"/>
                <a:sym typeface="Times New Roman"/>
              </a:rPr>
              <a:t>Define skill dependencies</a:t>
            </a:r>
          </a:p>
          <a:p>
            <a:pPr algn="l" marL="742966" indent="-247655" lvl="2">
              <a:lnSpc>
                <a:spcPts val="2408"/>
              </a:lnSpc>
              <a:buFont typeface="Arial"/>
              <a:buChar char="⚬"/>
            </a:pPr>
            <a:r>
              <a:rPr lang="en-US" sz="1720">
                <a:solidFill>
                  <a:srgbClr val="000000"/>
                </a:solidFill>
                <a:latin typeface="Times New Roman"/>
                <a:ea typeface="Times New Roman"/>
                <a:cs typeface="Times New Roman"/>
                <a:sym typeface="Times New Roman"/>
              </a:rPr>
              <a:t>Maintain skill graph</a:t>
            </a:r>
          </a:p>
          <a:p>
            <a:pPr algn="l" marL="371483" indent="-185741" lvl="1">
              <a:lnSpc>
                <a:spcPts val="2408"/>
              </a:lnSpc>
              <a:buFont typeface="Arial"/>
              <a:buChar char="•"/>
            </a:pPr>
            <a:r>
              <a:rPr lang="en-US" sz="1720">
                <a:solidFill>
                  <a:srgbClr val="000000"/>
                </a:solidFill>
                <a:latin typeface="Times New Roman"/>
                <a:ea typeface="Times New Roman"/>
                <a:cs typeface="Times New Roman"/>
                <a:sym typeface="Times New Roman"/>
              </a:rPr>
              <a:t>Helps in requirement analysis and system understanding</a:t>
            </a:r>
          </a:p>
          <a:p>
            <a:pPr algn="l">
              <a:lnSpc>
                <a:spcPts val="2408"/>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487706" y="1389375"/>
            <a:ext cx="13346210" cy="7508249"/>
            <a:chOff x="0" y="0"/>
            <a:chExt cx="13445071" cy="7563866"/>
          </a:xfrm>
        </p:grpSpPr>
        <p:sp>
          <p:nvSpPr>
            <p:cNvPr name="Freeform 3" id="3"/>
            <p:cNvSpPr/>
            <p:nvPr/>
          </p:nvSpPr>
          <p:spPr>
            <a:xfrm flipH="false" flipV="false" rot="0">
              <a:off x="0" y="0"/>
              <a:ext cx="13445110" cy="7563866"/>
            </a:xfrm>
            <a:custGeom>
              <a:avLst/>
              <a:gdLst/>
              <a:ahLst/>
              <a:cxnLst/>
              <a:rect r="r" b="b" t="t" l="l"/>
              <a:pathLst>
                <a:path h="7563866" w="13445110">
                  <a:moveTo>
                    <a:pt x="0" y="0"/>
                  </a:moveTo>
                  <a:lnTo>
                    <a:pt x="13445110" y="0"/>
                  </a:lnTo>
                  <a:lnTo>
                    <a:pt x="13445110" y="7563866"/>
                  </a:lnTo>
                  <a:lnTo>
                    <a:pt x="0" y="7563866"/>
                  </a:lnTo>
                  <a:lnTo>
                    <a:pt x="0" y="0"/>
                  </a:lnTo>
                  <a:close/>
                </a:path>
              </a:pathLst>
            </a:custGeom>
            <a:blipFill>
              <a:blip r:embed="rId2"/>
              <a:stretch>
                <a:fillRect l="0" t="0" r="0" b="-115"/>
              </a:stretch>
            </a:blipFill>
          </p:spPr>
        </p:sp>
      </p:grpSp>
      <p:sp>
        <p:nvSpPr>
          <p:cNvPr name="Freeform 4" id="4"/>
          <p:cNvSpPr/>
          <p:nvPr/>
        </p:nvSpPr>
        <p:spPr>
          <a:xfrm flipH="false" flipV="false" rot="0">
            <a:off x="6373661" y="2578224"/>
            <a:ext cx="9229970" cy="5007259"/>
          </a:xfrm>
          <a:custGeom>
            <a:avLst/>
            <a:gdLst/>
            <a:ahLst/>
            <a:cxnLst/>
            <a:rect r="r" b="b" t="t" l="l"/>
            <a:pathLst>
              <a:path h="5007259" w="9229970">
                <a:moveTo>
                  <a:pt x="0" y="0"/>
                </a:moveTo>
                <a:lnTo>
                  <a:pt x="9229970" y="0"/>
                </a:lnTo>
                <a:lnTo>
                  <a:pt x="9229970" y="5007259"/>
                </a:lnTo>
                <a:lnTo>
                  <a:pt x="0" y="5007259"/>
                </a:lnTo>
                <a:lnTo>
                  <a:pt x="0" y="0"/>
                </a:lnTo>
                <a:close/>
              </a:path>
            </a:pathLst>
          </a:custGeom>
          <a:blipFill>
            <a:blip r:embed="rId3"/>
            <a:stretch>
              <a:fillRect l="0" t="0" r="0" b="0"/>
            </a:stretch>
          </a:blipFill>
        </p:spPr>
      </p:sp>
      <p:sp>
        <p:nvSpPr>
          <p:cNvPr name="TextBox 5" id="5"/>
          <p:cNvSpPr txBox="true"/>
          <p:nvPr/>
        </p:nvSpPr>
        <p:spPr>
          <a:xfrm rot="0">
            <a:off x="4880396" y="8401204"/>
            <a:ext cx="9087342" cy="313133"/>
          </a:xfrm>
          <a:prstGeom prst="rect">
            <a:avLst/>
          </a:prstGeom>
        </p:spPr>
        <p:txBody>
          <a:bodyPr anchor="t" rtlCol="false" tIns="0" lIns="0" bIns="0" rIns="0">
            <a:spAutoFit/>
          </a:bodyPr>
          <a:lstStyle/>
          <a:p>
            <a:pPr algn="ctr">
              <a:lnSpc>
                <a:spcPts val="2149"/>
              </a:lnSpc>
            </a:pPr>
            <a:r>
              <a:rPr lang="en-US" sz="1724">
                <a:solidFill>
                  <a:srgbClr val="878787"/>
                </a:solidFill>
                <a:latin typeface="Calibri (MS)"/>
                <a:ea typeface="Calibri (MS)"/>
                <a:cs typeface="Calibri (MS)"/>
                <a:sym typeface="Calibri (MS)"/>
              </a:rPr>
              <a:t>Department of Computer Science and Engineering</a:t>
            </a:r>
          </a:p>
        </p:txBody>
      </p:sp>
      <p:sp>
        <p:nvSpPr>
          <p:cNvPr name="TextBox 6" id="6"/>
          <p:cNvSpPr txBox="true"/>
          <p:nvPr/>
        </p:nvSpPr>
        <p:spPr>
          <a:xfrm rot="0">
            <a:off x="3202085" y="8412084"/>
            <a:ext cx="1052363" cy="302254"/>
          </a:xfrm>
          <a:prstGeom prst="rect">
            <a:avLst/>
          </a:prstGeom>
        </p:spPr>
        <p:txBody>
          <a:bodyPr anchor="t" rtlCol="false" tIns="0" lIns="0" bIns="0" rIns="0">
            <a:spAutoFit/>
          </a:bodyPr>
          <a:lstStyle/>
          <a:p>
            <a:pPr algn="l">
              <a:lnSpc>
                <a:spcPts val="2149"/>
              </a:lnSpc>
            </a:pPr>
            <a:r>
              <a:rPr lang="en-US" sz="1724" i="true">
                <a:solidFill>
                  <a:srgbClr val="878787"/>
                </a:solidFill>
                <a:latin typeface="Calibri (MS) Italics"/>
                <a:ea typeface="Calibri (MS) Italics"/>
                <a:cs typeface="Calibri (MS) Italics"/>
                <a:sym typeface="Calibri (MS) Italics"/>
              </a:rPr>
              <a:t>21</a:t>
            </a:r>
            <a:r>
              <a:rPr lang="en-US" sz="1724" i="true">
                <a:solidFill>
                  <a:srgbClr val="878787"/>
                </a:solidFill>
                <a:latin typeface="Calibri (MS) Italics"/>
                <a:ea typeface="Calibri (MS) Italics"/>
                <a:cs typeface="Calibri (MS) Italics"/>
                <a:sym typeface="Calibri (MS) Italics"/>
              </a:rPr>
              <a:t>.01.2026</a:t>
            </a:r>
          </a:p>
        </p:txBody>
      </p:sp>
      <p:sp>
        <p:nvSpPr>
          <p:cNvPr name="TextBox 7" id="7"/>
          <p:cNvSpPr txBox="true"/>
          <p:nvPr/>
        </p:nvSpPr>
        <p:spPr>
          <a:xfrm rot="0">
            <a:off x="6030343" y="1513000"/>
            <a:ext cx="4398823" cy="709893"/>
          </a:xfrm>
          <a:prstGeom prst="rect">
            <a:avLst/>
          </a:prstGeom>
        </p:spPr>
        <p:txBody>
          <a:bodyPr anchor="t" rtlCol="false" tIns="0" lIns="0" bIns="0" rIns="0">
            <a:spAutoFit/>
          </a:bodyPr>
          <a:lstStyle/>
          <a:p>
            <a:pPr algn="ctr">
              <a:lnSpc>
                <a:spcPts val="5558"/>
              </a:lnSpc>
            </a:pPr>
            <a:r>
              <a:rPr lang="en-US" sz="3970" b="true">
                <a:solidFill>
                  <a:srgbClr val="000000"/>
                </a:solidFill>
                <a:latin typeface="Times New Roman Bold"/>
                <a:ea typeface="Times New Roman Bold"/>
                <a:cs typeface="Times New Roman Bold"/>
                <a:sym typeface="Times New Roman Bold"/>
              </a:rPr>
              <a:t>CLASS  DIAGRAM</a:t>
            </a:r>
          </a:p>
        </p:txBody>
      </p:sp>
      <p:sp>
        <p:nvSpPr>
          <p:cNvPr name="TextBox 8" id="8"/>
          <p:cNvSpPr txBox="true"/>
          <p:nvPr/>
        </p:nvSpPr>
        <p:spPr>
          <a:xfrm rot="0">
            <a:off x="2768559" y="4048095"/>
            <a:ext cx="4549906" cy="3842153"/>
          </a:xfrm>
          <a:prstGeom prst="rect">
            <a:avLst/>
          </a:prstGeom>
        </p:spPr>
        <p:txBody>
          <a:bodyPr anchor="t" rtlCol="false" tIns="0" lIns="0" bIns="0" rIns="0">
            <a:spAutoFit/>
          </a:bodyPr>
          <a:lstStyle/>
          <a:p>
            <a:pPr algn="l">
              <a:lnSpc>
                <a:spcPts val="1979"/>
              </a:lnSpc>
            </a:pPr>
          </a:p>
          <a:p>
            <a:pPr algn="l">
              <a:lnSpc>
                <a:spcPts val="1979"/>
              </a:lnSpc>
              <a:spcBef>
                <a:spcPct val="0"/>
              </a:spcBef>
            </a:pPr>
            <a:r>
              <a:rPr lang="en-US" b="true" sz="1588">
                <a:solidFill>
                  <a:srgbClr val="000000"/>
                </a:solidFill>
                <a:latin typeface="Times New Roman Bold"/>
                <a:ea typeface="Times New Roman Bold"/>
                <a:cs typeface="Times New Roman Bold"/>
                <a:sym typeface="Times New Roman Bold"/>
              </a:rPr>
              <a:t>Main classes used:</a:t>
            </a:r>
          </a:p>
          <a:p>
            <a:pPr algn="l" marL="342900" indent="-171450" lvl="1">
              <a:lnSpc>
                <a:spcPts val="1979"/>
              </a:lnSpc>
              <a:buFont typeface="Arial"/>
              <a:buChar char="•"/>
            </a:pPr>
            <a:r>
              <a:rPr lang="en-US" sz="1588">
                <a:solidFill>
                  <a:srgbClr val="000000"/>
                </a:solidFill>
                <a:latin typeface="Times New Roman"/>
                <a:ea typeface="Times New Roman"/>
                <a:cs typeface="Times New Roman"/>
                <a:sym typeface="Times New Roman"/>
              </a:rPr>
              <a:t>User &amp; UserProfile</a:t>
            </a:r>
          </a:p>
          <a:p>
            <a:pPr algn="l" marL="342900" indent="-171450" lvl="1">
              <a:lnSpc>
                <a:spcPts val="1979"/>
              </a:lnSpc>
              <a:buFont typeface="Arial"/>
              <a:buChar char="•"/>
            </a:pPr>
            <a:r>
              <a:rPr lang="en-US" sz="1588">
                <a:solidFill>
                  <a:srgbClr val="000000"/>
                </a:solidFill>
                <a:latin typeface="Times New Roman"/>
                <a:ea typeface="Times New Roman"/>
                <a:cs typeface="Times New Roman"/>
                <a:sym typeface="Times New Roman"/>
              </a:rPr>
              <a:t>Skill &amp; SkillDependency</a:t>
            </a:r>
          </a:p>
          <a:p>
            <a:pPr algn="l" marL="342900" indent="-171450" lvl="1">
              <a:lnSpc>
                <a:spcPts val="1979"/>
              </a:lnSpc>
              <a:buFont typeface="Arial"/>
              <a:buChar char="•"/>
            </a:pPr>
            <a:r>
              <a:rPr lang="en-US" sz="1588">
                <a:solidFill>
                  <a:srgbClr val="000000"/>
                </a:solidFill>
                <a:latin typeface="Times New Roman"/>
                <a:ea typeface="Times New Roman"/>
                <a:cs typeface="Times New Roman"/>
                <a:sym typeface="Times New Roman"/>
              </a:rPr>
              <a:t>SkillGraph</a:t>
            </a:r>
          </a:p>
          <a:p>
            <a:pPr algn="l" marL="342900" indent="-171450" lvl="1">
              <a:lnSpc>
                <a:spcPts val="1979"/>
              </a:lnSpc>
              <a:buFont typeface="Arial"/>
              <a:buChar char="•"/>
            </a:pPr>
            <a:r>
              <a:rPr lang="en-US" sz="1588">
                <a:solidFill>
                  <a:srgbClr val="000000"/>
                </a:solidFill>
                <a:latin typeface="Times New Roman"/>
                <a:ea typeface="Times New Roman"/>
                <a:cs typeface="Times New Roman"/>
                <a:sym typeface="Times New Roman"/>
              </a:rPr>
              <a:t>RecommendationEngine</a:t>
            </a:r>
          </a:p>
          <a:p>
            <a:pPr algn="l" marL="342900" indent="-171450" lvl="1">
              <a:lnSpc>
                <a:spcPts val="1979"/>
              </a:lnSpc>
              <a:buFont typeface="Arial"/>
              <a:buChar char="•"/>
            </a:pPr>
            <a:r>
              <a:rPr lang="en-US" sz="1588">
                <a:solidFill>
                  <a:srgbClr val="000000"/>
                </a:solidFill>
                <a:latin typeface="Times New Roman"/>
                <a:ea typeface="Times New Roman"/>
                <a:cs typeface="Times New Roman"/>
                <a:sym typeface="Times New Roman"/>
              </a:rPr>
              <a:t>LearningPath</a:t>
            </a:r>
          </a:p>
          <a:p>
            <a:pPr algn="l" marL="342900" indent="-171450" lvl="1">
              <a:lnSpc>
                <a:spcPts val="1979"/>
              </a:lnSpc>
              <a:buFont typeface="Arial"/>
              <a:buChar char="•"/>
            </a:pPr>
            <a:r>
              <a:rPr lang="en-US" sz="1588">
                <a:solidFill>
                  <a:srgbClr val="000000"/>
                </a:solidFill>
                <a:latin typeface="Times New Roman"/>
                <a:ea typeface="Times New Roman"/>
                <a:cs typeface="Times New Roman"/>
                <a:sym typeface="Times New Roman"/>
              </a:rPr>
              <a:t>ProgressTracker</a:t>
            </a:r>
          </a:p>
          <a:p>
            <a:pPr algn="l" marL="342900" indent="-171450" lvl="1">
              <a:lnSpc>
                <a:spcPts val="1978"/>
              </a:lnSpc>
              <a:buFont typeface="Arial"/>
              <a:buChar char="•"/>
            </a:pPr>
            <a:r>
              <a:rPr lang="en-US" sz="1588">
                <a:solidFill>
                  <a:srgbClr val="000000"/>
                </a:solidFill>
                <a:latin typeface="Times New Roman"/>
                <a:ea typeface="Times New Roman"/>
                <a:cs typeface="Times New Roman"/>
                <a:sym typeface="Times New Roman"/>
              </a:rPr>
              <a:t>Admin</a:t>
            </a:r>
          </a:p>
          <a:p>
            <a:pPr algn="l">
              <a:lnSpc>
                <a:spcPts val="1979"/>
              </a:lnSpc>
            </a:pPr>
          </a:p>
          <a:p>
            <a:pPr algn="l">
              <a:lnSpc>
                <a:spcPts val="1979"/>
              </a:lnSpc>
              <a:spcBef>
                <a:spcPct val="0"/>
              </a:spcBef>
            </a:pPr>
            <a:r>
              <a:rPr lang="en-US" b="true" sz="1588">
                <a:solidFill>
                  <a:srgbClr val="000000"/>
                </a:solidFill>
                <a:latin typeface="Times New Roman Bold"/>
                <a:ea typeface="Times New Roman Bold"/>
                <a:cs typeface="Times New Roman Bold"/>
                <a:sym typeface="Times New Roman Bold"/>
              </a:rPr>
              <a:t>Key relationships:</a:t>
            </a:r>
          </a:p>
          <a:p>
            <a:pPr algn="l" marL="342900" indent="-171450" lvl="1">
              <a:lnSpc>
                <a:spcPts val="1979"/>
              </a:lnSpc>
              <a:buFont typeface="Arial"/>
              <a:buChar char="•"/>
            </a:pPr>
            <a:r>
              <a:rPr lang="en-US" sz="1588">
                <a:solidFill>
                  <a:srgbClr val="000000"/>
                </a:solidFill>
                <a:latin typeface="Times New Roman"/>
                <a:ea typeface="Times New Roman"/>
                <a:cs typeface="Times New Roman"/>
                <a:sym typeface="Times New Roman"/>
              </a:rPr>
              <a:t>User owns a UserProfile and ProgressTracker</a:t>
            </a:r>
          </a:p>
          <a:p>
            <a:pPr algn="l" marL="342900" indent="-171450" lvl="1">
              <a:lnSpc>
                <a:spcPts val="1979"/>
              </a:lnSpc>
              <a:buFont typeface="Arial"/>
              <a:buChar char="•"/>
            </a:pPr>
            <a:r>
              <a:rPr lang="en-US" sz="1588">
                <a:solidFill>
                  <a:srgbClr val="000000"/>
                </a:solidFill>
                <a:latin typeface="Times New Roman"/>
                <a:ea typeface="Times New Roman"/>
                <a:cs typeface="Times New Roman"/>
                <a:sym typeface="Times New Roman"/>
              </a:rPr>
              <a:t>SkillGraph contains multiple Skills</a:t>
            </a:r>
          </a:p>
          <a:p>
            <a:pPr algn="l" marL="342900" indent="-171450" lvl="1">
              <a:lnSpc>
                <a:spcPts val="1979"/>
              </a:lnSpc>
              <a:buFont typeface="Arial"/>
              <a:buChar char="•"/>
            </a:pPr>
            <a:r>
              <a:rPr lang="en-US" sz="1588">
                <a:solidFill>
                  <a:srgbClr val="000000"/>
                </a:solidFill>
                <a:latin typeface="Times New Roman"/>
                <a:ea typeface="Times New Roman"/>
                <a:cs typeface="Times New Roman"/>
                <a:sym typeface="Times New Roman"/>
              </a:rPr>
              <a:t>RecommendationEngine generates LearningPath</a:t>
            </a:r>
          </a:p>
          <a:p>
            <a:pPr algn="l" marL="342900" indent="-171450" lvl="1">
              <a:lnSpc>
                <a:spcPts val="1979"/>
              </a:lnSpc>
              <a:buFont typeface="Arial"/>
              <a:buChar char="•"/>
            </a:pPr>
            <a:r>
              <a:rPr lang="en-US" sz="1588">
                <a:solidFill>
                  <a:srgbClr val="000000"/>
                </a:solidFill>
                <a:latin typeface="Times New Roman"/>
                <a:ea typeface="Times New Roman"/>
                <a:cs typeface="Times New Roman"/>
                <a:sym typeface="Times New Roman"/>
              </a:rPr>
              <a:t>Admin manages SkillGraph</a:t>
            </a:r>
          </a:p>
          <a:p>
            <a:pPr algn="l" marL="342900" indent="-171450" lvl="1">
              <a:lnSpc>
                <a:spcPts val="1979"/>
              </a:lnSpc>
              <a:buFont typeface="Arial"/>
              <a:buChar char="•"/>
            </a:pPr>
            <a:r>
              <a:rPr lang="en-US" sz="1588">
                <a:solidFill>
                  <a:srgbClr val="000000"/>
                </a:solidFill>
                <a:latin typeface="Times New Roman"/>
                <a:ea typeface="Times New Roman"/>
                <a:cs typeface="Times New Roman"/>
                <a:sym typeface="Times New Roman"/>
              </a:rPr>
              <a:t>Helps in understanding data flow and system design</a:t>
            </a:r>
          </a:p>
        </p:txBody>
      </p:sp>
      <p:sp>
        <p:nvSpPr>
          <p:cNvPr name="TextBox 9" id="9"/>
          <p:cNvSpPr txBox="true"/>
          <p:nvPr/>
        </p:nvSpPr>
        <p:spPr>
          <a:xfrm rot="0">
            <a:off x="2487706" y="3297302"/>
            <a:ext cx="8220087" cy="921123"/>
          </a:xfrm>
          <a:prstGeom prst="rect">
            <a:avLst/>
          </a:prstGeom>
        </p:spPr>
        <p:txBody>
          <a:bodyPr anchor="t" rtlCol="false" tIns="0" lIns="0" bIns="0" rIns="0">
            <a:spAutoFit/>
          </a:bodyPr>
          <a:lstStyle/>
          <a:p>
            <a:pPr algn="l" marL="371481" indent="-185740" lvl="1">
              <a:lnSpc>
                <a:spcPts val="2408"/>
              </a:lnSpc>
              <a:buFont typeface="Arial"/>
              <a:buChar char="•"/>
            </a:pPr>
            <a:r>
              <a:rPr lang="en-US" sz="1720">
                <a:solidFill>
                  <a:srgbClr val="000000"/>
                </a:solidFill>
                <a:latin typeface="Times New Roman"/>
                <a:ea typeface="Times New Roman"/>
                <a:cs typeface="Times New Roman"/>
                <a:sym typeface="Times New Roman"/>
              </a:rPr>
              <a:t>Represents</a:t>
            </a:r>
            <a:r>
              <a:rPr lang="en-US" sz="1720">
                <a:solidFill>
                  <a:srgbClr val="000000"/>
                </a:solidFill>
                <a:latin typeface="Times New Roman"/>
                <a:ea typeface="Times New Roman"/>
                <a:cs typeface="Times New Roman"/>
                <a:sym typeface="Times New Roman"/>
              </a:rPr>
              <a:t> the static structure of the system</a:t>
            </a:r>
          </a:p>
          <a:p>
            <a:pPr algn="l" marL="371481" indent="-185740" lvl="1">
              <a:lnSpc>
                <a:spcPts val="2408"/>
              </a:lnSpc>
              <a:buFont typeface="Arial"/>
              <a:buChar char="•"/>
            </a:pPr>
            <a:r>
              <a:rPr lang="en-US" sz="1720">
                <a:solidFill>
                  <a:srgbClr val="000000"/>
                </a:solidFill>
                <a:latin typeface="Times New Roman"/>
                <a:ea typeface="Times New Roman"/>
                <a:cs typeface="Times New Roman"/>
                <a:sym typeface="Times New Roman"/>
              </a:rPr>
              <a:t>Shows classes, attributes, methods, and relationship</a:t>
            </a:r>
          </a:p>
          <a:p>
            <a:pPr algn="l">
              <a:lnSpc>
                <a:spcPts val="2408"/>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grpSp>
        <p:nvGrpSpPr>
          <p:cNvPr name="Group 2" id="2"/>
          <p:cNvGrpSpPr/>
          <p:nvPr/>
        </p:nvGrpSpPr>
        <p:grpSpPr>
          <a:xfrm rot="0">
            <a:off x="2487706" y="1403369"/>
            <a:ext cx="13346210" cy="7508249"/>
            <a:chOff x="0" y="0"/>
            <a:chExt cx="13445071" cy="7563866"/>
          </a:xfrm>
        </p:grpSpPr>
        <p:sp>
          <p:nvSpPr>
            <p:cNvPr name="Freeform 3" id="3"/>
            <p:cNvSpPr/>
            <p:nvPr/>
          </p:nvSpPr>
          <p:spPr>
            <a:xfrm flipH="false" flipV="false" rot="0">
              <a:off x="0" y="0"/>
              <a:ext cx="13445110" cy="7563866"/>
            </a:xfrm>
            <a:custGeom>
              <a:avLst/>
              <a:gdLst/>
              <a:ahLst/>
              <a:cxnLst/>
              <a:rect r="r" b="b" t="t" l="l"/>
              <a:pathLst>
                <a:path h="7563866" w="13445110">
                  <a:moveTo>
                    <a:pt x="0" y="0"/>
                  </a:moveTo>
                  <a:lnTo>
                    <a:pt x="13445110" y="0"/>
                  </a:lnTo>
                  <a:lnTo>
                    <a:pt x="13445110" y="7563866"/>
                  </a:lnTo>
                  <a:lnTo>
                    <a:pt x="0" y="7563866"/>
                  </a:lnTo>
                  <a:lnTo>
                    <a:pt x="0" y="0"/>
                  </a:lnTo>
                  <a:close/>
                </a:path>
              </a:pathLst>
            </a:custGeom>
            <a:blipFill>
              <a:blip r:embed="rId2"/>
              <a:stretch>
                <a:fillRect l="0" t="0" r="0" b="-115"/>
              </a:stretch>
            </a:blipFill>
          </p:spPr>
        </p:sp>
      </p:grpSp>
      <p:sp>
        <p:nvSpPr>
          <p:cNvPr name="Freeform 4" id="4"/>
          <p:cNvSpPr/>
          <p:nvPr/>
        </p:nvSpPr>
        <p:spPr>
          <a:xfrm flipH="false" flipV="false" rot="0">
            <a:off x="3091034" y="2786183"/>
            <a:ext cx="5915058" cy="5338666"/>
          </a:xfrm>
          <a:custGeom>
            <a:avLst/>
            <a:gdLst/>
            <a:ahLst/>
            <a:cxnLst/>
            <a:rect r="r" b="b" t="t" l="l"/>
            <a:pathLst>
              <a:path h="5338666" w="5915058">
                <a:moveTo>
                  <a:pt x="0" y="0"/>
                </a:moveTo>
                <a:lnTo>
                  <a:pt x="5915058" y="0"/>
                </a:lnTo>
                <a:lnTo>
                  <a:pt x="5915058" y="5338666"/>
                </a:lnTo>
                <a:lnTo>
                  <a:pt x="0" y="5338666"/>
                </a:lnTo>
                <a:lnTo>
                  <a:pt x="0" y="0"/>
                </a:lnTo>
                <a:close/>
              </a:path>
            </a:pathLst>
          </a:custGeom>
          <a:blipFill>
            <a:blip r:embed="rId3"/>
            <a:stretch>
              <a:fillRect l="0" t="0" r="-423" b="0"/>
            </a:stretch>
          </a:blipFill>
        </p:spPr>
      </p:sp>
      <p:sp>
        <p:nvSpPr>
          <p:cNvPr name="TextBox 5" id="5"/>
          <p:cNvSpPr txBox="true"/>
          <p:nvPr/>
        </p:nvSpPr>
        <p:spPr>
          <a:xfrm rot="0">
            <a:off x="4880396" y="8401204"/>
            <a:ext cx="9087342" cy="313133"/>
          </a:xfrm>
          <a:prstGeom prst="rect">
            <a:avLst/>
          </a:prstGeom>
        </p:spPr>
        <p:txBody>
          <a:bodyPr anchor="t" rtlCol="false" tIns="0" lIns="0" bIns="0" rIns="0">
            <a:spAutoFit/>
          </a:bodyPr>
          <a:lstStyle/>
          <a:p>
            <a:pPr algn="ctr">
              <a:lnSpc>
                <a:spcPts val="2149"/>
              </a:lnSpc>
            </a:pPr>
            <a:r>
              <a:rPr lang="en-US" sz="1724">
                <a:solidFill>
                  <a:srgbClr val="757575"/>
                </a:solidFill>
                <a:latin typeface="Calibri (MS)"/>
                <a:ea typeface="Calibri (MS)"/>
                <a:cs typeface="Calibri (MS)"/>
                <a:sym typeface="Calibri (MS)"/>
              </a:rPr>
              <a:t>Department of Computer Science and Engineering</a:t>
            </a:r>
          </a:p>
        </p:txBody>
      </p:sp>
      <p:sp>
        <p:nvSpPr>
          <p:cNvPr name="TextBox 6" id="6"/>
          <p:cNvSpPr txBox="true"/>
          <p:nvPr/>
        </p:nvSpPr>
        <p:spPr>
          <a:xfrm rot="0">
            <a:off x="3202085" y="8412084"/>
            <a:ext cx="1052363" cy="302254"/>
          </a:xfrm>
          <a:prstGeom prst="rect">
            <a:avLst/>
          </a:prstGeom>
        </p:spPr>
        <p:txBody>
          <a:bodyPr anchor="t" rtlCol="false" tIns="0" lIns="0" bIns="0" rIns="0">
            <a:spAutoFit/>
          </a:bodyPr>
          <a:lstStyle/>
          <a:p>
            <a:pPr algn="l">
              <a:lnSpc>
                <a:spcPts val="2149"/>
              </a:lnSpc>
            </a:pPr>
            <a:r>
              <a:rPr lang="en-US" sz="1724" i="true">
                <a:solidFill>
                  <a:srgbClr val="757575"/>
                </a:solidFill>
                <a:latin typeface="Calibri (MS) Italics"/>
                <a:ea typeface="Calibri (MS) Italics"/>
                <a:cs typeface="Calibri (MS) Italics"/>
                <a:sym typeface="Calibri (MS) Italics"/>
              </a:rPr>
              <a:t>21</a:t>
            </a:r>
            <a:r>
              <a:rPr lang="en-US" sz="1724" i="true">
                <a:solidFill>
                  <a:srgbClr val="757575"/>
                </a:solidFill>
                <a:latin typeface="Calibri (MS) Italics"/>
                <a:ea typeface="Calibri (MS) Italics"/>
                <a:cs typeface="Calibri (MS) Italics"/>
                <a:sym typeface="Calibri (MS) Italics"/>
              </a:rPr>
              <a:t>.01.2026</a:t>
            </a:r>
          </a:p>
        </p:txBody>
      </p:sp>
      <p:sp>
        <p:nvSpPr>
          <p:cNvPr name="TextBox 7" id="7"/>
          <p:cNvSpPr txBox="true"/>
          <p:nvPr/>
        </p:nvSpPr>
        <p:spPr>
          <a:xfrm rot="0">
            <a:off x="5519085" y="1664279"/>
            <a:ext cx="5421338" cy="709893"/>
          </a:xfrm>
          <a:prstGeom prst="rect">
            <a:avLst/>
          </a:prstGeom>
        </p:spPr>
        <p:txBody>
          <a:bodyPr anchor="t" rtlCol="false" tIns="0" lIns="0" bIns="0" rIns="0">
            <a:spAutoFit/>
          </a:bodyPr>
          <a:lstStyle/>
          <a:p>
            <a:pPr algn="ctr">
              <a:lnSpc>
                <a:spcPts val="5558"/>
              </a:lnSpc>
            </a:pPr>
            <a:r>
              <a:rPr lang="en-US" sz="3970" b="true">
                <a:solidFill>
                  <a:srgbClr val="000000"/>
                </a:solidFill>
                <a:latin typeface="Times New Roman Bold"/>
                <a:ea typeface="Times New Roman Bold"/>
                <a:cs typeface="Times New Roman Bold"/>
                <a:sym typeface="Times New Roman Bold"/>
              </a:rPr>
              <a:t>SEQUENCE DIAGRAM</a:t>
            </a:r>
          </a:p>
        </p:txBody>
      </p:sp>
      <p:sp>
        <p:nvSpPr>
          <p:cNvPr name="TextBox 8" id="8"/>
          <p:cNvSpPr txBox="true"/>
          <p:nvPr/>
        </p:nvSpPr>
        <p:spPr>
          <a:xfrm rot="0">
            <a:off x="9236451" y="2738558"/>
            <a:ext cx="6016766" cy="5572684"/>
          </a:xfrm>
          <a:prstGeom prst="rect">
            <a:avLst/>
          </a:prstGeom>
        </p:spPr>
        <p:txBody>
          <a:bodyPr anchor="t" rtlCol="false" tIns="0" lIns="0" bIns="0" rIns="0">
            <a:spAutoFit/>
          </a:bodyPr>
          <a:lstStyle/>
          <a:p>
            <a:pPr algn="l" marL="400057" indent="-200029" lvl="1">
              <a:lnSpc>
                <a:spcPts val="2594"/>
              </a:lnSpc>
              <a:buFont typeface="Arial"/>
              <a:buChar char="•"/>
            </a:pPr>
            <a:r>
              <a:rPr lang="en-US" sz="1852">
                <a:solidFill>
                  <a:srgbClr val="000000"/>
                </a:solidFill>
                <a:latin typeface="Times New Roman"/>
                <a:ea typeface="Times New Roman"/>
                <a:cs typeface="Times New Roman"/>
                <a:sym typeface="Times New Roman"/>
              </a:rPr>
              <a:t>Represents</a:t>
            </a:r>
            <a:r>
              <a:rPr lang="en-US" sz="1852">
                <a:solidFill>
                  <a:srgbClr val="000000"/>
                </a:solidFill>
                <a:latin typeface="Times New Roman"/>
                <a:ea typeface="Times New Roman"/>
                <a:cs typeface="Times New Roman"/>
                <a:sym typeface="Times New Roman"/>
              </a:rPr>
              <a:t> the interaction flow over time</a:t>
            </a:r>
          </a:p>
          <a:p>
            <a:pPr algn="l" marL="400057" indent="-200029" lvl="1">
              <a:lnSpc>
                <a:spcPts val="2594"/>
              </a:lnSpc>
              <a:buFont typeface="Arial"/>
              <a:buChar char="•"/>
            </a:pPr>
            <a:r>
              <a:rPr lang="en-US" sz="1852">
                <a:solidFill>
                  <a:srgbClr val="000000"/>
                </a:solidFill>
                <a:latin typeface="Times New Roman"/>
                <a:ea typeface="Times New Roman"/>
                <a:cs typeface="Times New Roman"/>
                <a:sym typeface="Times New Roman"/>
              </a:rPr>
              <a:t>Shows order of messages between system components</a:t>
            </a:r>
          </a:p>
          <a:p>
            <a:pPr algn="l" marL="400057" indent="-200029" lvl="1">
              <a:lnSpc>
                <a:spcPts val="2594"/>
              </a:lnSpc>
              <a:buFont typeface="Arial"/>
              <a:buChar char="•"/>
            </a:pPr>
            <a:r>
              <a:rPr lang="en-US" sz="1852">
                <a:solidFill>
                  <a:srgbClr val="000000"/>
                </a:solidFill>
                <a:latin typeface="Times New Roman"/>
                <a:ea typeface="Times New Roman"/>
                <a:cs typeface="Times New Roman"/>
                <a:sym typeface="Times New Roman"/>
              </a:rPr>
              <a:t>Helps in understanding runtime behavior</a:t>
            </a:r>
          </a:p>
          <a:p>
            <a:pPr algn="l">
              <a:lnSpc>
                <a:spcPts val="2594"/>
              </a:lnSpc>
            </a:pPr>
          </a:p>
          <a:p>
            <a:pPr algn="l">
              <a:lnSpc>
                <a:spcPts val="2594"/>
              </a:lnSpc>
            </a:pPr>
            <a:r>
              <a:rPr lang="en-US" b="true" sz="1852">
                <a:solidFill>
                  <a:srgbClr val="000000"/>
                </a:solidFill>
                <a:latin typeface="Times New Roman Bold"/>
                <a:ea typeface="Times New Roman Bold"/>
                <a:cs typeface="Times New Roman Bold"/>
                <a:sym typeface="Times New Roman Bold"/>
              </a:rPr>
              <a:t>Main participants:</a:t>
            </a:r>
          </a:p>
          <a:p>
            <a:pPr algn="l" marL="400057" indent="-200029" lvl="1">
              <a:lnSpc>
                <a:spcPts val="2594"/>
              </a:lnSpc>
              <a:buFont typeface="Arial"/>
              <a:buChar char="•"/>
            </a:pPr>
            <a:r>
              <a:rPr lang="en-US" sz="1852">
                <a:solidFill>
                  <a:srgbClr val="000000"/>
                </a:solidFill>
                <a:latin typeface="Times New Roman"/>
                <a:ea typeface="Times New Roman"/>
                <a:cs typeface="Times New Roman"/>
                <a:sym typeface="Times New Roman"/>
              </a:rPr>
              <a:t>User</a:t>
            </a:r>
          </a:p>
          <a:p>
            <a:pPr algn="l" marL="400057" indent="-200029" lvl="1">
              <a:lnSpc>
                <a:spcPts val="2594"/>
              </a:lnSpc>
              <a:buFont typeface="Arial"/>
              <a:buChar char="•"/>
            </a:pPr>
            <a:r>
              <a:rPr lang="en-US" sz="1852">
                <a:solidFill>
                  <a:srgbClr val="000000"/>
                </a:solidFill>
                <a:latin typeface="Times New Roman"/>
                <a:ea typeface="Times New Roman"/>
                <a:cs typeface="Times New Roman"/>
                <a:sym typeface="Times New Roman"/>
              </a:rPr>
              <a:t>Web UI</a:t>
            </a:r>
          </a:p>
          <a:p>
            <a:pPr algn="l" marL="400057" indent="-200029" lvl="1">
              <a:lnSpc>
                <a:spcPts val="2594"/>
              </a:lnSpc>
              <a:buFont typeface="Arial"/>
              <a:buChar char="•"/>
            </a:pPr>
            <a:r>
              <a:rPr lang="en-US" sz="1852">
                <a:solidFill>
                  <a:srgbClr val="000000"/>
                </a:solidFill>
                <a:latin typeface="Times New Roman"/>
                <a:ea typeface="Times New Roman"/>
                <a:cs typeface="Times New Roman"/>
                <a:sym typeface="Times New Roman"/>
              </a:rPr>
              <a:t>Backend Server</a:t>
            </a:r>
          </a:p>
          <a:p>
            <a:pPr algn="l" marL="400057" indent="-200029" lvl="1">
              <a:lnSpc>
                <a:spcPts val="2594"/>
              </a:lnSpc>
              <a:buFont typeface="Arial"/>
              <a:buChar char="•"/>
            </a:pPr>
            <a:r>
              <a:rPr lang="en-US" sz="1852">
                <a:solidFill>
                  <a:srgbClr val="000000"/>
                </a:solidFill>
                <a:latin typeface="Times New Roman"/>
                <a:ea typeface="Times New Roman"/>
                <a:cs typeface="Times New Roman"/>
                <a:sym typeface="Times New Roman"/>
              </a:rPr>
              <a:t>Recommendation Engine</a:t>
            </a:r>
          </a:p>
          <a:p>
            <a:pPr algn="l" marL="400057" indent="-200029" lvl="1">
              <a:lnSpc>
                <a:spcPts val="2594"/>
              </a:lnSpc>
              <a:buFont typeface="Arial"/>
              <a:buChar char="•"/>
            </a:pPr>
            <a:r>
              <a:rPr lang="en-US" sz="1852">
                <a:solidFill>
                  <a:srgbClr val="000000"/>
                </a:solidFill>
                <a:latin typeface="Times New Roman"/>
                <a:ea typeface="Times New Roman"/>
                <a:cs typeface="Times New Roman"/>
                <a:sym typeface="Times New Roman"/>
              </a:rPr>
              <a:t>Skill Graph Database (Neo4j)</a:t>
            </a:r>
          </a:p>
          <a:p>
            <a:pPr algn="l">
              <a:lnSpc>
                <a:spcPts val="2594"/>
              </a:lnSpc>
            </a:pPr>
            <a:r>
              <a:rPr lang="en-US" sz="1852">
                <a:solidFill>
                  <a:srgbClr val="000000"/>
                </a:solidFill>
                <a:latin typeface="Times New Roman"/>
                <a:ea typeface="Times New Roman"/>
                <a:cs typeface="Times New Roman"/>
                <a:sym typeface="Times New Roman"/>
              </a:rPr>
              <a:t>S</a:t>
            </a:r>
            <a:r>
              <a:rPr lang="en-US" b="true" sz="1852">
                <a:solidFill>
                  <a:srgbClr val="000000"/>
                </a:solidFill>
                <a:latin typeface="Times New Roman Bold"/>
                <a:ea typeface="Times New Roman Bold"/>
                <a:cs typeface="Times New Roman Bold"/>
                <a:sym typeface="Times New Roman Bold"/>
              </a:rPr>
              <a:t>equence flow:</a:t>
            </a:r>
          </a:p>
          <a:p>
            <a:pPr algn="l" marL="400057" indent="-200029" lvl="1">
              <a:lnSpc>
                <a:spcPts val="2594"/>
              </a:lnSpc>
              <a:buFont typeface="Arial"/>
              <a:buChar char="•"/>
            </a:pPr>
            <a:r>
              <a:rPr lang="en-US" sz="1852">
                <a:solidFill>
                  <a:srgbClr val="000000"/>
                </a:solidFill>
                <a:latin typeface="Times New Roman"/>
                <a:ea typeface="Times New Roman"/>
                <a:cs typeface="Times New Roman"/>
                <a:sym typeface="Times New Roman"/>
              </a:rPr>
              <a:t>User submits skills and career goal</a:t>
            </a:r>
          </a:p>
          <a:p>
            <a:pPr algn="l" marL="400057" indent="-200029" lvl="1">
              <a:lnSpc>
                <a:spcPts val="2594"/>
              </a:lnSpc>
              <a:buFont typeface="Arial"/>
              <a:buChar char="•"/>
            </a:pPr>
            <a:r>
              <a:rPr lang="en-US" sz="1852">
                <a:solidFill>
                  <a:srgbClr val="000000"/>
                </a:solidFill>
                <a:latin typeface="Times New Roman"/>
                <a:ea typeface="Times New Roman"/>
                <a:cs typeface="Times New Roman"/>
                <a:sym typeface="Times New Roman"/>
              </a:rPr>
              <a:t>Backend validates input and fetches skill graph</a:t>
            </a:r>
          </a:p>
          <a:p>
            <a:pPr algn="l" marL="400057" indent="-200029" lvl="1">
              <a:lnSpc>
                <a:spcPts val="2594"/>
              </a:lnSpc>
              <a:buFont typeface="Arial"/>
              <a:buChar char="•"/>
            </a:pPr>
            <a:r>
              <a:rPr lang="en-US" sz="1852">
                <a:solidFill>
                  <a:srgbClr val="000000"/>
                </a:solidFill>
                <a:latin typeface="Times New Roman"/>
                <a:ea typeface="Times New Roman"/>
                <a:cs typeface="Times New Roman"/>
                <a:sym typeface="Times New Roman"/>
              </a:rPr>
              <a:t>Recommendation engine performs gap analysis</a:t>
            </a:r>
          </a:p>
          <a:p>
            <a:pPr algn="l" marL="400057" indent="-200029" lvl="1">
              <a:lnSpc>
                <a:spcPts val="2594"/>
              </a:lnSpc>
              <a:buFont typeface="Arial"/>
              <a:buChar char="•"/>
            </a:pPr>
            <a:r>
              <a:rPr lang="en-US" sz="1852">
                <a:solidFill>
                  <a:srgbClr val="000000"/>
                </a:solidFill>
                <a:latin typeface="Times New Roman"/>
                <a:ea typeface="Times New Roman"/>
                <a:cs typeface="Times New Roman"/>
                <a:sym typeface="Times New Roman"/>
              </a:rPr>
              <a:t>Pathfinding algorithm generates learning path</a:t>
            </a:r>
          </a:p>
          <a:p>
            <a:pPr algn="l" marL="400057" indent="-200029" lvl="1">
              <a:lnSpc>
                <a:spcPts val="2594"/>
              </a:lnSpc>
              <a:buFont typeface="Arial"/>
              <a:buChar char="•"/>
            </a:pPr>
            <a:r>
              <a:rPr lang="en-US" sz="1852">
                <a:solidFill>
                  <a:srgbClr val="000000"/>
                </a:solidFill>
                <a:latin typeface="Times New Roman"/>
                <a:ea typeface="Times New Roman"/>
                <a:cs typeface="Times New Roman"/>
                <a:sym typeface="Times New Roman"/>
              </a:rPr>
              <a:t>Result is returned and displayed to the user</a:t>
            </a:r>
          </a:p>
          <a:p>
            <a:pPr algn="l">
              <a:lnSpc>
                <a:spcPts val="2594"/>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grpSp>
        <p:nvGrpSpPr>
          <p:cNvPr name="Group 2" id="2"/>
          <p:cNvGrpSpPr/>
          <p:nvPr/>
        </p:nvGrpSpPr>
        <p:grpSpPr>
          <a:xfrm rot="0">
            <a:off x="2487706" y="1403369"/>
            <a:ext cx="13346210" cy="7508249"/>
            <a:chOff x="0" y="0"/>
            <a:chExt cx="13445071" cy="7563866"/>
          </a:xfrm>
        </p:grpSpPr>
        <p:sp>
          <p:nvSpPr>
            <p:cNvPr name="Freeform 3" id="3"/>
            <p:cNvSpPr/>
            <p:nvPr/>
          </p:nvSpPr>
          <p:spPr>
            <a:xfrm flipH="false" flipV="false" rot="0">
              <a:off x="0" y="0"/>
              <a:ext cx="13445110" cy="7563866"/>
            </a:xfrm>
            <a:custGeom>
              <a:avLst/>
              <a:gdLst/>
              <a:ahLst/>
              <a:cxnLst/>
              <a:rect r="r" b="b" t="t" l="l"/>
              <a:pathLst>
                <a:path h="7563866" w="13445110">
                  <a:moveTo>
                    <a:pt x="0" y="0"/>
                  </a:moveTo>
                  <a:lnTo>
                    <a:pt x="13445110" y="0"/>
                  </a:lnTo>
                  <a:lnTo>
                    <a:pt x="13445110" y="7563866"/>
                  </a:lnTo>
                  <a:lnTo>
                    <a:pt x="0" y="7563866"/>
                  </a:lnTo>
                  <a:lnTo>
                    <a:pt x="0" y="0"/>
                  </a:lnTo>
                  <a:close/>
                </a:path>
              </a:pathLst>
            </a:custGeom>
            <a:blipFill>
              <a:blip r:embed="rId2"/>
              <a:stretch>
                <a:fillRect l="0" t="0" r="0" b="-115"/>
              </a:stretch>
            </a:blipFill>
          </p:spPr>
        </p:sp>
      </p:grpSp>
      <p:sp>
        <p:nvSpPr>
          <p:cNvPr name="Freeform 4" id="4"/>
          <p:cNvSpPr/>
          <p:nvPr/>
        </p:nvSpPr>
        <p:spPr>
          <a:xfrm flipH="false" flipV="false" rot="0">
            <a:off x="2926644" y="2449812"/>
            <a:ext cx="1803781" cy="5999017"/>
          </a:xfrm>
          <a:custGeom>
            <a:avLst/>
            <a:gdLst/>
            <a:ahLst/>
            <a:cxnLst/>
            <a:rect r="r" b="b" t="t" l="l"/>
            <a:pathLst>
              <a:path h="5999017" w="1803781">
                <a:moveTo>
                  <a:pt x="0" y="0"/>
                </a:moveTo>
                <a:lnTo>
                  <a:pt x="1803781" y="0"/>
                </a:lnTo>
                <a:lnTo>
                  <a:pt x="1803781" y="5999017"/>
                </a:lnTo>
                <a:lnTo>
                  <a:pt x="0" y="5999017"/>
                </a:lnTo>
                <a:lnTo>
                  <a:pt x="0" y="0"/>
                </a:lnTo>
                <a:close/>
              </a:path>
            </a:pathLst>
          </a:custGeom>
          <a:blipFill>
            <a:blip r:embed="rId3"/>
            <a:stretch>
              <a:fillRect l="0" t="0" r="-4120" b="0"/>
            </a:stretch>
          </a:blipFill>
        </p:spPr>
      </p:sp>
      <p:sp>
        <p:nvSpPr>
          <p:cNvPr name="TextBox 5" id="5"/>
          <p:cNvSpPr txBox="true"/>
          <p:nvPr/>
        </p:nvSpPr>
        <p:spPr>
          <a:xfrm rot="0">
            <a:off x="4880396" y="8401204"/>
            <a:ext cx="9087342" cy="313133"/>
          </a:xfrm>
          <a:prstGeom prst="rect">
            <a:avLst/>
          </a:prstGeom>
        </p:spPr>
        <p:txBody>
          <a:bodyPr anchor="t" rtlCol="false" tIns="0" lIns="0" bIns="0" rIns="0">
            <a:spAutoFit/>
          </a:bodyPr>
          <a:lstStyle/>
          <a:p>
            <a:pPr algn="ctr">
              <a:lnSpc>
                <a:spcPts val="2149"/>
              </a:lnSpc>
            </a:pPr>
            <a:r>
              <a:rPr lang="en-US" sz="1724">
                <a:solidFill>
                  <a:srgbClr val="757575"/>
                </a:solidFill>
                <a:latin typeface="Calibri (MS)"/>
                <a:ea typeface="Calibri (MS)"/>
                <a:cs typeface="Calibri (MS)"/>
                <a:sym typeface="Calibri (MS)"/>
              </a:rPr>
              <a:t>Department of Computer Science and Engineering</a:t>
            </a:r>
          </a:p>
        </p:txBody>
      </p:sp>
      <p:sp>
        <p:nvSpPr>
          <p:cNvPr name="TextBox 6" id="6"/>
          <p:cNvSpPr txBox="true"/>
          <p:nvPr/>
        </p:nvSpPr>
        <p:spPr>
          <a:xfrm rot="0">
            <a:off x="3202085" y="8412084"/>
            <a:ext cx="1052363" cy="302254"/>
          </a:xfrm>
          <a:prstGeom prst="rect">
            <a:avLst/>
          </a:prstGeom>
        </p:spPr>
        <p:txBody>
          <a:bodyPr anchor="t" rtlCol="false" tIns="0" lIns="0" bIns="0" rIns="0">
            <a:spAutoFit/>
          </a:bodyPr>
          <a:lstStyle/>
          <a:p>
            <a:pPr algn="l">
              <a:lnSpc>
                <a:spcPts val="2149"/>
              </a:lnSpc>
            </a:pPr>
            <a:r>
              <a:rPr lang="en-US" sz="1724" i="true">
                <a:solidFill>
                  <a:srgbClr val="757575"/>
                </a:solidFill>
                <a:latin typeface="Calibri (MS) Italics"/>
                <a:ea typeface="Calibri (MS) Italics"/>
                <a:cs typeface="Calibri (MS) Italics"/>
                <a:sym typeface="Calibri (MS) Italics"/>
              </a:rPr>
              <a:t>21</a:t>
            </a:r>
            <a:r>
              <a:rPr lang="en-US" sz="1724" i="true">
                <a:solidFill>
                  <a:srgbClr val="757575"/>
                </a:solidFill>
                <a:latin typeface="Calibri (MS) Italics"/>
                <a:ea typeface="Calibri (MS) Italics"/>
                <a:cs typeface="Calibri (MS) Italics"/>
                <a:sym typeface="Calibri (MS) Italics"/>
              </a:rPr>
              <a:t>.01.2026</a:t>
            </a:r>
          </a:p>
        </p:txBody>
      </p:sp>
      <p:sp>
        <p:nvSpPr>
          <p:cNvPr name="TextBox 7" id="7"/>
          <p:cNvSpPr txBox="true"/>
          <p:nvPr/>
        </p:nvSpPr>
        <p:spPr>
          <a:xfrm rot="0">
            <a:off x="5654606" y="1664279"/>
            <a:ext cx="5150296" cy="709893"/>
          </a:xfrm>
          <a:prstGeom prst="rect">
            <a:avLst/>
          </a:prstGeom>
        </p:spPr>
        <p:txBody>
          <a:bodyPr anchor="t" rtlCol="false" tIns="0" lIns="0" bIns="0" rIns="0">
            <a:spAutoFit/>
          </a:bodyPr>
          <a:lstStyle/>
          <a:p>
            <a:pPr algn="ctr">
              <a:lnSpc>
                <a:spcPts val="5558"/>
              </a:lnSpc>
            </a:pPr>
            <a:r>
              <a:rPr lang="en-US" sz="3970" b="true">
                <a:solidFill>
                  <a:srgbClr val="000000"/>
                </a:solidFill>
                <a:latin typeface="Times New Roman Bold"/>
                <a:ea typeface="Times New Roman Bold"/>
                <a:cs typeface="Times New Roman Bold"/>
                <a:sym typeface="Times New Roman Bold"/>
              </a:rPr>
              <a:t>ACTIVITY DIAGRAM</a:t>
            </a:r>
          </a:p>
        </p:txBody>
      </p:sp>
      <p:sp>
        <p:nvSpPr>
          <p:cNvPr name="TextBox 8" id="8"/>
          <p:cNvSpPr txBox="true"/>
          <p:nvPr/>
        </p:nvSpPr>
        <p:spPr>
          <a:xfrm rot="0">
            <a:off x="5240372" y="2494992"/>
            <a:ext cx="6499499" cy="6072747"/>
          </a:xfrm>
          <a:prstGeom prst="rect">
            <a:avLst/>
          </a:prstGeom>
        </p:spPr>
        <p:txBody>
          <a:bodyPr anchor="t" rtlCol="false" tIns="0" lIns="0" bIns="0" rIns="0">
            <a:spAutoFit/>
          </a:bodyPr>
          <a:lstStyle/>
          <a:p>
            <a:pPr algn="l" marL="571503" indent="-285751" lvl="1">
              <a:lnSpc>
                <a:spcPts val="3705"/>
              </a:lnSpc>
              <a:buFont typeface="Arial"/>
              <a:buChar char="•"/>
            </a:pPr>
            <a:r>
              <a:rPr lang="en-US" sz="2647">
                <a:solidFill>
                  <a:srgbClr val="000000"/>
                </a:solidFill>
                <a:latin typeface="Times New Roman"/>
                <a:ea typeface="Times New Roman"/>
                <a:cs typeface="Times New Roman"/>
                <a:sym typeface="Times New Roman"/>
              </a:rPr>
              <a:t>Represents the workflow of the system</a:t>
            </a:r>
          </a:p>
          <a:p>
            <a:pPr algn="l" marL="571503" indent="-285751" lvl="1">
              <a:lnSpc>
                <a:spcPts val="3705"/>
              </a:lnSpc>
              <a:buFont typeface="Arial"/>
              <a:buChar char="•"/>
            </a:pPr>
            <a:r>
              <a:rPr lang="en-US" sz="2647">
                <a:solidFill>
                  <a:srgbClr val="000000"/>
                </a:solidFill>
                <a:latin typeface="Times New Roman"/>
                <a:ea typeface="Times New Roman"/>
                <a:cs typeface="Times New Roman"/>
                <a:sym typeface="Times New Roman"/>
              </a:rPr>
              <a:t>Shows step-by-step activities an</a:t>
            </a:r>
            <a:r>
              <a:rPr lang="en-US" sz="2647">
                <a:solidFill>
                  <a:srgbClr val="000000"/>
                </a:solidFill>
                <a:latin typeface="Times New Roman"/>
                <a:ea typeface="Times New Roman"/>
                <a:cs typeface="Times New Roman"/>
                <a:sym typeface="Times New Roman"/>
              </a:rPr>
              <a:t>d decisions</a:t>
            </a:r>
          </a:p>
          <a:p>
            <a:pPr algn="l" marL="571503" indent="-285751" lvl="1">
              <a:lnSpc>
                <a:spcPts val="3705"/>
              </a:lnSpc>
              <a:buFont typeface="Arial"/>
              <a:buChar char="•"/>
            </a:pPr>
            <a:r>
              <a:rPr lang="en-US" sz="2647">
                <a:solidFill>
                  <a:srgbClr val="000000"/>
                </a:solidFill>
                <a:latin typeface="Times New Roman"/>
                <a:ea typeface="Times New Roman"/>
                <a:cs typeface="Times New Roman"/>
                <a:sym typeface="Times New Roman"/>
              </a:rPr>
              <a:t>Includes decision points and loops</a:t>
            </a:r>
          </a:p>
          <a:p>
            <a:pPr algn="l" marL="571503" indent="-285751" lvl="1">
              <a:lnSpc>
                <a:spcPts val="3705"/>
              </a:lnSpc>
              <a:buFont typeface="Arial"/>
              <a:buChar char="•"/>
            </a:pPr>
            <a:r>
              <a:rPr lang="en-US" sz="2647">
                <a:solidFill>
                  <a:srgbClr val="000000"/>
                </a:solidFill>
                <a:latin typeface="Times New Roman"/>
                <a:ea typeface="Times New Roman"/>
                <a:cs typeface="Times New Roman"/>
                <a:sym typeface="Times New Roman"/>
              </a:rPr>
              <a:t>Helps in understanding overall process flow</a:t>
            </a:r>
          </a:p>
          <a:p>
            <a:pPr algn="l">
              <a:lnSpc>
                <a:spcPts val="3705"/>
              </a:lnSpc>
            </a:pPr>
          </a:p>
          <a:p>
            <a:pPr algn="l">
              <a:lnSpc>
                <a:spcPts val="3705"/>
              </a:lnSpc>
            </a:pPr>
            <a:r>
              <a:rPr lang="en-US" b="true" sz="2647">
                <a:solidFill>
                  <a:srgbClr val="000000"/>
                </a:solidFill>
                <a:latin typeface="Times New Roman Bold"/>
                <a:ea typeface="Times New Roman Bold"/>
                <a:cs typeface="Times New Roman Bold"/>
                <a:sym typeface="Times New Roman Bold"/>
              </a:rPr>
              <a:t>Major activities include:</a:t>
            </a:r>
          </a:p>
          <a:p>
            <a:pPr algn="l" marL="571503" indent="-285751" lvl="1">
              <a:lnSpc>
                <a:spcPts val="3705"/>
              </a:lnSpc>
              <a:buFont typeface="Arial"/>
              <a:buChar char="•"/>
            </a:pPr>
            <a:r>
              <a:rPr lang="en-US" sz="2647">
                <a:solidFill>
                  <a:srgbClr val="000000"/>
                </a:solidFill>
                <a:latin typeface="Times New Roman"/>
                <a:ea typeface="Times New Roman"/>
                <a:cs typeface="Times New Roman"/>
                <a:sym typeface="Times New Roman"/>
              </a:rPr>
              <a:t>User login and profile setup</a:t>
            </a:r>
          </a:p>
          <a:p>
            <a:pPr algn="l" marL="571503" indent="-285751" lvl="1">
              <a:lnSpc>
                <a:spcPts val="3705"/>
              </a:lnSpc>
              <a:buFont typeface="Arial"/>
              <a:buChar char="•"/>
            </a:pPr>
            <a:r>
              <a:rPr lang="en-US" sz="2647">
                <a:solidFill>
                  <a:srgbClr val="000000"/>
                </a:solidFill>
                <a:latin typeface="Times New Roman"/>
                <a:ea typeface="Times New Roman"/>
                <a:cs typeface="Times New Roman"/>
                <a:sym typeface="Times New Roman"/>
              </a:rPr>
              <a:t>Skill assessment and career goal selection</a:t>
            </a:r>
          </a:p>
          <a:p>
            <a:pPr algn="l" marL="571503" indent="-285751" lvl="1">
              <a:lnSpc>
                <a:spcPts val="3705"/>
              </a:lnSpc>
              <a:buFont typeface="Arial"/>
              <a:buChar char="•"/>
            </a:pPr>
            <a:r>
              <a:rPr lang="en-US" sz="2647">
                <a:solidFill>
                  <a:srgbClr val="000000"/>
                </a:solidFill>
                <a:latin typeface="Times New Roman"/>
                <a:ea typeface="Times New Roman"/>
                <a:cs typeface="Times New Roman"/>
                <a:sym typeface="Times New Roman"/>
              </a:rPr>
              <a:t>Skill gap analysis</a:t>
            </a:r>
          </a:p>
          <a:p>
            <a:pPr algn="l" marL="571503" indent="-285751" lvl="1">
              <a:lnSpc>
                <a:spcPts val="3705"/>
              </a:lnSpc>
              <a:buFont typeface="Arial"/>
              <a:buChar char="•"/>
            </a:pPr>
            <a:r>
              <a:rPr lang="en-US" sz="2647">
                <a:solidFill>
                  <a:srgbClr val="000000"/>
                </a:solidFill>
                <a:latin typeface="Times New Roman"/>
                <a:ea typeface="Times New Roman"/>
                <a:cs typeface="Times New Roman"/>
                <a:sym typeface="Times New Roman"/>
              </a:rPr>
              <a:t>Learning path generation</a:t>
            </a:r>
          </a:p>
          <a:p>
            <a:pPr algn="l" marL="571503" indent="-285751" lvl="1">
              <a:lnSpc>
                <a:spcPts val="3705"/>
              </a:lnSpc>
              <a:buFont typeface="Arial"/>
              <a:buChar char="•"/>
            </a:pPr>
            <a:r>
              <a:rPr lang="en-US" sz="2647">
                <a:solidFill>
                  <a:srgbClr val="000000"/>
                </a:solidFill>
                <a:latin typeface="Times New Roman"/>
                <a:ea typeface="Times New Roman"/>
                <a:cs typeface="Times New Roman"/>
                <a:sym typeface="Times New Roman"/>
              </a:rPr>
              <a:t>Skill graph visualization</a:t>
            </a:r>
          </a:p>
          <a:p>
            <a:pPr algn="l" marL="571503" indent="-285751" lvl="1">
              <a:lnSpc>
                <a:spcPts val="3705"/>
              </a:lnSpc>
              <a:buFont typeface="Arial"/>
              <a:buChar char="•"/>
            </a:pPr>
            <a:r>
              <a:rPr lang="en-US" sz="2647">
                <a:solidFill>
                  <a:srgbClr val="000000"/>
                </a:solidFill>
                <a:latin typeface="Times New Roman"/>
                <a:ea typeface="Times New Roman"/>
                <a:cs typeface="Times New Roman"/>
                <a:sym typeface="Times New Roman"/>
              </a:rPr>
              <a:t>Learning and progress tracking</a:t>
            </a:r>
          </a:p>
          <a:p>
            <a:pPr algn="l">
              <a:lnSpc>
                <a:spcPts val="3705"/>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grpSp>
        <p:nvGrpSpPr>
          <p:cNvPr name="Group 2" id="2"/>
          <p:cNvGrpSpPr/>
          <p:nvPr/>
        </p:nvGrpSpPr>
        <p:grpSpPr>
          <a:xfrm rot="0">
            <a:off x="2563346" y="1389375"/>
            <a:ext cx="13346210" cy="7508249"/>
            <a:chOff x="0" y="0"/>
            <a:chExt cx="13445071" cy="7563866"/>
          </a:xfrm>
        </p:grpSpPr>
        <p:sp>
          <p:nvSpPr>
            <p:cNvPr name="Freeform 3" id="3"/>
            <p:cNvSpPr/>
            <p:nvPr/>
          </p:nvSpPr>
          <p:spPr>
            <a:xfrm flipH="false" flipV="false" rot="0">
              <a:off x="0" y="0"/>
              <a:ext cx="13445110" cy="7563866"/>
            </a:xfrm>
            <a:custGeom>
              <a:avLst/>
              <a:gdLst/>
              <a:ahLst/>
              <a:cxnLst/>
              <a:rect r="r" b="b" t="t" l="l"/>
              <a:pathLst>
                <a:path h="7563866" w="13445110">
                  <a:moveTo>
                    <a:pt x="0" y="0"/>
                  </a:moveTo>
                  <a:lnTo>
                    <a:pt x="13445110" y="0"/>
                  </a:lnTo>
                  <a:lnTo>
                    <a:pt x="13445110" y="7563866"/>
                  </a:lnTo>
                  <a:lnTo>
                    <a:pt x="0" y="7563866"/>
                  </a:lnTo>
                  <a:lnTo>
                    <a:pt x="0" y="0"/>
                  </a:lnTo>
                  <a:close/>
                </a:path>
              </a:pathLst>
            </a:custGeom>
            <a:blipFill>
              <a:blip r:embed="rId2"/>
              <a:stretch>
                <a:fillRect l="0" t="0" r="0" b="-115"/>
              </a:stretch>
            </a:blipFill>
          </p:spPr>
        </p:sp>
      </p:grpSp>
      <p:sp>
        <p:nvSpPr>
          <p:cNvPr name="Freeform 4" id="4"/>
          <p:cNvSpPr/>
          <p:nvPr/>
        </p:nvSpPr>
        <p:spPr>
          <a:xfrm flipH="false" flipV="false" rot="0">
            <a:off x="2675719" y="2572728"/>
            <a:ext cx="5554035" cy="5669141"/>
          </a:xfrm>
          <a:custGeom>
            <a:avLst/>
            <a:gdLst/>
            <a:ahLst/>
            <a:cxnLst/>
            <a:rect r="r" b="b" t="t" l="l"/>
            <a:pathLst>
              <a:path h="5669141" w="5554035">
                <a:moveTo>
                  <a:pt x="0" y="0"/>
                </a:moveTo>
                <a:lnTo>
                  <a:pt x="5554035" y="0"/>
                </a:lnTo>
                <a:lnTo>
                  <a:pt x="5554035" y="5669142"/>
                </a:lnTo>
                <a:lnTo>
                  <a:pt x="0" y="5669142"/>
                </a:lnTo>
                <a:lnTo>
                  <a:pt x="0" y="0"/>
                </a:lnTo>
                <a:close/>
              </a:path>
            </a:pathLst>
          </a:custGeom>
          <a:blipFill>
            <a:blip r:embed="rId3"/>
            <a:stretch>
              <a:fillRect l="-1266" t="0" r="-1318" b="0"/>
            </a:stretch>
          </a:blipFill>
        </p:spPr>
      </p:sp>
      <p:sp>
        <p:nvSpPr>
          <p:cNvPr name="TextBox 5" id="5"/>
          <p:cNvSpPr txBox="true"/>
          <p:nvPr/>
        </p:nvSpPr>
        <p:spPr>
          <a:xfrm rot="0">
            <a:off x="4880396" y="8401204"/>
            <a:ext cx="9087342" cy="313133"/>
          </a:xfrm>
          <a:prstGeom prst="rect">
            <a:avLst/>
          </a:prstGeom>
        </p:spPr>
        <p:txBody>
          <a:bodyPr anchor="t" rtlCol="false" tIns="0" lIns="0" bIns="0" rIns="0">
            <a:spAutoFit/>
          </a:bodyPr>
          <a:lstStyle/>
          <a:p>
            <a:pPr algn="ctr">
              <a:lnSpc>
                <a:spcPts val="2149"/>
              </a:lnSpc>
            </a:pPr>
            <a:r>
              <a:rPr lang="en-US" sz="1724">
                <a:solidFill>
                  <a:srgbClr val="757575"/>
                </a:solidFill>
                <a:latin typeface="Calibri (MS)"/>
                <a:ea typeface="Calibri (MS)"/>
                <a:cs typeface="Calibri (MS)"/>
                <a:sym typeface="Calibri (MS)"/>
              </a:rPr>
              <a:t>Department of Computer Science and Engineering</a:t>
            </a:r>
          </a:p>
        </p:txBody>
      </p:sp>
      <p:sp>
        <p:nvSpPr>
          <p:cNvPr name="TextBox 6" id="6"/>
          <p:cNvSpPr txBox="true"/>
          <p:nvPr/>
        </p:nvSpPr>
        <p:spPr>
          <a:xfrm rot="0">
            <a:off x="3202085" y="8412084"/>
            <a:ext cx="1052363" cy="302254"/>
          </a:xfrm>
          <a:prstGeom prst="rect">
            <a:avLst/>
          </a:prstGeom>
        </p:spPr>
        <p:txBody>
          <a:bodyPr anchor="t" rtlCol="false" tIns="0" lIns="0" bIns="0" rIns="0">
            <a:spAutoFit/>
          </a:bodyPr>
          <a:lstStyle/>
          <a:p>
            <a:pPr algn="l">
              <a:lnSpc>
                <a:spcPts val="2149"/>
              </a:lnSpc>
            </a:pPr>
            <a:r>
              <a:rPr lang="en-US" sz="1724" i="true">
                <a:solidFill>
                  <a:srgbClr val="757575"/>
                </a:solidFill>
                <a:latin typeface="Calibri (MS) Italics"/>
                <a:ea typeface="Calibri (MS) Italics"/>
                <a:cs typeface="Calibri (MS) Italics"/>
                <a:sym typeface="Calibri (MS) Italics"/>
              </a:rPr>
              <a:t>21</a:t>
            </a:r>
            <a:r>
              <a:rPr lang="en-US" sz="1724" i="true">
                <a:solidFill>
                  <a:srgbClr val="757575"/>
                </a:solidFill>
                <a:latin typeface="Calibri (MS) Italics"/>
                <a:ea typeface="Calibri (MS) Italics"/>
                <a:cs typeface="Calibri (MS) Italics"/>
                <a:sym typeface="Calibri (MS) Italics"/>
              </a:rPr>
              <a:t>.01.2026</a:t>
            </a:r>
          </a:p>
        </p:txBody>
      </p:sp>
      <p:sp>
        <p:nvSpPr>
          <p:cNvPr name="TextBox 7" id="7"/>
          <p:cNvSpPr txBox="true"/>
          <p:nvPr/>
        </p:nvSpPr>
        <p:spPr>
          <a:xfrm rot="0">
            <a:off x="6116767" y="1664279"/>
            <a:ext cx="4225975" cy="709893"/>
          </a:xfrm>
          <a:prstGeom prst="rect">
            <a:avLst/>
          </a:prstGeom>
        </p:spPr>
        <p:txBody>
          <a:bodyPr anchor="t" rtlCol="false" tIns="0" lIns="0" bIns="0" rIns="0">
            <a:spAutoFit/>
          </a:bodyPr>
          <a:lstStyle/>
          <a:p>
            <a:pPr algn="ctr">
              <a:lnSpc>
                <a:spcPts val="5558"/>
              </a:lnSpc>
            </a:pPr>
            <a:r>
              <a:rPr lang="en-US" sz="3970" b="true">
                <a:solidFill>
                  <a:srgbClr val="000000"/>
                </a:solidFill>
                <a:latin typeface="Times New Roman Bold"/>
                <a:ea typeface="Times New Roman Bold"/>
                <a:cs typeface="Times New Roman Bold"/>
                <a:sym typeface="Times New Roman Bold"/>
              </a:rPr>
              <a:t>STATE DIAGRAM</a:t>
            </a:r>
          </a:p>
        </p:txBody>
      </p:sp>
      <p:sp>
        <p:nvSpPr>
          <p:cNvPr name="TextBox 8" id="8"/>
          <p:cNvSpPr txBox="true"/>
          <p:nvPr/>
        </p:nvSpPr>
        <p:spPr>
          <a:xfrm rot="0">
            <a:off x="8024899" y="2420309"/>
            <a:ext cx="5942838" cy="6236913"/>
          </a:xfrm>
          <a:prstGeom prst="rect">
            <a:avLst/>
          </a:prstGeom>
        </p:spPr>
        <p:txBody>
          <a:bodyPr anchor="t" rtlCol="false" tIns="0" lIns="0" bIns="0" rIns="0">
            <a:spAutoFit/>
          </a:bodyPr>
          <a:lstStyle/>
          <a:p>
            <a:pPr algn="l" marL="514354" indent="-257177" lvl="1">
              <a:lnSpc>
                <a:spcPts val="3335"/>
              </a:lnSpc>
              <a:buFont typeface="Arial"/>
              <a:buChar char="•"/>
            </a:pPr>
            <a:r>
              <a:rPr lang="en-US" sz="2382">
                <a:solidFill>
                  <a:srgbClr val="000000"/>
                </a:solidFill>
                <a:latin typeface="Times New Roman"/>
                <a:ea typeface="Times New Roman"/>
                <a:cs typeface="Times New Roman"/>
                <a:sym typeface="Times New Roman"/>
              </a:rPr>
              <a:t>Represents </a:t>
            </a:r>
            <a:r>
              <a:rPr lang="en-US" sz="2382">
                <a:solidFill>
                  <a:srgbClr val="000000"/>
                </a:solidFill>
                <a:latin typeface="Times New Roman"/>
                <a:ea typeface="Times New Roman"/>
                <a:cs typeface="Times New Roman"/>
                <a:sym typeface="Times New Roman"/>
              </a:rPr>
              <a:t>different states of a skill</a:t>
            </a:r>
          </a:p>
          <a:p>
            <a:pPr algn="l" marL="514354" indent="-257177" lvl="1">
              <a:lnSpc>
                <a:spcPts val="3335"/>
              </a:lnSpc>
              <a:buFont typeface="Arial"/>
              <a:buChar char="•"/>
            </a:pPr>
            <a:r>
              <a:rPr lang="en-US" sz="2382">
                <a:solidFill>
                  <a:srgbClr val="000000"/>
                </a:solidFill>
                <a:latin typeface="Times New Roman"/>
                <a:ea typeface="Times New Roman"/>
                <a:cs typeface="Times New Roman"/>
                <a:sym typeface="Times New Roman"/>
              </a:rPr>
              <a:t>Shows state transitions based on user actions</a:t>
            </a:r>
          </a:p>
          <a:p>
            <a:pPr algn="l" marL="514354" indent="-257177" lvl="1">
              <a:lnSpc>
                <a:spcPts val="3335"/>
              </a:lnSpc>
              <a:buFont typeface="Arial"/>
              <a:buChar char="•"/>
            </a:pPr>
            <a:r>
              <a:rPr lang="en-US" sz="2382">
                <a:solidFill>
                  <a:srgbClr val="000000"/>
                </a:solidFill>
                <a:latin typeface="Times New Roman"/>
                <a:ea typeface="Times New Roman"/>
                <a:cs typeface="Times New Roman"/>
                <a:sym typeface="Times New Roman"/>
              </a:rPr>
              <a:t>Key states include:</a:t>
            </a:r>
          </a:p>
          <a:p>
            <a:pPr algn="l" marL="1028709" indent="-342903" lvl="2">
              <a:lnSpc>
                <a:spcPts val="3335"/>
              </a:lnSpc>
              <a:buFont typeface="Arial"/>
              <a:buChar char="⚬"/>
            </a:pPr>
            <a:r>
              <a:rPr lang="en-US" sz="2382">
                <a:solidFill>
                  <a:srgbClr val="000000"/>
                </a:solidFill>
                <a:latin typeface="Times New Roman"/>
                <a:ea typeface="Times New Roman"/>
                <a:cs typeface="Times New Roman"/>
                <a:sym typeface="Times New Roman"/>
              </a:rPr>
              <a:t>Not Learned</a:t>
            </a:r>
          </a:p>
          <a:p>
            <a:pPr algn="l" marL="1028709" indent="-342903" lvl="2">
              <a:lnSpc>
                <a:spcPts val="3335"/>
              </a:lnSpc>
              <a:buFont typeface="Arial"/>
              <a:buChar char="⚬"/>
            </a:pPr>
            <a:r>
              <a:rPr lang="en-US" sz="2382">
                <a:solidFill>
                  <a:srgbClr val="000000"/>
                </a:solidFill>
                <a:latin typeface="Times New Roman"/>
                <a:ea typeface="Times New Roman"/>
                <a:cs typeface="Times New Roman"/>
                <a:sym typeface="Times New Roman"/>
              </a:rPr>
              <a:t>In Progress</a:t>
            </a:r>
          </a:p>
          <a:p>
            <a:pPr algn="l" marL="1028709" indent="-342903" lvl="2">
              <a:lnSpc>
                <a:spcPts val="3335"/>
              </a:lnSpc>
              <a:buFont typeface="Arial"/>
              <a:buChar char="⚬"/>
            </a:pPr>
            <a:r>
              <a:rPr lang="en-US" sz="2382">
                <a:solidFill>
                  <a:srgbClr val="000000"/>
                </a:solidFill>
                <a:latin typeface="Times New Roman"/>
                <a:ea typeface="Times New Roman"/>
                <a:cs typeface="Times New Roman"/>
                <a:sym typeface="Times New Roman"/>
              </a:rPr>
              <a:t>Learned</a:t>
            </a:r>
          </a:p>
          <a:p>
            <a:pPr algn="l" marL="1028709" indent="-342903" lvl="2">
              <a:lnSpc>
                <a:spcPts val="3335"/>
              </a:lnSpc>
              <a:buFont typeface="Arial"/>
              <a:buChar char="⚬"/>
            </a:pPr>
            <a:r>
              <a:rPr lang="en-US" sz="2382">
                <a:solidFill>
                  <a:srgbClr val="000000"/>
                </a:solidFill>
                <a:latin typeface="Times New Roman"/>
                <a:ea typeface="Times New Roman"/>
                <a:cs typeface="Times New Roman"/>
                <a:sym typeface="Times New Roman"/>
              </a:rPr>
              <a:t>Needs Revision</a:t>
            </a:r>
          </a:p>
          <a:p>
            <a:pPr algn="l" marL="1028709" indent="-342903" lvl="2">
              <a:lnSpc>
                <a:spcPts val="3335"/>
              </a:lnSpc>
              <a:buFont typeface="Arial"/>
              <a:buChar char="⚬"/>
            </a:pPr>
            <a:r>
              <a:rPr lang="en-US" sz="2382">
                <a:solidFill>
                  <a:srgbClr val="000000"/>
                </a:solidFill>
                <a:latin typeface="Times New Roman"/>
                <a:ea typeface="Times New Roman"/>
                <a:cs typeface="Times New Roman"/>
                <a:sym typeface="Times New Roman"/>
              </a:rPr>
              <a:t>Needs Refresh</a:t>
            </a:r>
          </a:p>
          <a:p>
            <a:pPr algn="l" marL="514354" indent="-257177" lvl="1">
              <a:lnSpc>
                <a:spcPts val="3335"/>
              </a:lnSpc>
              <a:buFont typeface="Arial"/>
              <a:buChar char="•"/>
            </a:pPr>
            <a:r>
              <a:rPr lang="en-US" sz="2382">
                <a:solidFill>
                  <a:srgbClr val="000000"/>
                </a:solidFill>
                <a:latin typeface="Times New Roman"/>
                <a:ea typeface="Times New Roman"/>
                <a:cs typeface="Times New Roman"/>
                <a:sym typeface="Times New Roman"/>
              </a:rPr>
              <a:t>Transitions occur due to:</a:t>
            </a:r>
          </a:p>
          <a:p>
            <a:pPr algn="l" marL="1028709" indent="-342903" lvl="2">
              <a:lnSpc>
                <a:spcPts val="3335"/>
              </a:lnSpc>
              <a:buFont typeface="Arial"/>
              <a:buChar char="⚬"/>
            </a:pPr>
            <a:r>
              <a:rPr lang="en-US" sz="2382">
                <a:solidFill>
                  <a:srgbClr val="000000"/>
                </a:solidFill>
                <a:latin typeface="Times New Roman"/>
                <a:ea typeface="Times New Roman"/>
                <a:cs typeface="Times New Roman"/>
                <a:sym typeface="Times New Roman"/>
              </a:rPr>
              <a:t>Learning start</a:t>
            </a:r>
          </a:p>
          <a:p>
            <a:pPr algn="l" marL="1028709" indent="-342903" lvl="2">
              <a:lnSpc>
                <a:spcPts val="3335"/>
              </a:lnSpc>
              <a:buFont typeface="Arial"/>
              <a:buChar char="⚬"/>
            </a:pPr>
            <a:r>
              <a:rPr lang="en-US" sz="2382">
                <a:solidFill>
                  <a:srgbClr val="000000"/>
                </a:solidFill>
                <a:latin typeface="Times New Roman"/>
                <a:ea typeface="Times New Roman"/>
                <a:cs typeface="Times New Roman"/>
                <a:sym typeface="Times New Roman"/>
              </a:rPr>
              <a:t>Assessment result</a:t>
            </a:r>
          </a:p>
          <a:p>
            <a:pPr algn="l" marL="1028709" indent="-342903" lvl="2">
              <a:lnSpc>
                <a:spcPts val="3335"/>
              </a:lnSpc>
              <a:buFont typeface="Arial"/>
              <a:buChar char="⚬"/>
            </a:pPr>
            <a:r>
              <a:rPr lang="en-US" sz="2382">
                <a:solidFill>
                  <a:srgbClr val="000000"/>
                </a:solidFill>
                <a:latin typeface="Times New Roman"/>
                <a:ea typeface="Times New Roman"/>
                <a:cs typeface="Times New Roman"/>
                <a:sym typeface="Times New Roman"/>
              </a:rPr>
              <a:t>Skill decay</a:t>
            </a:r>
          </a:p>
          <a:p>
            <a:pPr algn="l" marL="1028709" indent="-342903" lvl="2">
              <a:lnSpc>
                <a:spcPts val="3335"/>
              </a:lnSpc>
              <a:buFont typeface="Arial"/>
              <a:buChar char="⚬"/>
            </a:pPr>
            <a:r>
              <a:rPr lang="en-US" sz="2382">
                <a:solidFill>
                  <a:srgbClr val="000000"/>
                </a:solidFill>
                <a:latin typeface="Times New Roman"/>
                <a:ea typeface="Times New Roman"/>
                <a:cs typeface="Times New Roman"/>
                <a:sym typeface="Times New Roman"/>
              </a:rPr>
              <a:t>Revision or refresh action</a:t>
            </a:r>
          </a:p>
          <a:p>
            <a:pPr algn="l" marL="514354" indent="-257177" lvl="1">
              <a:lnSpc>
                <a:spcPts val="3335"/>
              </a:lnSpc>
              <a:buFont typeface="Arial"/>
              <a:buChar char="•"/>
            </a:pPr>
            <a:r>
              <a:rPr lang="en-US" sz="2382">
                <a:solidFill>
                  <a:srgbClr val="000000"/>
                </a:solidFill>
                <a:latin typeface="Times New Roman"/>
                <a:ea typeface="Times New Roman"/>
                <a:cs typeface="Times New Roman"/>
                <a:sym typeface="Times New Roman"/>
              </a:rPr>
              <a:t>Helps in modeling skill lifecycle behavior</a:t>
            </a:r>
          </a:p>
          <a:p>
            <a:pPr algn="l">
              <a:lnSpc>
                <a:spcPts val="3335"/>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grpSp>
        <p:nvGrpSpPr>
          <p:cNvPr name="Group 2" id="2"/>
          <p:cNvGrpSpPr/>
          <p:nvPr/>
        </p:nvGrpSpPr>
        <p:grpSpPr>
          <a:xfrm rot="0">
            <a:off x="2563346" y="1389375"/>
            <a:ext cx="13346210" cy="7508249"/>
            <a:chOff x="0" y="0"/>
            <a:chExt cx="13445071" cy="7563866"/>
          </a:xfrm>
        </p:grpSpPr>
        <p:sp>
          <p:nvSpPr>
            <p:cNvPr name="Freeform 3" id="3"/>
            <p:cNvSpPr/>
            <p:nvPr/>
          </p:nvSpPr>
          <p:spPr>
            <a:xfrm flipH="false" flipV="false" rot="0">
              <a:off x="0" y="0"/>
              <a:ext cx="13445110" cy="7563866"/>
            </a:xfrm>
            <a:custGeom>
              <a:avLst/>
              <a:gdLst/>
              <a:ahLst/>
              <a:cxnLst/>
              <a:rect r="r" b="b" t="t" l="l"/>
              <a:pathLst>
                <a:path h="7563866" w="13445110">
                  <a:moveTo>
                    <a:pt x="0" y="0"/>
                  </a:moveTo>
                  <a:lnTo>
                    <a:pt x="13445110" y="0"/>
                  </a:lnTo>
                  <a:lnTo>
                    <a:pt x="13445110" y="7563866"/>
                  </a:lnTo>
                  <a:lnTo>
                    <a:pt x="0" y="7563866"/>
                  </a:lnTo>
                  <a:lnTo>
                    <a:pt x="0" y="0"/>
                  </a:lnTo>
                  <a:close/>
                </a:path>
              </a:pathLst>
            </a:custGeom>
            <a:blipFill>
              <a:blip r:embed="rId2"/>
              <a:stretch>
                <a:fillRect l="0" t="0" r="0" b="-115"/>
              </a:stretch>
            </a:blipFill>
          </p:spPr>
        </p:sp>
      </p:grpSp>
      <p:sp>
        <p:nvSpPr>
          <p:cNvPr name="Freeform 4" id="4"/>
          <p:cNvSpPr/>
          <p:nvPr/>
        </p:nvSpPr>
        <p:spPr>
          <a:xfrm flipH="false" flipV="false" rot="0">
            <a:off x="2563346" y="2187507"/>
            <a:ext cx="6524540" cy="6036261"/>
          </a:xfrm>
          <a:custGeom>
            <a:avLst/>
            <a:gdLst/>
            <a:ahLst/>
            <a:cxnLst/>
            <a:rect r="r" b="b" t="t" l="l"/>
            <a:pathLst>
              <a:path h="6036261" w="6524540">
                <a:moveTo>
                  <a:pt x="0" y="0"/>
                </a:moveTo>
                <a:lnTo>
                  <a:pt x="6524540" y="0"/>
                </a:lnTo>
                <a:lnTo>
                  <a:pt x="6524540" y="6036261"/>
                </a:lnTo>
                <a:lnTo>
                  <a:pt x="0" y="6036261"/>
                </a:lnTo>
                <a:lnTo>
                  <a:pt x="0" y="0"/>
                </a:lnTo>
                <a:close/>
              </a:path>
            </a:pathLst>
          </a:custGeom>
          <a:blipFill>
            <a:blip r:embed="rId3"/>
            <a:stretch>
              <a:fillRect l="0" t="-1253" r="-2044" b="0"/>
            </a:stretch>
          </a:blipFill>
        </p:spPr>
      </p:sp>
      <p:sp>
        <p:nvSpPr>
          <p:cNvPr name="TextBox 5" id="5"/>
          <p:cNvSpPr txBox="true"/>
          <p:nvPr/>
        </p:nvSpPr>
        <p:spPr>
          <a:xfrm rot="0">
            <a:off x="4880396" y="8401204"/>
            <a:ext cx="9087342" cy="313133"/>
          </a:xfrm>
          <a:prstGeom prst="rect">
            <a:avLst/>
          </a:prstGeom>
        </p:spPr>
        <p:txBody>
          <a:bodyPr anchor="t" rtlCol="false" tIns="0" lIns="0" bIns="0" rIns="0">
            <a:spAutoFit/>
          </a:bodyPr>
          <a:lstStyle/>
          <a:p>
            <a:pPr algn="ctr">
              <a:lnSpc>
                <a:spcPts val="2149"/>
              </a:lnSpc>
            </a:pPr>
            <a:r>
              <a:rPr lang="en-US" sz="1724">
                <a:solidFill>
                  <a:srgbClr val="757575"/>
                </a:solidFill>
                <a:latin typeface="Calibri (MS)"/>
                <a:ea typeface="Calibri (MS)"/>
                <a:cs typeface="Calibri (MS)"/>
                <a:sym typeface="Calibri (MS)"/>
              </a:rPr>
              <a:t>Department of Computer Science and Engineering</a:t>
            </a:r>
          </a:p>
        </p:txBody>
      </p:sp>
      <p:sp>
        <p:nvSpPr>
          <p:cNvPr name="TextBox 6" id="6"/>
          <p:cNvSpPr txBox="true"/>
          <p:nvPr/>
        </p:nvSpPr>
        <p:spPr>
          <a:xfrm rot="0">
            <a:off x="3202085" y="8412084"/>
            <a:ext cx="1052363" cy="302254"/>
          </a:xfrm>
          <a:prstGeom prst="rect">
            <a:avLst/>
          </a:prstGeom>
        </p:spPr>
        <p:txBody>
          <a:bodyPr anchor="t" rtlCol="false" tIns="0" lIns="0" bIns="0" rIns="0">
            <a:spAutoFit/>
          </a:bodyPr>
          <a:lstStyle/>
          <a:p>
            <a:pPr algn="l">
              <a:lnSpc>
                <a:spcPts val="2149"/>
              </a:lnSpc>
            </a:pPr>
            <a:r>
              <a:rPr lang="en-US" sz="1724" i="true">
                <a:solidFill>
                  <a:srgbClr val="757575"/>
                </a:solidFill>
                <a:latin typeface="Calibri (MS) Italics"/>
                <a:ea typeface="Calibri (MS) Italics"/>
                <a:cs typeface="Calibri (MS) Italics"/>
                <a:sym typeface="Calibri (MS) Italics"/>
              </a:rPr>
              <a:t>21</a:t>
            </a:r>
            <a:r>
              <a:rPr lang="en-US" sz="1724" i="true">
                <a:solidFill>
                  <a:srgbClr val="757575"/>
                </a:solidFill>
                <a:latin typeface="Calibri (MS) Italics"/>
                <a:ea typeface="Calibri (MS) Italics"/>
                <a:cs typeface="Calibri (MS) Italics"/>
                <a:sym typeface="Calibri (MS) Italics"/>
              </a:rPr>
              <a:t>.01.2026</a:t>
            </a:r>
          </a:p>
        </p:txBody>
      </p:sp>
      <p:sp>
        <p:nvSpPr>
          <p:cNvPr name="TextBox 7" id="7"/>
          <p:cNvSpPr txBox="true"/>
          <p:nvPr/>
        </p:nvSpPr>
        <p:spPr>
          <a:xfrm rot="0">
            <a:off x="5312356" y="1421024"/>
            <a:ext cx="5834796" cy="647140"/>
          </a:xfrm>
          <a:prstGeom prst="rect">
            <a:avLst/>
          </a:prstGeom>
        </p:spPr>
        <p:txBody>
          <a:bodyPr anchor="t" rtlCol="false" tIns="0" lIns="0" bIns="0" rIns="0">
            <a:spAutoFit/>
          </a:bodyPr>
          <a:lstStyle/>
          <a:p>
            <a:pPr algn="ctr">
              <a:lnSpc>
                <a:spcPts val="5188"/>
              </a:lnSpc>
            </a:pPr>
            <a:r>
              <a:rPr lang="en-US" sz="3705" b="true">
                <a:solidFill>
                  <a:srgbClr val="000000"/>
                </a:solidFill>
                <a:latin typeface="Times New Roman Bold"/>
                <a:ea typeface="Times New Roman Bold"/>
                <a:cs typeface="Times New Roman Bold"/>
                <a:sym typeface="Times New Roman Bold"/>
              </a:rPr>
              <a:t>DEPLOYMENT DIAGRAM</a:t>
            </a:r>
          </a:p>
        </p:txBody>
      </p:sp>
      <p:sp>
        <p:nvSpPr>
          <p:cNvPr name="TextBox 8" id="8"/>
          <p:cNvSpPr txBox="true"/>
          <p:nvPr/>
        </p:nvSpPr>
        <p:spPr>
          <a:xfrm rot="0">
            <a:off x="9144000" y="2054717"/>
            <a:ext cx="6526835" cy="6669740"/>
          </a:xfrm>
          <a:prstGeom prst="rect">
            <a:avLst/>
          </a:prstGeom>
        </p:spPr>
        <p:txBody>
          <a:bodyPr anchor="t" rtlCol="false" tIns="0" lIns="0" bIns="0" rIns="0">
            <a:spAutoFit/>
          </a:bodyPr>
          <a:lstStyle/>
          <a:p>
            <a:pPr algn="l">
              <a:lnSpc>
                <a:spcPts val="2408"/>
              </a:lnSpc>
            </a:pPr>
            <a:r>
              <a:rPr lang="en-US" sz="1720" b="true">
                <a:solidFill>
                  <a:srgbClr val="000000"/>
                </a:solidFill>
                <a:latin typeface="Times New Roman Bold"/>
                <a:ea typeface="Times New Roman Bold"/>
                <a:cs typeface="Times New Roman Bold"/>
                <a:sym typeface="Times New Roman Bold"/>
              </a:rPr>
              <a:t>Purpose</a:t>
            </a:r>
          </a:p>
          <a:p>
            <a:pPr algn="l" marL="371483" indent="-185741" lvl="1">
              <a:lnSpc>
                <a:spcPts val="2408"/>
              </a:lnSpc>
              <a:buFont typeface="Arial"/>
              <a:buChar char="•"/>
            </a:pPr>
            <a:r>
              <a:rPr lang="en-US" sz="1720">
                <a:solidFill>
                  <a:srgbClr val="000000"/>
                </a:solidFill>
                <a:latin typeface="Times New Roman"/>
                <a:ea typeface="Times New Roman"/>
                <a:cs typeface="Times New Roman"/>
                <a:sym typeface="Times New Roman"/>
              </a:rPr>
              <a:t>Represents the physical architecture of the system</a:t>
            </a:r>
          </a:p>
          <a:p>
            <a:pPr algn="l" marL="371483" indent="-185741" lvl="1">
              <a:lnSpc>
                <a:spcPts val="2408"/>
              </a:lnSpc>
              <a:buFont typeface="Arial"/>
              <a:buChar char="•"/>
            </a:pPr>
            <a:r>
              <a:rPr lang="en-US" sz="1720">
                <a:solidFill>
                  <a:srgbClr val="000000"/>
                </a:solidFill>
                <a:latin typeface="Times New Roman"/>
                <a:ea typeface="Times New Roman"/>
                <a:cs typeface="Times New Roman"/>
                <a:sym typeface="Times New Roman"/>
              </a:rPr>
              <a:t>Shows where software components are deployed and how they communicate at runtime</a:t>
            </a:r>
          </a:p>
          <a:p>
            <a:pPr algn="l">
              <a:lnSpc>
                <a:spcPts val="2408"/>
              </a:lnSpc>
            </a:pPr>
            <a:r>
              <a:rPr lang="en-US" sz="1720" b="true">
                <a:solidFill>
                  <a:srgbClr val="000000"/>
                </a:solidFill>
                <a:latin typeface="Times New Roman Bold"/>
                <a:ea typeface="Times New Roman Bold"/>
                <a:cs typeface="Times New Roman Bold"/>
                <a:sym typeface="Times New Roman Bold"/>
              </a:rPr>
              <a:t>Key Elements</a:t>
            </a:r>
          </a:p>
          <a:p>
            <a:pPr algn="l" marL="371483" indent="-185741" lvl="1">
              <a:lnSpc>
                <a:spcPts val="2408"/>
              </a:lnSpc>
              <a:buFont typeface="Arial"/>
              <a:buChar char="•"/>
            </a:pPr>
            <a:r>
              <a:rPr lang="en-US" b="true" sz="1720">
                <a:solidFill>
                  <a:srgbClr val="000000"/>
                </a:solidFill>
                <a:latin typeface="Times New Roman Bold"/>
                <a:ea typeface="Times New Roman Bold"/>
                <a:cs typeface="Times New Roman Bold"/>
                <a:sym typeface="Times New Roman Bold"/>
              </a:rPr>
              <a:t>Client Device: </a:t>
            </a:r>
            <a:r>
              <a:rPr lang="en-US" sz="1720">
                <a:solidFill>
                  <a:srgbClr val="000000"/>
                </a:solidFill>
                <a:latin typeface="Times New Roman"/>
                <a:ea typeface="Times New Roman"/>
                <a:cs typeface="Times New Roman"/>
                <a:sym typeface="Times New Roman"/>
              </a:rPr>
              <a:t>Web browser used by learners</a:t>
            </a:r>
          </a:p>
          <a:p>
            <a:pPr algn="l" marL="371483" indent="-185741" lvl="1">
              <a:lnSpc>
                <a:spcPts val="2408"/>
              </a:lnSpc>
              <a:buFont typeface="Arial"/>
              <a:buChar char="•"/>
            </a:pPr>
            <a:r>
              <a:rPr lang="en-US" b="true" sz="1720">
                <a:solidFill>
                  <a:srgbClr val="000000"/>
                </a:solidFill>
                <a:latin typeface="Times New Roman Bold"/>
                <a:ea typeface="Times New Roman Bold"/>
                <a:cs typeface="Times New Roman Bold"/>
                <a:sym typeface="Times New Roman Bold"/>
              </a:rPr>
              <a:t>Web Server: </a:t>
            </a:r>
            <a:r>
              <a:rPr lang="en-US" sz="1720">
                <a:solidFill>
                  <a:srgbClr val="000000"/>
                </a:solidFill>
                <a:latin typeface="Times New Roman"/>
                <a:ea typeface="Times New Roman"/>
                <a:cs typeface="Times New Roman"/>
                <a:sym typeface="Times New Roman"/>
              </a:rPr>
              <a:t>Hosts frontend UI (React + D3.js)</a:t>
            </a:r>
          </a:p>
          <a:p>
            <a:pPr algn="l" marL="371483" indent="-185741" lvl="1">
              <a:lnSpc>
                <a:spcPts val="2408"/>
              </a:lnSpc>
              <a:buFont typeface="Arial"/>
              <a:buChar char="•"/>
            </a:pPr>
            <a:r>
              <a:rPr lang="en-US" b="true" sz="1720">
                <a:solidFill>
                  <a:srgbClr val="000000"/>
                </a:solidFill>
                <a:latin typeface="Times New Roman Bold"/>
                <a:ea typeface="Times New Roman Bold"/>
                <a:cs typeface="Times New Roman Bold"/>
                <a:sym typeface="Times New Roman Bold"/>
              </a:rPr>
              <a:t>Application Server:</a:t>
            </a:r>
          </a:p>
          <a:p>
            <a:pPr algn="l" marL="742966" indent="-247655" lvl="2">
              <a:lnSpc>
                <a:spcPts val="2408"/>
              </a:lnSpc>
              <a:buFont typeface="Arial"/>
              <a:buChar char="⚬"/>
            </a:pPr>
            <a:r>
              <a:rPr lang="en-US" sz="1720">
                <a:solidFill>
                  <a:srgbClr val="000000"/>
                </a:solidFill>
                <a:latin typeface="Times New Roman"/>
                <a:ea typeface="Times New Roman"/>
                <a:cs typeface="Times New Roman"/>
                <a:sym typeface="Times New Roman"/>
              </a:rPr>
              <a:t>Authentication Service</a:t>
            </a:r>
          </a:p>
          <a:p>
            <a:pPr algn="l" marL="742966" indent="-247655" lvl="2">
              <a:lnSpc>
                <a:spcPts val="2408"/>
              </a:lnSpc>
              <a:buFont typeface="Arial"/>
              <a:buChar char="⚬"/>
            </a:pPr>
            <a:r>
              <a:rPr lang="en-US" sz="1720">
                <a:solidFill>
                  <a:srgbClr val="000000"/>
                </a:solidFill>
                <a:latin typeface="Times New Roman"/>
                <a:ea typeface="Times New Roman"/>
                <a:cs typeface="Times New Roman"/>
                <a:sym typeface="Times New Roman"/>
              </a:rPr>
              <a:t>Backend REST API</a:t>
            </a:r>
          </a:p>
          <a:p>
            <a:pPr algn="l" marL="742966" indent="-247655" lvl="2">
              <a:lnSpc>
                <a:spcPts val="2408"/>
              </a:lnSpc>
              <a:buFont typeface="Arial"/>
              <a:buChar char="⚬"/>
            </a:pPr>
            <a:r>
              <a:rPr lang="en-US" sz="1720">
                <a:solidFill>
                  <a:srgbClr val="000000"/>
                </a:solidFill>
                <a:latin typeface="Times New Roman"/>
                <a:ea typeface="Times New Roman"/>
                <a:cs typeface="Times New Roman"/>
                <a:sym typeface="Times New Roman"/>
              </a:rPr>
              <a:t>Recommendation Engine</a:t>
            </a:r>
          </a:p>
          <a:p>
            <a:pPr algn="l" marL="742966" indent="-247655" lvl="2">
              <a:lnSpc>
                <a:spcPts val="2408"/>
              </a:lnSpc>
              <a:buFont typeface="Arial"/>
              <a:buChar char="⚬"/>
            </a:pPr>
            <a:r>
              <a:rPr lang="en-US" sz="1720">
                <a:solidFill>
                  <a:srgbClr val="000000"/>
                </a:solidFill>
                <a:latin typeface="Times New Roman"/>
                <a:ea typeface="Times New Roman"/>
                <a:cs typeface="Times New Roman"/>
                <a:sym typeface="Times New Roman"/>
              </a:rPr>
              <a:t>Progress Tracking Module</a:t>
            </a:r>
          </a:p>
          <a:p>
            <a:pPr algn="l" marL="371483" indent="-185741" lvl="1">
              <a:lnSpc>
                <a:spcPts val="2408"/>
              </a:lnSpc>
              <a:buFont typeface="Arial"/>
              <a:buChar char="•"/>
            </a:pPr>
            <a:r>
              <a:rPr lang="en-US" b="true" sz="1720">
                <a:solidFill>
                  <a:srgbClr val="000000"/>
                </a:solidFill>
                <a:latin typeface="Times New Roman Bold"/>
                <a:ea typeface="Times New Roman Bold"/>
                <a:cs typeface="Times New Roman Bold"/>
                <a:sym typeface="Times New Roman Bold"/>
              </a:rPr>
              <a:t>Database Server:</a:t>
            </a:r>
            <a:r>
              <a:rPr lang="en-US" sz="1720">
                <a:solidFill>
                  <a:srgbClr val="000000"/>
                </a:solidFill>
                <a:latin typeface="Times New Roman"/>
                <a:ea typeface="Times New Roman"/>
                <a:cs typeface="Times New Roman"/>
                <a:sym typeface="Times New Roman"/>
              </a:rPr>
              <a:t> Neo4j Graph Database</a:t>
            </a:r>
          </a:p>
          <a:p>
            <a:pPr algn="l" marL="371483" indent="-185741" lvl="1">
              <a:lnSpc>
                <a:spcPts val="2408"/>
              </a:lnSpc>
              <a:buFont typeface="Arial"/>
              <a:buChar char="•"/>
            </a:pPr>
            <a:r>
              <a:rPr lang="en-US" b="true" sz="1720">
                <a:solidFill>
                  <a:srgbClr val="000000"/>
                </a:solidFill>
                <a:latin typeface="Times New Roman Bold"/>
                <a:ea typeface="Times New Roman Bold"/>
                <a:cs typeface="Times New Roman Bold"/>
                <a:sym typeface="Times New Roman Bold"/>
              </a:rPr>
              <a:t>External Services:</a:t>
            </a:r>
            <a:r>
              <a:rPr lang="en-US" sz="1720">
                <a:solidFill>
                  <a:srgbClr val="000000"/>
                </a:solidFill>
                <a:latin typeface="Times New Roman"/>
                <a:ea typeface="Times New Roman"/>
                <a:cs typeface="Times New Roman"/>
                <a:sym typeface="Times New Roman"/>
              </a:rPr>
              <a:t> Learning resource APIs &amp; job market data APIs</a:t>
            </a:r>
          </a:p>
          <a:p>
            <a:pPr algn="l">
              <a:lnSpc>
                <a:spcPts val="2408"/>
              </a:lnSpc>
            </a:pPr>
            <a:r>
              <a:rPr lang="en-US" sz="1720">
                <a:solidFill>
                  <a:srgbClr val="000000"/>
                </a:solidFill>
                <a:latin typeface="Times New Roman"/>
                <a:ea typeface="Times New Roman"/>
                <a:cs typeface="Times New Roman"/>
                <a:sym typeface="Times New Roman"/>
              </a:rPr>
              <a:t>Communication</a:t>
            </a:r>
          </a:p>
          <a:p>
            <a:pPr algn="l" marL="371483" indent="-185741" lvl="1">
              <a:lnSpc>
                <a:spcPts val="2408"/>
              </a:lnSpc>
              <a:buFont typeface="Arial"/>
              <a:buChar char="•"/>
            </a:pPr>
            <a:r>
              <a:rPr lang="en-US" sz="1720">
                <a:solidFill>
                  <a:srgbClr val="000000"/>
                </a:solidFill>
                <a:latin typeface="Times New Roman"/>
                <a:ea typeface="Times New Roman"/>
                <a:cs typeface="Times New Roman"/>
                <a:sym typeface="Times New Roman"/>
              </a:rPr>
              <a:t>Client ↔ Web Server: HTTPS</a:t>
            </a:r>
          </a:p>
          <a:p>
            <a:pPr algn="l" marL="371483" indent="-185741" lvl="1">
              <a:lnSpc>
                <a:spcPts val="2408"/>
              </a:lnSpc>
              <a:buFont typeface="Arial"/>
              <a:buChar char="•"/>
            </a:pPr>
            <a:r>
              <a:rPr lang="en-US" sz="1720">
                <a:solidFill>
                  <a:srgbClr val="000000"/>
                </a:solidFill>
                <a:latin typeface="Times New Roman"/>
                <a:ea typeface="Times New Roman"/>
                <a:cs typeface="Times New Roman"/>
                <a:sym typeface="Times New Roman"/>
              </a:rPr>
              <a:t>Frontend ↔ Backend: REST APIs</a:t>
            </a:r>
          </a:p>
          <a:p>
            <a:pPr algn="l" marL="371483" indent="-185741" lvl="1">
              <a:lnSpc>
                <a:spcPts val="2408"/>
              </a:lnSpc>
              <a:buFont typeface="Arial"/>
              <a:buChar char="•"/>
            </a:pPr>
            <a:r>
              <a:rPr lang="en-US" sz="1720">
                <a:solidFill>
                  <a:srgbClr val="000000"/>
                </a:solidFill>
                <a:latin typeface="Times New Roman"/>
                <a:ea typeface="Times New Roman"/>
                <a:cs typeface="Times New Roman"/>
                <a:sym typeface="Times New Roman"/>
              </a:rPr>
              <a:t>Backend ↔ Database: Graph queries</a:t>
            </a:r>
          </a:p>
          <a:p>
            <a:pPr algn="l">
              <a:lnSpc>
                <a:spcPts val="2408"/>
              </a:lnSpc>
            </a:pPr>
            <a:r>
              <a:rPr lang="en-US" sz="1720" b="true">
                <a:solidFill>
                  <a:srgbClr val="000000"/>
                </a:solidFill>
                <a:latin typeface="Times New Roman Bold"/>
                <a:ea typeface="Times New Roman Bold"/>
                <a:cs typeface="Times New Roman Bold"/>
                <a:sym typeface="Times New Roman Bold"/>
              </a:rPr>
              <a:t>Significance</a:t>
            </a:r>
          </a:p>
          <a:p>
            <a:pPr algn="l" marL="371483" indent="-185741" lvl="1">
              <a:lnSpc>
                <a:spcPts val="2408"/>
              </a:lnSpc>
              <a:buFont typeface="Arial"/>
              <a:buChar char="•"/>
            </a:pPr>
            <a:r>
              <a:rPr lang="en-US" sz="1720">
                <a:solidFill>
                  <a:srgbClr val="000000"/>
                </a:solidFill>
                <a:latin typeface="Times New Roman"/>
                <a:ea typeface="Times New Roman"/>
                <a:cs typeface="Times New Roman"/>
                <a:sym typeface="Times New Roman"/>
              </a:rPr>
              <a:t>Ensures scalability, security, and modular deployment</a:t>
            </a:r>
          </a:p>
          <a:p>
            <a:pPr algn="l" marL="371483" indent="-185741" lvl="1">
              <a:lnSpc>
                <a:spcPts val="2408"/>
              </a:lnSpc>
              <a:buFont typeface="Arial"/>
              <a:buChar char="•"/>
            </a:pPr>
            <a:r>
              <a:rPr lang="en-US" sz="1720">
                <a:solidFill>
                  <a:srgbClr val="000000"/>
                </a:solidFill>
                <a:latin typeface="Times New Roman"/>
                <a:ea typeface="Times New Roman"/>
                <a:cs typeface="Times New Roman"/>
                <a:sym typeface="Times New Roman"/>
              </a:rPr>
              <a:t>Helps understand runtime behavior and system integration</a:t>
            </a:r>
          </a:p>
          <a:p>
            <a:pPr algn="l">
              <a:lnSpc>
                <a:spcPts val="2408"/>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grpSp>
        <p:nvGrpSpPr>
          <p:cNvPr name="Group 2" id="2"/>
          <p:cNvGrpSpPr/>
          <p:nvPr/>
        </p:nvGrpSpPr>
        <p:grpSpPr>
          <a:xfrm rot="0">
            <a:off x="2563346" y="1389375"/>
            <a:ext cx="13346210" cy="7508249"/>
            <a:chOff x="0" y="0"/>
            <a:chExt cx="13445071" cy="7563866"/>
          </a:xfrm>
        </p:grpSpPr>
        <p:sp>
          <p:nvSpPr>
            <p:cNvPr name="Freeform 3" id="3"/>
            <p:cNvSpPr/>
            <p:nvPr/>
          </p:nvSpPr>
          <p:spPr>
            <a:xfrm flipH="false" flipV="false" rot="0">
              <a:off x="0" y="0"/>
              <a:ext cx="13445110" cy="7563866"/>
            </a:xfrm>
            <a:custGeom>
              <a:avLst/>
              <a:gdLst/>
              <a:ahLst/>
              <a:cxnLst/>
              <a:rect r="r" b="b" t="t" l="l"/>
              <a:pathLst>
                <a:path h="7563866" w="13445110">
                  <a:moveTo>
                    <a:pt x="0" y="0"/>
                  </a:moveTo>
                  <a:lnTo>
                    <a:pt x="13445110" y="0"/>
                  </a:lnTo>
                  <a:lnTo>
                    <a:pt x="13445110" y="7563866"/>
                  </a:lnTo>
                  <a:lnTo>
                    <a:pt x="0" y="7563866"/>
                  </a:lnTo>
                  <a:lnTo>
                    <a:pt x="0" y="0"/>
                  </a:lnTo>
                  <a:close/>
                </a:path>
              </a:pathLst>
            </a:custGeom>
            <a:blipFill>
              <a:blip r:embed="rId2"/>
              <a:stretch>
                <a:fillRect l="0" t="0" r="0" b="-115"/>
              </a:stretch>
            </a:blipFill>
          </p:spPr>
        </p:sp>
      </p:grpSp>
      <p:sp>
        <p:nvSpPr>
          <p:cNvPr name="Freeform 4" id="4"/>
          <p:cNvSpPr/>
          <p:nvPr/>
        </p:nvSpPr>
        <p:spPr>
          <a:xfrm flipH="false" flipV="false" rot="0">
            <a:off x="2693822" y="2980782"/>
            <a:ext cx="5331077" cy="5173119"/>
          </a:xfrm>
          <a:custGeom>
            <a:avLst/>
            <a:gdLst/>
            <a:ahLst/>
            <a:cxnLst/>
            <a:rect r="r" b="b" t="t" l="l"/>
            <a:pathLst>
              <a:path h="5173119" w="5331077">
                <a:moveTo>
                  <a:pt x="0" y="0"/>
                </a:moveTo>
                <a:lnTo>
                  <a:pt x="5331077" y="0"/>
                </a:lnTo>
                <a:lnTo>
                  <a:pt x="5331077" y="5173119"/>
                </a:lnTo>
                <a:lnTo>
                  <a:pt x="0" y="5173119"/>
                </a:lnTo>
                <a:lnTo>
                  <a:pt x="0" y="0"/>
                </a:lnTo>
                <a:close/>
              </a:path>
            </a:pathLst>
          </a:custGeom>
          <a:blipFill>
            <a:blip r:embed="rId3"/>
            <a:stretch>
              <a:fillRect l="0" t="0" r="0" b="0"/>
            </a:stretch>
          </a:blipFill>
        </p:spPr>
      </p:sp>
      <p:sp>
        <p:nvSpPr>
          <p:cNvPr name="TextBox 5" id="5"/>
          <p:cNvSpPr txBox="true"/>
          <p:nvPr/>
        </p:nvSpPr>
        <p:spPr>
          <a:xfrm rot="0">
            <a:off x="4880396" y="8401204"/>
            <a:ext cx="9087342" cy="313133"/>
          </a:xfrm>
          <a:prstGeom prst="rect">
            <a:avLst/>
          </a:prstGeom>
        </p:spPr>
        <p:txBody>
          <a:bodyPr anchor="t" rtlCol="false" tIns="0" lIns="0" bIns="0" rIns="0">
            <a:spAutoFit/>
          </a:bodyPr>
          <a:lstStyle/>
          <a:p>
            <a:pPr algn="ctr">
              <a:lnSpc>
                <a:spcPts val="2149"/>
              </a:lnSpc>
            </a:pPr>
            <a:r>
              <a:rPr lang="en-US" sz="1724">
                <a:solidFill>
                  <a:srgbClr val="757575"/>
                </a:solidFill>
                <a:latin typeface="Calibri (MS)"/>
                <a:ea typeface="Calibri (MS)"/>
                <a:cs typeface="Calibri (MS)"/>
                <a:sym typeface="Calibri (MS)"/>
              </a:rPr>
              <a:t>Department of Computer Science and Engineering</a:t>
            </a:r>
          </a:p>
        </p:txBody>
      </p:sp>
      <p:sp>
        <p:nvSpPr>
          <p:cNvPr name="TextBox 6" id="6"/>
          <p:cNvSpPr txBox="true"/>
          <p:nvPr/>
        </p:nvSpPr>
        <p:spPr>
          <a:xfrm rot="0">
            <a:off x="3202085" y="8412084"/>
            <a:ext cx="1052363" cy="302254"/>
          </a:xfrm>
          <a:prstGeom prst="rect">
            <a:avLst/>
          </a:prstGeom>
        </p:spPr>
        <p:txBody>
          <a:bodyPr anchor="t" rtlCol="false" tIns="0" lIns="0" bIns="0" rIns="0">
            <a:spAutoFit/>
          </a:bodyPr>
          <a:lstStyle/>
          <a:p>
            <a:pPr algn="l">
              <a:lnSpc>
                <a:spcPts val="2149"/>
              </a:lnSpc>
            </a:pPr>
            <a:r>
              <a:rPr lang="en-US" sz="1724" i="true">
                <a:solidFill>
                  <a:srgbClr val="757575"/>
                </a:solidFill>
                <a:latin typeface="Calibri (MS) Italics"/>
                <a:ea typeface="Calibri (MS) Italics"/>
                <a:cs typeface="Calibri (MS) Italics"/>
                <a:sym typeface="Calibri (MS) Italics"/>
              </a:rPr>
              <a:t>21</a:t>
            </a:r>
            <a:r>
              <a:rPr lang="en-US" sz="1724" i="true">
                <a:solidFill>
                  <a:srgbClr val="757575"/>
                </a:solidFill>
                <a:latin typeface="Calibri (MS) Italics"/>
                <a:ea typeface="Calibri (MS) Italics"/>
                <a:cs typeface="Calibri (MS) Italics"/>
                <a:sym typeface="Calibri (MS) Italics"/>
              </a:rPr>
              <a:t>.01.2026</a:t>
            </a:r>
          </a:p>
        </p:txBody>
      </p:sp>
      <p:sp>
        <p:nvSpPr>
          <p:cNvPr name="TextBox 7" id="7"/>
          <p:cNvSpPr txBox="true"/>
          <p:nvPr/>
        </p:nvSpPr>
        <p:spPr>
          <a:xfrm rot="0">
            <a:off x="5901962" y="1664279"/>
            <a:ext cx="4655585" cy="709893"/>
          </a:xfrm>
          <a:prstGeom prst="rect">
            <a:avLst/>
          </a:prstGeom>
        </p:spPr>
        <p:txBody>
          <a:bodyPr anchor="t" rtlCol="false" tIns="0" lIns="0" bIns="0" rIns="0">
            <a:spAutoFit/>
          </a:bodyPr>
          <a:lstStyle/>
          <a:p>
            <a:pPr algn="ctr">
              <a:lnSpc>
                <a:spcPts val="5558"/>
              </a:lnSpc>
            </a:pPr>
            <a:r>
              <a:rPr lang="en-US" sz="3970" b="true">
                <a:solidFill>
                  <a:srgbClr val="000000"/>
                </a:solidFill>
                <a:latin typeface="Times New Roman Bold"/>
                <a:ea typeface="Times New Roman Bold"/>
                <a:cs typeface="Times New Roman Bold"/>
                <a:sym typeface="Times New Roman Bold"/>
              </a:rPr>
              <a:t>OBJECT DIAGRAM</a:t>
            </a:r>
          </a:p>
        </p:txBody>
      </p:sp>
      <p:sp>
        <p:nvSpPr>
          <p:cNvPr name="TextBox 8" id="8"/>
          <p:cNvSpPr txBox="true"/>
          <p:nvPr/>
        </p:nvSpPr>
        <p:spPr>
          <a:xfrm rot="0">
            <a:off x="8024899" y="2420309"/>
            <a:ext cx="7775395" cy="5944440"/>
          </a:xfrm>
          <a:prstGeom prst="rect">
            <a:avLst/>
          </a:prstGeom>
        </p:spPr>
        <p:txBody>
          <a:bodyPr anchor="t" rtlCol="false" tIns="0" lIns="0" bIns="0" rIns="0">
            <a:spAutoFit/>
          </a:bodyPr>
          <a:lstStyle/>
          <a:p>
            <a:pPr algn="l">
              <a:lnSpc>
                <a:spcPts val="2964"/>
              </a:lnSpc>
            </a:pPr>
            <a:r>
              <a:rPr lang="en-US" sz="2117" b="true">
                <a:solidFill>
                  <a:srgbClr val="000000"/>
                </a:solidFill>
                <a:latin typeface="Times New Roman Bold"/>
                <a:ea typeface="Times New Roman Bold"/>
                <a:cs typeface="Times New Roman Bold"/>
                <a:sym typeface="Times New Roman Bold"/>
              </a:rPr>
              <a:t>Purpose:</a:t>
            </a:r>
          </a:p>
          <a:p>
            <a:pPr algn="l" marL="400057" indent="-200029" lvl="1">
              <a:lnSpc>
                <a:spcPts val="2594"/>
              </a:lnSpc>
              <a:buFont typeface="Arial"/>
              <a:buChar char="•"/>
            </a:pPr>
            <a:r>
              <a:rPr lang="en-US" sz="1852">
                <a:solidFill>
                  <a:srgbClr val="000000"/>
                </a:solidFill>
                <a:latin typeface="Times New Roman"/>
                <a:ea typeface="Times New Roman"/>
                <a:cs typeface="Times New Roman"/>
                <a:sym typeface="Times New Roman"/>
              </a:rPr>
              <a:t>Represents a s</a:t>
            </a:r>
            <a:r>
              <a:rPr lang="en-US" sz="1852">
                <a:solidFill>
                  <a:srgbClr val="000000"/>
                </a:solidFill>
                <a:latin typeface="Times New Roman"/>
                <a:ea typeface="Times New Roman"/>
                <a:cs typeface="Times New Roman"/>
                <a:sym typeface="Times New Roman"/>
              </a:rPr>
              <a:t>napshot of the system at a specific point in time</a:t>
            </a:r>
          </a:p>
          <a:p>
            <a:pPr algn="l" marL="400057" indent="-200029" lvl="1">
              <a:lnSpc>
                <a:spcPts val="2594"/>
              </a:lnSpc>
              <a:buFont typeface="Arial"/>
              <a:buChar char="•"/>
            </a:pPr>
            <a:r>
              <a:rPr lang="en-US" sz="1852">
                <a:solidFill>
                  <a:srgbClr val="000000"/>
                </a:solidFill>
                <a:latin typeface="Times New Roman"/>
                <a:ea typeface="Times New Roman"/>
                <a:cs typeface="Times New Roman"/>
                <a:sym typeface="Times New Roman"/>
              </a:rPr>
              <a:t>Shows real object instances and their relationships during runtime</a:t>
            </a:r>
          </a:p>
          <a:p>
            <a:pPr algn="l">
              <a:lnSpc>
                <a:spcPts val="2594"/>
              </a:lnSpc>
            </a:pPr>
            <a:r>
              <a:rPr lang="en-US" sz="1852" b="true">
                <a:solidFill>
                  <a:srgbClr val="000000"/>
                </a:solidFill>
                <a:latin typeface="Times New Roman Bold"/>
                <a:ea typeface="Times New Roman Bold"/>
                <a:cs typeface="Times New Roman Bold"/>
                <a:sym typeface="Times New Roman Bold"/>
              </a:rPr>
              <a:t>Key Elements</a:t>
            </a:r>
          </a:p>
          <a:p>
            <a:pPr algn="l" marL="400057" indent="-200029" lvl="1">
              <a:lnSpc>
                <a:spcPts val="2594"/>
              </a:lnSpc>
              <a:buFont typeface="Arial"/>
              <a:buChar char="•"/>
            </a:pPr>
            <a:r>
              <a:rPr lang="en-US" sz="1852">
                <a:solidFill>
                  <a:srgbClr val="000000"/>
                </a:solidFill>
                <a:latin typeface="Times New Roman"/>
                <a:ea typeface="Times New Roman"/>
                <a:cs typeface="Times New Roman"/>
                <a:sym typeface="Times New Roman"/>
              </a:rPr>
              <a:t>User Object: Learner with selected career goal</a:t>
            </a:r>
          </a:p>
          <a:p>
            <a:pPr algn="l" marL="400057" indent="-200029" lvl="1">
              <a:lnSpc>
                <a:spcPts val="2594"/>
              </a:lnSpc>
              <a:buFont typeface="Arial"/>
              <a:buChar char="•"/>
            </a:pPr>
            <a:r>
              <a:rPr lang="en-US" sz="1852">
                <a:solidFill>
                  <a:srgbClr val="000000"/>
                </a:solidFill>
                <a:latin typeface="Times New Roman"/>
                <a:ea typeface="Times New Roman"/>
                <a:cs typeface="Times New Roman"/>
                <a:sym typeface="Times New Roman"/>
              </a:rPr>
              <a:t>Profile Object: Contains current skills and learning preferences</a:t>
            </a:r>
          </a:p>
          <a:p>
            <a:pPr algn="l" marL="400057" indent="-200029" lvl="1">
              <a:lnSpc>
                <a:spcPts val="2594"/>
              </a:lnSpc>
              <a:buFont typeface="Arial"/>
              <a:buChar char="•"/>
            </a:pPr>
            <a:r>
              <a:rPr lang="en-US" sz="1852">
                <a:solidFill>
                  <a:srgbClr val="000000"/>
                </a:solidFill>
                <a:latin typeface="Times New Roman"/>
                <a:ea typeface="Times New Roman"/>
                <a:cs typeface="Times New Roman"/>
                <a:sym typeface="Times New Roman"/>
              </a:rPr>
              <a:t>Skill Obj</a:t>
            </a:r>
            <a:r>
              <a:rPr lang="en-US" sz="1852">
                <a:solidFill>
                  <a:srgbClr val="000000"/>
                </a:solidFill>
                <a:latin typeface="Times New Roman"/>
                <a:ea typeface="Times New Roman"/>
                <a:cs typeface="Times New Roman"/>
                <a:sym typeface="Times New Roman"/>
              </a:rPr>
              <a:t>ects: Instances such as Python and Machine Learning with current status</a:t>
            </a:r>
          </a:p>
          <a:p>
            <a:pPr algn="l" marL="400057" indent="-200029" lvl="1">
              <a:lnSpc>
                <a:spcPts val="2594"/>
              </a:lnSpc>
              <a:buFont typeface="Arial"/>
              <a:buChar char="•"/>
            </a:pPr>
            <a:r>
              <a:rPr lang="en-US" sz="1852">
                <a:solidFill>
                  <a:srgbClr val="000000"/>
                </a:solidFill>
                <a:latin typeface="Times New Roman"/>
                <a:ea typeface="Times New Roman"/>
                <a:cs typeface="Times New Roman"/>
                <a:sym typeface="Times New Roman"/>
              </a:rPr>
              <a:t>Progress Object: Tracks completion percentage and learning state</a:t>
            </a:r>
          </a:p>
          <a:p>
            <a:pPr algn="l">
              <a:lnSpc>
                <a:spcPts val="2594"/>
              </a:lnSpc>
            </a:pPr>
            <a:r>
              <a:rPr lang="en-US" sz="1852" b="true">
                <a:solidFill>
                  <a:srgbClr val="000000"/>
                </a:solidFill>
                <a:latin typeface="Times New Roman Bold"/>
                <a:ea typeface="Times New Roman Bold"/>
                <a:cs typeface="Times New Roman Bold"/>
                <a:sym typeface="Times New Roman Bold"/>
              </a:rPr>
              <a:t>Relationships</a:t>
            </a:r>
          </a:p>
          <a:p>
            <a:pPr algn="l" marL="400057" indent="-200029" lvl="1">
              <a:lnSpc>
                <a:spcPts val="2594"/>
              </a:lnSpc>
              <a:buFont typeface="Arial"/>
              <a:buChar char="•"/>
            </a:pPr>
            <a:r>
              <a:rPr lang="en-US" sz="1852">
                <a:solidFill>
                  <a:srgbClr val="000000"/>
                </a:solidFill>
                <a:latin typeface="Times New Roman"/>
                <a:ea typeface="Times New Roman"/>
                <a:cs typeface="Times New Roman"/>
                <a:sym typeface="Times New Roman"/>
              </a:rPr>
              <a:t>Us</a:t>
            </a:r>
            <a:r>
              <a:rPr lang="en-US" sz="1852">
                <a:solidFill>
                  <a:srgbClr val="000000"/>
                </a:solidFill>
                <a:latin typeface="Times New Roman"/>
                <a:ea typeface="Times New Roman"/>
                <a:cs typeface="Times New Roman"/>
                <a:sym typeface="Times New Roman"/>
              </a:rPr>
              <a:t>er has a profile and tracks progress</a:t>
            </a:r>
          </a:p>
          <a:p>
            <a:pPr algn="l" marL="400057" indent="-200029" lvl="1">
              <a:lnSpc>
                <a:spcPts val="2594"/>
              </a:lnSpc>
              <a:buFont typeface="Arial"/>
              <a:buChar char="•"/>
            </a:pPr>
            <a:r>
              <a:rPr lang="en-US" sz="1852">
                <a:solidFill>
                  <a:srgbClr val="000000"/>
                </a:solidFill>
                <a:latin typeface="Times New Roman"/>
                <a:ea typeface="Times New Roman"/>
                <a:cs typeface="Times New Roman"/>
                <a:sym typeface="Times New Roman"/>
              </a:rPr>
              <a:t>Skills </a:t>
            </a:r>
            <a:r>
              <a:rPr lang="en-US" sz="1852">
                <a:solidFill>
                  <a:srgbClr val="000000"/>
                </a:solidFill>
                <a:latin typeface="Times New Roman"/>
                <a:ea typeface="Times New Roman"/>
                <a:cs typeface="Times New Roman"/>
                <a:sym typeface="Times New Roman"/>
              </a:rPr>
              <a:t>are linked through prerequisite relationships</a:t>
            </a:r>
          </a:p>
          <a:p>
            <a:pPr algn="l" marL="400057" indent="-200029" lvl="1">
              <a:lnSpc>
                <a:spcPts val="2594"/>
              </a:lnSpc>
              <a:buFont typeface="Arial"/>
              <a:buChar char="•"/>
            </a:pPr>
            <a:r>
              <a:rPr lang="en-US" sz="1852">
                <a:solidFill>
                  <a:srgbClr val="000000"/>
                </a:solidFill>
                <a:latin typeface="Times New Roman"/>
                <a:ea typeface="Times New Roman"/>
                <a:cs typeface="Times New Roman"/>
                <a:sym typeface="Times New Roman"/>
              </a:rPr>
              <a:t>Profile connects to skills based on learning status</a:t>
            </a:r>
          </a:p>
          <a:p>
            <a:pPr algn="l">
              <a:lnSpc>
                <a:spcPts val="2594"/>
              </a:lnSpc>
            </a:pPr>
            <a:r>
              <a:rPr lang="en-US" sz="1852" b="true">
                <a:solidFill>
                  <a:srgbClr val="000000"/>
                </a:solidFill>
                <a:latin typeface="Times New Roman Bold"/>
                <a:ea typeface="Times New Roman Bold"/>
                <a:cs typeface="Times New Roman Bold"/>
                <a:sym typeface="Times New Roman Bold"/>
              </a:rPr>
              <a:t>Significanc</a:t>
            </a:r>
            <a:r>
              <a:rPr lang="en-US" sz="1852" b="true">
                <a:solidFill>
                  <a:srgbClr val="000000"/>
                </a:solidFill>
                <a:latin typeface="Times New Roman Bold"/>
                <a:ea typeface="Times New Roman Bold"/>
                <a:cs typeface="Times New Roman Bold"/>
                <a:sym typeface="Times New Roman Bold"/>
              </a:rPr>
              <a:t>e</a:t>
            </a:r>
          </a:p>
          <a:p>
            <a:pPr algn="l" marL="400057" indent="-200029" lvl="1">
              <a:lnSpc>
                <a:spcPts val="2594"/>
              </a:lnSpc>
              <a:buFont typeface="Arial"/>
              <a:buChar char="•"/>
            </a:pPr>
            <a:r>
              <a:rPr lang="en-US" sz="1852">
                <a:solidFill>
                  <a:srgbClr val="000000"/>
                </a:solidFill>
                <a:latin typeface="Times New Roman"/>
                <a:ea typeface="Times New Roman"/>
                <a:cs typeface="Times New Roman"/>
                <a:sym typeface="Times New Roman"/>
              </a:rPr>
              <a:t>Helps visualize actual data values in the system</a:t>
            </a:r>
          </a:p>
          <a:p>
            <a:pPr algn="l" marL="400057" indent="-200029" lvl="1">
              <a:lnSpc>
                <a:spcPts val="2594"/>
              </a:lnSpc>
              <a:buFont typeface="Arial"/>
              <a:buChar char="•"/>
            </a:pPr>
            <a:r>
              <a:rPr lang="en-US" sz="1852">
                <a:solidFill>
                  <a:srgbClr val="000000"/>
                </a:solidFill>
                <a:latin typeface="Times New Roman"/>
                <a:ea typeface="Times New Roman"/>
                <a:cs typeface="Times New Roman"/>
                <a:sym typeface="Times New Roman"/>
              </a:rPr>
              <a:t>Val</a:t>
            </a:r>
            <a:r>
              <a:rPr lang="en-US" sz="1852">
                <a:solidFill>
                  <a:srgbClr val="000000"/>
                </a:solidFill>
                <a:latin typeface="Times New Roman"/>
                <a:ea typeface="Times New Roman"/>
                <a:cs typeface="Times New Roman"/>
                <a:sym typeface="Times New Roman"/>
              </a:rPr>
              <a:t>idates class diagram by showing real-time object interactions</a:t>
            </a:r>
          </a:p>
          <a:p>
            <a:pPr algn="l" marL="400057" indent="-200029" lvl="1">
              <a:lnSpc>
                <a:spcPts val="2594"/>
              </a:lnSpc>
              <a:buFont typeface="Arial"/>
              <a:buChar char="•"/>
            </a:pPr>
            <a:r>
              <a:rPr lang="en-US" sz="1852">
                <a:solidFill>
                  <a:srgbClr val="000000"/>
                </a:solidFill>
                <a:latin typeface="Times New Roman"/>
                <a:ea typeface="Times New Roman"/>
                <a:cs typeface="Times New Roman"/>
                <a:sym typeface="Times New Roman"/>
              </a:rPr>
              <a:t>Us</a:t>
            </a:r>
            <a:r>
              <a:rPr lang="en-US" sz="1852">
                <a:solidFill>
                  <a:srgbClr val="000000"/>
                </a:solidFill>
                <a:latin typeface="Times New Roman"/>
                <a:ea typeface="Times New Roman"/>
                <a:cs typeface="Times New Roman"/>
                <a:sym typeface="Times New Roman"/>
              </a:rPr>
              <a:t>eful for understanding runtime behavior and system state</a:t>
            </a:r>
          </a:p>
          <a:p>
            <a:pPr algn="l">
              <a:lnSpc>
                <a:spcPts val="2594"/>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grpSp>
        <p:nvGrpSpPr>
          <p:cNvPr name="Group 2" id="2"/>
          <p:cNvGrpSpPr/>
          <p:nvPr/>
        </p:nvGrpSpPr>
        <p:grpSpPr>
          <a:xfrm rot="0">
            <a:off x="2563346" y="1389375"/>
            <a:ext cx="13346210" cy="7508249"/>
            <a:chOff x="0" y="0"/>
            <a:chExt cx="13445071" cy="7563866"/>
          </a:xfrm>
        </p:grpSpPr>
        <p:sp>
          <p:nvSpPr>
            <p:cNvPr name="Freeform 3" id="3"/>
            <p:cNvSpPr/>
            <p:nvPr/>
          </p:nvSpPr>
          <p:spPr>
            <a:xfrm flipH="false" flipV="false" rot="0">
              <a:off x="0" y="0"/>
              <a:ext cx="13445110" cy="7563866"/>
            </a:xfrm>
            <a:custGeom>
              <a:avLst/>
              <a:gdLst/>
              <a:ahLst/>
              <a:cxnLst/>
              <a:rect r="r" b="b" t="t" l="l"/>
              <a:pathLst>
                <a:path h="7563866" w="13445110">
                  <a:moveTo>
                    <a:pt x="0" y="0"/>
                  </a:moveTo>
                  <a:lnTo>
                    <a:pt x="13445110" y="0"/>
                  </a:lnTo>
                  <a:lnTo>
                    <a:pt x="13445110" y="7563866"/>
                  </a:lnTo>
                  <a:lnTo>
                    <a:pt x="0" y="7563866"/>
                  </a:lnTo>
                  <a:lnTo>
                    <a:pt x="0" y="0"/>
                  </a:lnTo>
                  <a:close/>
                </a:path>
              </a:pathLst>
            </a:custGeom>
            <a:blipFill>
              <a:blip r:embed="rId2"/>
              <a:stretch>
                <a:fillRect l="0" t="0" r="0" b="-115"/>
              </a:stretch>
            </a:blipFill>
          </p:spPr>
        </p:sp>
      </p:grpSp>
      <p:sp>
        <p:nvSpPr>
          <p:cNvPr name="Freeform 4" id="4"/>
          <p:cNvSpPr/>
          <p:nvPr/>
        </p:nvSpPr>
        <p:spPr>
          <a:xfrm flipH="false" flipV="false" rot="0">
            <a:off x="2790265" y="2823119"/>
            <a:ext cx="5234634" cy="4338203"/>
          </a:xfrm>
          <a:custGeom>
            <a:avLst/>
            <a:gdLst/>
            <a:ahLst/>
            <a:cxnLst/>
            <a:rect r="r" b="b" t="t" l="l"/>
            <a:pathLst>
              <a:path h="4338203" w="5234634">
                <a:moveTo>
                  <a:pt x="0" y="0"/>
                </a:moveTo>
                <a:lnTo>
                  <a:pt x="5234634" y="0"/>
                </a:lnTo>
                <a:lnTo>
                  <a:pt x="5234634" y="4338203"/>
                </a:lnTo>
                <a:lnTo>
                  <a:pt x="0" y="4338203"/>
                </a:lnTo>
                <a:lnTo>
                  <a:pt x="0" y="0"/>
                </a:lnTo>
                <a:close/>
              </a:path>
            </a:pathLst>
          </a:custGeom>
          <a:blipFill>
            <a:blip r:embed="rId3"/>
            <a:stretch>
              <a:fillRect l="0" t="0" r="0" b="0"/>
            </a:stretch>
          </a:blipFill>
        </p:spPr>
      </p:sp>
      <p:sp>
        <p:nvSpPr>
          <p:cNvPr name="TextBox 5" id="5"/>
          <p:cNvSpPr txBox="true"/>
          <p:nvPr/>
        </p:nvSpPr>
        <p:spPr>
          <a:xfrm rot="0">
            <a:off x="4880396" y="8401204"/>
            <a:ext cx="9087342" cy="313133"/>
          </a:xfrm>
          <a:prstGeom prst="rect">
            <a:avLst/>
          </a:prstGeom>
        </p:spPr>
        <p:txBody>
          <a:bodyPr anchor="t" rtlCol="false" tIns="0" lIns="0" bIns="0" rIns="0">
            <a:spAutoFit/>
          </a:bodyPr>
          <a:lstStyle/>
          <a:p>
            <a:pPr algn="ctr">
              <a:lnSpc>
                <a:spcPts val="2149"/>
              </a:lnSpc>
            </a:pPr>
            <a:r>
              <a:rPr lang="en-US" sz="1724">
                <a:solidFill>
                  <a:srgbClr val="757575"/>
                </a:solidFill>
                <a:latin typeface="Calibri (MS)"/>
                <a:ea typeface="Calibri (MS)"/>
                <a:cs typeface="Calibri (MS)"/>
                <a:sym typeface="Calibri (MS)"/>
              </a:rPr>
              <a:t>Department of Computer Science and Engineering</a:t>
            </a:r>
          </a:p>
        </p:txBody>
      </p:sp>
      <p:sp>
        <p:nvSpPr>
          <p:cNvPr name="TextBox 6" id="6"/>
          <p:cNvSpPr txBox="true"/>
          <p:nvPr/>
        </p:nvSpPr>
        <p:spPr>
          <a:xfrm rot="0">
            <a:off x="3202085" y="8412084"/>
            <a:ext cx="1052363" cy="302254"/>
          </a:xfrm>
          <a:prstGeom prst="rect">
            <a:avLst/>
          </a:prstGeom>
        </p:spPr>
        <p:txBody>
          <a:bodyPr anchor="t" rtlCol="false" tIns="0" lIns="0" bIns="0" rIns="0">
            <a:spAutoFit/>
          </a:bodyPr>
          <a:lstStyle/>
          <a:p>
            <a:pPr algn="l">
              <a:lnSpc>
                <a:spcPts val="2149"/>
              </a:lnSpc>
            </a:pPr>
            <a:r>
              <a:rPr lang="en-US" sz="1724" i="true">
                <a:solidFill>
                  <a:srgbClr val="757575"/>
                </a:solidFill>
                <a:latin typeface="Calibri (MS) Italics"/>
                <a:ea typeface="Calibri (MS) Italics"/>
                <a:cs typeface="Calibri (MS) Italics"/>
                <a:sym typeface="Calibri (MS) Italics"/>
              </a:rPr>
              <a:t>21</a:t>
            </a:r>
            <a:r>
              <a:rPr lang="en-US" sz="1724" i="true">
                <a:solidFill>
                  <a:srgbClr val="757575"/>
                </a:solidFill>
                <a:latin typeface="Calibri (MS) Italics"/>
                <a:ea typeface="Calibri (MS) Italics"/>
                <a:cs typeface="Calibri (MS) Italics"/>
                <a:sym typeface="Calibri (MS) Italics"/>
              </a:rPr>
              <a:t>.01.2026</a:t>
            </a:r>
          </a:p>
        </p:txBody>
      </p:sp>
      <p:sp>
        <p:nvSpPr>
          <p:cNvPr name="TextBox 7" id="7"/>
          <p:cNvSpPr txBox="true"/>
          <p:nvPr/>
        </p:nvSpPr>
        <p:spPr>
          <a:xfrm rot="0">
            <a:off x="5393868" y="1666714"/>
            <a:ext cx="5971696" cy="709893"/>
          </a:xfrm>
          <a:prstGeom prst="rect">
            <a:avLst/>
          </a:prstGeom>
        </p:spPr>
        <p:txBody>
          <a:bodyPr anchor="t" rtlCol="false" tIns="0" lIns="0" bIns="0" rIns="0">
            <a:spAutoFit/>
          </a:bodyPr>
          <a:lstStyle/>
          <a:p>
            <a:pPr algn="ctr">
              <a:lnSpc>
                <a:spcPts val="5558"/>
              </a:lnSpc>
            </a:pPr>
            <a:r>
              <a:rPr lang="en-US" sz="3970" b="true">
                <a:solidFill>
                  <a:srgbClr val="000000"/>
                </a:solidFill>
                <a:latin typeface="Times New Roman Bold"/>
                <a:ea typeface="Times New Roman Bold"/>
                <a:cs typeface="Times New Roman Bold"/>
                <a:sym typeface="Times New Roman Bold"/>
              </a:rPr>
              <a:t>COMPONENT DIAGRAM</a:t>
            </a:r>
          </a:p>
        </p:txBody>
      </p:sp>
      <p:sp>
        <p:nvSpPr>
          <p:cNvPr name="TextBox 8" id="8"/>
          <p:cNvSpPr txBox="true"/>
          <p:nvPr/>
        </p:nvSpPr>
        <p:spPr>
          <a:xfrm rot="0">
            <a:off x="8024899" y="2429834"/>
            <a:ext cx="12607" cy="350183"/>
          </a:xfrm>
          <a:prstGeom prst="rect">
            <a:avLst/>
          </a:prstGeom>
        </p:spPr>
        <p:txBody>
          <a:bodyPr anchor="t" rtlCol="false" tIns="0" lIns="0" bIns="0" rIns="0">
            <a:spAutoFit/>
          </a:bodyPr>
          <a:lstStyle/>
          <a:p>
            <a:pPr algn="l">
              <a:lnSpc>
                <a:spcPts val="2779"/>
              </a:lnSpc>
            </a:pPr>
          </a:p>
        </p:txBody>
      </p:sp>
      <p:sp>
        <p:nvSpPr>
          <p:cNvPr name="TextBox 9" id="9"/>
          <p:cNvSpPr txBox="true"/>
          <p:nvPr/>
        </p:nvSpPr>
        <p:spPr>
          <a:xfrm rot="0">
            <a:off x="8100539" y="2253342"/>
            <a:ext cx="7561016" cy="5900457"/>
          </a:xfrm>
          <a:prstGeom prst="rect">
            <a:avLst/>
          </a:prstGeom>
        </p:spPr>
        <p:txBody>
          <a:bodyPr anchor="t" rtlCol="false" tIns="0" lIns="0" bIns="0" rIns="0">
            <a:spAutoFit/>
          </a:bodyPr>
          <a:lstStyle/>
          <a:p>
            <a:pPr algn="l">
              <a:lnSpc>
                <a:spcPts val="2594"/>
              </a:lnSpc>
            </a:pPr>
            <a:r>
              <a:rPr lang="en-US" sz="1852" b="true">
                <a:solidFill>
                  <a:srgbClr val="000000"/>
                </a:solidFill>
                <a:latin typeface="Times New Roman Bold"/>
                <a:ea typeface="Times New Roman Bold"/>
                <a:cs typeface="Times New Roman Bold"/>
                <a:sym typeface="Times New Roman Bold"/>
              </a:rPr>
              <a:t>Purpose</a:t>
            </a:r>
          </a:p>
          <a:p>
            <a:pPr algn="l" marL="400053" indent="-200026" lvl="1">
              <a:lnSpc>
                <a:spcPts val="2594"/>
              </a:lnSpc>
              <a:buFont typeface="Arial"/>
              <a:buChar char="•"/>
            </a:pPr>
            <a:r>
              <a:rPr lang="en-US" sz="1852">
                <a:solidFill>
                  <a:srgbClr val="000000"/>
                </a:solidFill>
                <a:latin typeface="Times New Roman"/>
                <a:ea typeface="Times New Roman"/>
                <a:cs typeface="Times New Roman"/>
                <a:sym typeface="Times New Roman"/>
              </a:rPr>
              <a:t>Represents the logical architecture of the system</a:t>
            </a:r>
          </a:p>
          <a:p>
            <a:pPr algn="l" marL="400053" indent="-200026" lvl="1">
              <a:lnSpc>
                <a:spcPts val="2594"/>
              </a:lnSpc>
              <a:buFont typeface="Arial"/>
              <a:buChar char="•"/>
            </a:pPr>
            <a:r>
              <a:rPr lang="en-US" sz="1852">
                <a:solidFill>
                  <a:srgbClr val="000000"/>
                </a:solidFill>
                <a:latin typeface="Times New Roman"/>
                <a:ea typeface="Times New Roman"/>
                <a:cs typeface="Times New Roman"/>
                <a:sym typeface="Times New Roman"/>
              </a:rPr>
              <a:t>Shows how the system is divided into independent functional components</a:t>
            </a:r>
          </a:p>
          <a:p>
            <a:pPr algn="l">
              <a:lnSpc>
                <a:spcPts val="2594"/>
              </a:lnSpc>
            </a:pPr>
            <a:r>
              <a:rPr lang="en-US" sz="1852" b="true">
                <a:solidFill>
                  <a:srgbClr val="000000"/>
                </a:solidFill>
                <a:latin typeface="Times New Roman Bold"/>
                <a:ea typeface="Times New Roman Bold"/>
                <a:cs typeface="Times New Roman Bold"/>
                <a:sym typeface="Times New Roman Bold"/>
              </a:rPr>
              <a:t>Key Components</a:t>
            </a:r>
          </a:p>
          <a:p>
            <a:pPr algn="l" marL="400053" indent="-200026" lvl="1">
              <a:lnSpc>
                <a:spcPts val="2594"/>
              </a:lnSpc>
              <a:buFont typeface="Arial"/>
              <a:buChar char="•"/>
            </a:pPr>
            <a:r>
              <a:rPr lang="en-US" sz="1852">
                <a:solidFill>
                  <a:srgbClr val="000000"/>
                </a:solidFill>
                <a:latin typeface="Times New Roman"/>
                <a:ea typeface="Times New Roman"/>
                <a:cs typeface="Times New Roman"/>
                <a:sym typeface="Times New Roman"/>
              </a:rPr>
              <a:t>Frontend UI: User interface built using React and D3.js</a:t>
            </a:r>
          </a:p>
          <a:p>
            <a:pPr algn="l" marL="400053" indent="-200026" lvl="1">
              <a:lnSpc>
                <a:spcPts val="2594"/>
              </a:lnSpc>
              <a:buFont typeface="Arial"/>
              <a:buChar char="•"/>
            </a:pPr>
            <a:r>
              <a:rPr lang="en-US" sz="1852">
                <a:solidFill>
                  <a:srgbClr val="000000"/>
                </a:solidFill>
                <a:latin typeface="Times New Roman"/>
                <a:ea typeface="Times New Roman"/>
                <a:cs typeface="Times New Roman"/>
                <a:sym typeface="Times New Roman"/>
              </a:rPr>
              <a:t>Authentication Module: Handles user login and authorization</a:t>
            </a:r>
          </a:p>
          <a:p>
            <a:pPr algn="l" marL="400053" indent="-200026" lvl="1">
              <a:lnSpc>
                <a:spcPts val="2594"/>
              </a:lnSpc>
              <a:buFont typeface="Arial"/>
              <a:buChar char="•"/>
            </a:pPr>
            <a:r>
              <a:rPr lang="en-US" sz="1852">
                <a:solidFill>
                  <a:srgbClr val="000000"/>
                </a:solidFill>
                <a:latin typeface="Times New Roman"/>
                <a:ea typeface="Times New Roman"/>
                <a:cs typeface="Times New Roman"/>
                <a:sym typeface="Times New Roman"/>
              </a:rPr>
              <a:t>Backend REST API: Manages requests and system logic</a:t>
            </a:r>
          </a:p>
          <a:p>
            <a:pPr algn="l" marL="400053" indent="-200026" lvl="1">
              <a:lnSpc>
                <a:spcPts val="2594"/>
              </a:lnSpc>
              <a:buFont typeface="Arial"/>
              <a:buChar char="•"/>
            </a:pPr>
            <a:r>
              <a:rPr lang="en-US" sz="1852">
                <a:solidFill>
                  <a:srgbClr val="000000"/>
                </a:solidFill>
                <a:latin typeface="Times New Roman"/>
                <a:ea typeface="Times New Roman"/>
                <a:cs typeface="Times New Roman"/>
                <a:sym typeface="Times New Roman"/>
              </a:rPr>
              <a:t>Recommendation Engine: Performs skill gap analysis and path generation</a:t>
            </a:r>
          </a:p>
          <a:p>
            <a:pPr algn="l" marL="400053" indent="-200026" lvl="1">
              <a:lnSpc>
                <a:spcPts val="2594"/>
              </a:lnSpc>
              <a:buFont typeface="Arial"/>
              <a:buChar char="•"/>
            </a:pPr>
            <a:r>
              <a:rPr lang="en-US" sz="1852">
                <a:solidFill>
                  <a:srgbClr val="000000"/>
                </a:solidFill>
                <a:latin typeface="Times New Roman"/>
                <a:ea typeface="Times New Roman"/>
                <a:cs typeface="Times New Roman"/>
                <a:sym typeface="Times New Roman"/>
              </a:rPr>
              <a:t>Progress Tracking Module: Monitors learning progress and skill status</a:t>
            </a:r>
          </a:p>
          <a:p>
            <a:pPr algn="l" marL="400053" indent="-200026" lvl="1">
              <a:lnSpc>
                <a:spcPts val="2594"/>
              </a:lnSpc>
              <a:buFont typeface="Arial"/>
              <a:buChar char="•"/>
            </a:pPr>
            <a:r>
              <a:rPr lang="en-US" sz="1852">
                <a:solidFill>
                  <a:srgbClr val="000000"/>
                </a:solidFill>
                <a:latin typeface="Times New Roman"/>
                <a:ea typeface="Times New Roman"/>
                <a:cs typeface="Times New Roman"/>
                <a:sym typeface="Times New Roman"/>
              </a:rPr>
              <a:t>Graph Database: Neo4j database storing skill nodes and dependencies</a:t>
            </a:r>
          </a:p>
          <a:p>
            <a:pPr algn="l">
              <a:lnSpc>
                <a:spcPts val="2594"/>
              </a:lnSpc>
            </a:pPr>
            <a:r>
              <a:rPr lang="en-US" sz="1852" b="true">
                <a:solidFill>
                  <a:srgbClr val="000000"/>
                </a:solidFill>
                <a:latin typeface="Times New Roman Bold"/>
                <a:ea typeface="Times New Roman Bold"/>
                <a:cs typeface="Times New Roman Bold"/>
                <a:sym typeface="Times New Roman Bold"/>
              </a:rPr>
              <a:t>Interactions</a:t>
            </a:r>
          </a:p>
          <a:p>
            <a:pPr algn="l" marL="400053" indent="-200026" lvl="1">
              <a:lnSpc>
                <a:spcPts val="2594"/>
              </a:lnSpc>
              <a:buFont typeface="Arial"/>
              <a:buChar char="•"/>
            </a:pPr>
            <a:r>
              <a:rPr lang="en-US" sz="1852">
                <a:solidFill>
                  <a:srgbClr val="000000"/>
                </a:solidFill>
                <a:latin typeface="Times New Roman"/>
                <a:ea typeface="Times New Roman"/>
                <a:cs typeface="Times New Roman"/>
                <a:sym typeface="Times New Roman"/>
              </a:rPr>
              <a:t>Frontend communicates with backend using REST APIs</a:t>
            </a:r>
          </a:p>
          <a:p>
            <a:pPr algn="l" marL="400053" indent="-200026" lvl="1">
              <a:lnSpc>
                <a:spcPts val="2594"/>
              </a:lnSpc>
              <a:buFont typeface="Arial"/>
              <a:buChar char="•"/>
            </a:pPr>
            <a:r>
              <a:rPr lang="en-US" sz="1852">
                <a:solidFill>
                  <a:srgbClr val="000000"/>
                </a:solidFill>
                <a:latin typeface="Times New Roman"/>
                <a:ea typeface="Times New Roman"/>
                <a:cs typeface="Times New Roman"/>
                <a:sym typeface="Times New Roman"/>
              </a:rPr>
              <a:t>Backend interacts with recommendation engine for learning path generation</a:t>
            </a:r>
          </a:p>
          <a:p>
            <a:pPr algn="l" marL="400053" indent="-200026" lvl="1">
              <a:lnSpc>
                <a:spcPts val="2594"/>
              </a:lnSpc>
              <a:buFont typeface="Arial"/>
              <a:buChar char="•"/>
            </a:pPr>
            <a:r>
              <a:rPr lang="en-US" sz="1852">
                <a:solidFill>
                  <a:srgbClr val="000000"/>
                </a:solidFill>
                <a:latin typeface="Times New Roman"/>
                <a:ea typeface="Times New Roman"/>
                <a:cs typeface="Times New Roman"/>
                <a:sym typeface="Times New Roman"/>
              </a:rPr>
              <a:t>Recommendation engine queries the graph database for skill dependencies</a:t>
            </a:r>
          </a:p>
          <a:p>
            <a:pPr algn="l">
              <a:lnSpc>
                <a:spcPts val="2594"/>
              </a:lnSpc>
            </a:pPr>
            <a:r>
              <a:rPr lang="en-US" sz="1852" b="true">
                <a:solidFill>
                  <a:srgbClr val="000000"/>
                </a:solidFill>
                <a:latin typeface="Times New Roman Bold"/>
                <a:ea typeface="Times New Roman Bold"/>
                <a:cs typeface="Times New Roman Bold"/>
                <a:sym typeface="Times New Roman Bold"/>
              </a:rPr>
              <a:t>Significance</a:t>
            </a:r>
          </a:p>
          <a:p>
            <a:pPr algn="l" marL="400053" indent="-200026" lvl="1">
              <a:lnSpc>
                <a:spcPts val="2594"/>
              </a:lnSpc>
              <a:buFont typeface="Arial"/>
              <a:buChar char="•"/>
            </a:pPr>
            <a:r>
              <a:rPr lang="en-US" sz="1852">
                <a:solidFill>
                  <a:srgbClr val="000000"/>
                </a:solidFill>
                <a:latin typeface="Times New Roman"/>
                <a:ea typeface="Times New Roman"/>
                <a:cs typeface="Times New Roman"/>
                <a:sym typeface="Times New Roman"/>
              </a:rPr>
              <a:t>Promotes modularity, scalability, and maintainability</a:t>
            </a:r>
          </a:p>
          <a:p>
            <a:pPr algn="l" marL="400053" indent="-200026" lvl="1">
              <a:lnSpc>
                <a:spcPts val="2594"/>
              </a:lnSpc>
              <a:buFont typeface="Arial"/>
              <a:buChar char="•"/>
            </a:pPr>
            <a:r>
              <a:rPr lang="en-US" sz="1852">
                <a:solidFill>
                  <a:srgbClr val="000000"/>
                </a:solidFill>
                <a:latin typeface="Times New Roman"/>
                <a:ea typeface="Times New Roman"/>
                <a:cs typeface="Times New Roman"/>
                <a:sym typeface="Times New Roman"/>
              </a:rPr>
              <a:t>Helps in understanding component responsibilities and dependencies</a:t>
            </a:r>
          </a:p>
          <a:p>
            <a:pPr algn="l">
              <a:lnSpc>
                <a:spcPts val="2594"/>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487706" y="1403369"/>
            <a:ext cx="13346210" cy="7508249"/>
            <a:chOff x="0" y="0"/>
            <a:chExt cx="13445071" cy="7563866"/>
          </a:xfrm>
        </p:grpSpPr>
        <p:sp>
          <p:nvSpPr>
            <p:cNvPr name="Freeform 3" id="3"/>
            <p:cNvSpPr/>
            <p:nvPr/>
          </p:nvSpPr>
          <p:spPr>
            <a:xfrm flipH="false" flipV="false" rot="0">
              <a:off x="0" y="0"/>
              <a:ext cx="13445110" cy="7563866"/>
            </a:xfrm>
            <a:custGeom>
              <a:avLst/>
              <a:gdLst/>
              <a:ahLst/>
              <a:cxnLst/>
              <a:rect r="r" b="b" t="t" l="l"/>
              <a:pathLst>
                <a:path h="7563866" w="13445110">
                  <a:moveTo>
                    <a:pt x="0" y="0"/>
                  </a:moveTo>
                  <a:lnTo>
                    <a:pt x="13445110" y="0"/>
                  </a:lnTo>
                  <a:lnTo>
                    <a:pt x="13445110" y="7563866"/>
                  </a:lnTo>
                  <a:lnTo>
                    <a:pt x="0" y="7563866"/>
                  </a:lnTo>
                  <a:lnTo>
                    <a:pt x="0" y="0"/>
                  </a:lnTo>
                  <a:close/>
                </a:path>
              </a:pathLst>
            </a:custGeom>
            <a:blipFill>
              <a:blip r:embed="rId2"/>
              <a:stretch>
                <a:fillRect l="0" t="0" r="0" b="-115"/>
              </a:stretch>
            </a:blipFill>
          </p:spPr>
        </p:sp>
      </p:grpSp>
      <p:sp>
        <p:nvSpPr>
          <p:cNvPr name="TextBox 4" id="4"/>
          <p:cNvSpPr txBox="true"/>
          <p:nvPr/>
        </p:nvSpPr>
        <p:spPr>
          <a:xfrm rot="0">
            <a:off x="4651934" y="3951571"/>
            <a:ext cx="8747001" cy="2272581"/>
          </a:xfrm>
          <a:prstGeom prst="rect">
            <a:avLst/>
          </a:prstGeom>
        </p:spPr>
        <p:txBody>
          <a:bodyPr anchor="t" rtlCol="false" tIns="0" lIns="0" bIns="0" rIns="0">
            <a:spAutoFit/>
          </a:bodyPr>
          <a:lstStyle/>
          <a:p>
            <a:pPr algn="l">
              <a:lnSpc>
                <a:spcPts val="17196"/>
              </a:lnSpc>
            </a:pPr>
            <a:r>
              <a:rPr lang="en-US" b="true" sz="14330">
                <a:solidFill>
                  <a:srgbClr val="000000"/>
                </a:solidFill>
                <a:latin typeface="Times New Roman Bold"/>
                <a:ea typeface="Times New Roman Bold"/>
                <a:cs typeface="Times New Roman Bold"/>
                <a:sym typeface="Times New Roman Bold"/>
              </a:rPr>
              <a:t>Thank You</a:t>
            </a:r>
          </a:p>
        </p:txBody>
      </p:sp>
      <p:sp>
        <p:nvSpPr>
          <p:cNvPr name="TextBox 5" id="5"/>
          <p:cNvSpPr txBox="true"/>
          <p:nvPr/>
        </p:nvSpPr>
        <p:spPr>
          <a:xfrm rot="0">
            <a:off x="4823435" y="8273890"/>
            <a:ext cx="8481102" cy="313133"/>
          </a:xfrm>
          <a:prstGeom prst="rect">
            <a:avLst/>
          </a:prstGeom>
        </p:spPr>
        <p:txBody>
          <a:bodyPr anchor="t" rtlCol="false" tIns="0" lIns="0" bIns="0" rIns="0">
            <a:spAutoFit/>
          </a:bodyPr>
          <a:lstStyle/>
          <a:p>
            <a:pPr algn="ctr">
              <a:lnSpc>
                <a:spcPts val="2149"/>
              </a:lnSpc>
            </a:pPr>
            <a:r>
              <a:rPr lang="en-US" sz="1724">
                <a:solidFill>
                  <a:srgbClr val="878787"/>
                </a:solidFill>
                <a:latin typeface="Calibri (MS)"/>
                <a:ea typeface="Calibri (MS)"/>
                <a:cs typeface="Calibri (MS)"/>
                <a:sym typeface="Calibri (MS)"/>
              </a:rPr>
              <a:t>Department of Computer Science and Engineering</a:t>
            </a:r>
          </a:p>
        </p:txBody>
      </p:sp>
      <p:sp>
        <p:nvSpPr>
          <p:cNvPr name="TextBox 6" id="6"/>
          <p:cNvSpPr txBox="true"/>
          <p:nvPr/>
        </p:nvSpPr>
        <p:spPr>
          <a:xfrm rot="0">
            <a:off x="3277725" y="8407003"/>
            <a:ext cx="1052363" cy="304107"/>
          </a:xfrm>
          <a:prstGeom prst="rect">
            <a:avLst/>
          </a:prstGeom>
        </p:spPr>
        <p:txBody>
          <a:bodyPr anchor="t" rtlCol="false" tIns="0" lIns="0" bIns="0" rIns="0">
            <a:spAutoFit/>
          </a:bodyPr>
          <a:lstStyle/>
          <a:p>
            <a:pPr algn="l">
              <a:lnSpc>
                <a:spcPts val="2149"/>
              </a:lnSpc>
            </a:pPr>
            <a:r>
              <a:rPr lang="en-US" sz="1724">
                <a:solidFill>
                  <a:srgbClr val="878787"/>
                </a:solidFill>
                <a:latin typeface="Calibri (MS)"/>
                <a:ea typeface="Calibri (MS)"/>
                <a:cs typeface="Calibri (MS)"/>
                <a:sym typeface="Calibri (MS)"/>
              </a:rPr>
              <a:t>03.01.2026</a:t>
            </a:r>
          </a:p>
        </p:txBody>
      </p:sp>
      <p:sp>
        <p:nvSpPr>
          <p:cNvPr name="TextBox 7" id="7"/>
          <p:cNvSpPr txBox="true"/>
          <p:nvPr/>
        </p:nvSpPr>
        <p:spPr>
          <a:xfrm rot="0">
            <a:off x="14787768" y="8407344"/>
            <a:ext cx="260352" cy="303766"/>
          </a:xfrm>
          <a:prstGeom prst="rect">
            <a:avLst/>
          </a:prstGeom>
        </p:spPr>
        <p:txBody>
          <a:bodyPr anchor="t" rtlCol="false" tIns="0" lIns="0" bIns="0" rIns="0">
            <a:spAutoFit/>
          </a:bodyPr>
          <a:lstStyle/>
          <a:p>
            <a:pPr algn="l">
              <a:lnSpc>
                <a:spcPts val="2149"/>
              </a:lnSpc>
            </a:pPr>
            <a:r>
              <a:rPr lang="en-US" sz="1724">
                <a:solidFill>
                  <a:srgbClr val="878787"/>
                </a:solidFill>
                <a:latin typeface="Calibri (MS)"/>
                <a:ea typeface="Calibri (MS)"/>
                <a:cs typeface="Calibri (MS)"/>
                <a:sym typeface="Calibri (MS)"/>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DAHDqcJxU0I</dc:identifier>
  <dcterms:modified xsi:type="dcterms:W3CDTF">2011-08-01T06:04:30Z</dcterms:modified>
  <cp:revision>1</cp:revision>
  <dc:title>Copy of Author(s)</dc:title>
</cp:coreProperties>
</file>